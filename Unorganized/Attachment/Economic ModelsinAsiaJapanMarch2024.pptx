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6"/>
  </p:notesMasterIdLst>
  <p:handoutMasterIdLst>
    <p:handoutMasterId r:id="rId27"/>
  </p:handoutMasterIdLst>
  <p:sldIdLst>
    <p:sldId id="256" r:id="rId5"/>
    <p:sldId id="257" r:id="rId6"/>
    <p:sldId id="762" r:id="rId7"/>
    <p:sldId id="258" r:id="rId8"/>
    <p:sldId id="451" r:id="rId9"/>
    <p:sldId id="761" r:id="rId10"/>
    <p:sldId id="760" r:id="rId11"/>
    <p:sldId id="763" r:id="rId12"/>
    <p:sldId id="765" r:id="rId13"/>
    <p:sldId id="766" r:id="rId14"/>
    <p:sldId id="452" r:id="rId15"/>
    <p:sldId id="454" r:id="rId16"/>
    <p:sldId id="455" r:id="rId17"/>
    <p:sldId id="440" r:id="rId18"/>
    <p:sldId id="355" r:id="rId19"/>
    <p:sldId id="458" r:id="rId20"/>
    <p:sldId id="352" r:id="rId21"/>
    <p:sldId id="353" r:id="rId22"/>
    <p:sldId id="767" r:id="rId23"/>
    <p:sldId id="768" r:id="rId24"/>
    <p:sldId id="764" r:id="rId25"/>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6940"/>
    </p:cViewPr>
  </p:sorterViewPr>
  <p:notesViewPr>
    <p:cSldViewPr snapToGrid="0" showGuides="1">
      <p:cViewPr varScale="1">
        <p:scale>
          <a:sx n="90" d="100"/>
          <a:sy n="90" d="100"/>
        </p:scale>
        <p:origin x="377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43DEC388-69C3-41CE-836D-8CADE66F758F}" type="datetime1">
              <a:rPr lang="fr-FR" smtClean="0"/>
              <a:pPr algn="r" rtl="0"/>
              <a:t>20/02/2025</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a:fld id="{E31375A4-56A4-47D6-9801-1991572033F7}" type="slidenum">
              <a:rPr lang="fr-FR"/>
              <a:pPr algn="r"/>
              <a:t>‹N°›</a:t>
            </a:fld>
            <a:endParaRPr lang="fr-F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3CF334A0-7817-44BF-BE74-0C1D60A40209}" type="datetime1">
              <a:rPr lang="fr-FR" smtClean="0"/>
              <a:pPr/>
              <a:t>20/02/2025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E31375A4-56A4-47D6-9801-1991572033F7}" type="slidenum">
              <a:rPr lang="fr-FR"/>
              <a:pPr/>
              <a:t>1</a:t>
            </a:fld>
            <a:endParaRPr lang="fr-FR" dirty="0"/>
          </a:p>
        </p:txBody>
      </p:sp>
    </p:spTree>
    <p:extLst>
      <p:ext uri="{BB962C8B-B14F-4D97-AF65-F5344CB8AC3E}">
        <p14:creationId xmlns:p14="http://schemas.microsoft.com/office/powerpoint/2010/main" val="3585061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Understanding productivity will help us build a framework for understanding the factors that determine the level of income in a country and its</a:t>
            </a:r>
            <a:r>
              <a:rPr lang="en-US" baseline="0" dirty="0"/>
              <a:t> growth rate over time.</a:t>
            </a:r>
            <a:endParaRPr lang="en-US" dirty="0"/>
          </a:p>
        </p:txBody>
      </p:sp>
      <p:sp>
        <p:nvSpPr>
          <p:cNvPr id="4" name="Slide Number Placeholder 3"/>
          <p:cNvSpPr>
            <a:spLocks noGrp="1"/>
          </p:cNvSpPr>
          <p:nvPr>
            <p:ph type="sldNum" sz="quarter" idx="5"/>
          </p:nvPr>
        </p:nvSpPr>
        <p:spPr/>
        <p:txBody>
          <a:bodyPr/>
          <a:lstStyle/>
          <a:p>
            <a:fld id="{C10995D4-C630-4D1E-A120-C0B9FB85BAB5}" type="slidenum">
              <a:rPr lang="en-IN" smtClean="0"/>
              <a:t>5</a:t>
            </a:fld>
            <a:endParaRPr lang="en-IN"/>
          </a:p>
        </p:txBody>
      </p:sp>
    </p:spTree>
    <p:extLst>
      <p:ext uri="{BB962C8B-B14F-4D97-AF65-F5344CB8AC3E}">
        <p14:creationId xmlns:p14="http://schemas.microsoft.com/office/powerpoint/2010/main" val="1683735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975056EB-0125-4103-8319-C43FD79E82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77E19FF-D11C-4F52-95B3-9376FDC7C907}" type="slidenum">
              <a:rPr lang="fr-FR" altLang="fr-FR">
                <a:solidFill>
                  <a:srgbClr val="000000"/>
                </a:solidFill>
              </a:rPr>
              <a:pPr>
                <a:spcBef>
                  <a:spcPct val="0"/>
                </a:spcBef>
              </a:pPr>
              <a:t>7</a:t>
            </a:fld>
            <a:endParaRPr lang="fr-FR" altLang="fr-FR">
              <a:solidFill>
                <a:srgbClr val="000000"/>
              </a:solidFill>
            </a:endParaRPr>
          </a:p>
        </p:txBody>
      </p:sp>
      <p:sp>
        <p:nvSpPr>
          <p:cNvPr id="15363" name="Rectangle 2">
            <a:extLst>
              <a:ext uri="{FF2B5EF4-FFF2-40B4-BE49-F238E27FC236}">
                <a16:creationId xmlns:a16="http://schemas.microsoft.com/office/drawing/2014/main" id="{06070DF4-801A-4E86-9E5D-933BD4989C87}"/>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348E26F7-DFE0-4FB7-AEDF-75F08B04A2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Physical</a:t>
            </a:r>
            <a:r>
              <a:rPr lang="en-US" b="1" baseline="0" dirty="0"/>
              <a:t> capital:</a:t>
            </a:r>
          </a:p>
          <a:p>
            <a:pPr marL="171450" indent="-171450">
              <a:buFontTx/>
              <a:buChar char="-"/>
            </a:pPr>
            <a:r>
              <a:rPr lang="en-US" b="0" baseline="0" dirty="0"/>
              <a:t>Most production requires tools, and better tools allow workers to be more productive.</a:t>
            </a:r>
          </a:p>
          <a:p>
            <a:pPr marL="171450" indent="-171450">
              <a:buFontTx/>
              <a:buChar char="-"/>
            </a:pPr>
            <a:r>
              <a:rPr lang="en-US" b="0" baseline="0" dirty="0"/>
              <a:t>There is always new physical capital being added through investment and old capital being worn out and obsolete. </a:t>
            </a:r>
          </a:p>
          <a:p>
            <a:pPr marL="628650" lvl="1" indent="-171450">
              <a:buFontTx/>
              <a:buChar char="-"/>
            </a:pPr>
            <a:r>
              <a:rPr lang="en-US" b="0" baseline="0" dirty="0"/>
              <a:t>New - old physical capital = the net amount of physical capital that has been added to the economy.</a:t>
            </a:r>
          </a:p>
          <a:p>
            <a:pPr marL="171450" indent="-171450">
              <a:buFontTx/>
              <a:buChar char="-"/>
            </a:pPr>
            <a:r>
              <a:rPr lang="en-US" b="0" baseline="0" dirty="0"/>
              <a:t>Examples: Factories, machines, and cell phone towers.</a:t>
            </a:r>
          </a:p>
          <a:p>
            <a:pPr marL="171450" indent="-171450">
              <a:buFontTx/>
              <a:buChar char="-"/>
            </a:pPr>
            <a:endParaRPr lang="en-US" b="0" baseline="0" dirty="0"/>
          </a:p>
          <a:p>
            <a:pPr marL="0" indent="0">
              <a:buFontTx/>
              <a:buNone/>
            </a:pPr>
            <a:r>
              <a:rPr lang="en-US" b="1" baseline="0" dirty="0"/>
              <a:t>Human capital:</a:t>
            </a:r>
            <a:endParaRPr lang="en-US" b="0" baseline="0" dirty="0"/>
          </a:p>
          <a:p>
            <a:pPr marL="171450" indent="-171450">
              <a:buFontTx/>
              <a:buChar char="-"/>
            </a:pPr>
            <a:r>
              <a:rPr lang="en-US" b="0" baseline="0" dirty="0"/>
              <a:t>New machines can usually boost productivity, but only if workers know how to use them.</a:t>
            </a:r>
          </a:p>
          <a:p>
            <a:pPr marL="171450" indent="-171450">
              <a:buFontTx/>
              <a:buChar char="-"/>
            </a:pPr>
            <a:r>
              <a:rPr lang="en-US" sz="1200" b="0" i="0" u="none" strike="noStrike" kern="1200" baseline="0" dirty="0">
                <a:solidFill>
                  <a:schemeClr val="tx1"/>
                </a:solidFill>
                <a:latin typeface="+mn-lt"/>
                <a:ea typeface="+mn-ea"/>
                <a:cs typeface="+mn-cs"/>
              </a:rPr>
              <a:t>Human capital contributes to growth because it helps workers in the economy produce more with the same amount of physical capital.</a:t>
            </a:r>
            <a:endParaRPr lang="en-US" b="0" baseline="0" dirty="0"/>
          </a:p>
          <a:p>
            <a:pPr marL="171450" indent="-171450">
              <a:buFontTx/>
              <a:buChar char="-"/>
            </a:pPr>
            <a:r>
              <a:rPr lang="en-US" b="0" baseline="0" dirty="0"/>
              <a:t>Education is one of the main ways that we think about building human capital.</a:t>
            </a:r>
          </a:p>
          <a:p>
            <a:pPr marL="171450" indent="-171450">
              <a:buFontTx/>
              <a:buChar char="-"/>
            </a:pPr>
            <a:r>
              <a:rPr lang="en-US" b="0" baseline="0" dirty="0"/>
              <a:t>Example: 100 years ago, the average person in the U.S. had 8 years of schooling, and today it is closer to 12.</a:t>
            </a:r>
          </a:p>
          <a:p>
            <a:pPr marL="0" lvl="0" indent="0">
              <a:buFontTx/>
              <a:buNone/>
            </a:pPr>
            <a:endParaRPr lang="en-US" b="0" baseline="0" dirty="0"/>
          </a:p>
          <a:p>
            <a:pPr marL="0" lvl="0" indent="0">
              <a:buFontTx/>
              <a:buNone/>
            </a:pPr>
            <a:r>
              <a:rPr lang="en-US" b="1" baseline="0" dirty="0"/>
              <a:t>Technology:</a:t>
            </a:r>
          </a:p>
          <a:p>
            <a:pPr marL="171450" lvl="0" indent="-171450">
              <a:buFontTx/>
              <a:buChar char="-"/>
            </a:pPr>
            <a:r>
              <a:rPr lang="en-US" b="0" baseline="0" dirty="0"/>
              <a:t>Doesn’t necessarily mean a “new gadget” like the word is usually used. Instead, it defines changes in productivity through big or small innovations that produce more output with the same amount of physical and human capital. </a:t>
            </a:r>
          </a:p>
          <a:p>
            <a:pPr marL="171450" lvl="0" indent="-171450">
              <a:buFontTx/>
              <a:buChar char="-"/>
            </a:pPr>
            <a:r>
              <a:rPr lang="en-US" b="0" baseline="0" dirty="0"/>
              <a:t>Examples: Agricultural breakthroughs (higher-yielding seed varieties), invention of the internet, more efficient water pumps, and car engines with a higher MPG.</a:t>
            </a:r>
          </a:p>
          <a:p>
            <a:pPr marL="0" lvl="0" indent="0">
              <a:buFontTx/>
              <a:buNone/>
            </a:pPr>
            <a:endParaRPr lang="en-US"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dirty="0"/>
              <a:t>Natural resources: </a:t>
            </a:r>
            <a:r>
              <a:rPr lang="en-US" b="0" baseline="0" dirty="0"/>
              <a:t>There are two categories:</a:t>
            </a:r>
          </a:p>
          <a:p>
            <a:pPr marL="228600" lvl="0" indent="-228600">
              <a:buFontTx/>
              <a:buAutoNum type="arabicPeriod"/>
            </a:pPr>
            <a:r>
              <a:rPr lang="en-US" b="0" baseline="0" dirty="0"/>
              <a:t>Renewable: Can be replenished over time (e.g., trees, rivers, electricity).</a:t>
            </a:r>
          </a:p>
          <a:p>
            <a:pPr marL="228600" lvl="0" indent="-228600">
              <a:buFontTx/>
              <a:buAutoNum type="arabicPeriod"/>
            </a:pPr>
            <a:r>
              <a:rPr lang="en-US" b="0" baseline="0" dirty="0"/>
              <a:t>Nonrenewable: Can not be replenished over time (e.g., coal, oil, gold).</a:t>
            </a:r>
          </a:p>
          <a:p>
            <a:pPr marL="171450" indent="-171450">
              <a:buFontTx/>
              <a:buChar char="-"/>
            </a:pPr>
            <a:endParaRPr lang="en-US" b="0" dirty="0"/>
          </a:p>
        </p:txBody>
      </p:sp>
      <p:sp>
        <p:nvSpPr>
          <p:cNvPr id="4" name="Slide Number Placeholder 3"/>
          <p:cNvSpPr>
            <a:spLocks noGrp="1"/>
          </p:cNvSpPr>
          <p:nvPr>
            <p:ph type="sldNum" sz="quarter" idx="5"/>
          </p:nvPr>
        </p:nvSpPr>
        <p:spPr/>
        <p:txBody>
          <a:bodyPr/>
          <a:lstStyle/>
          <a:p>
            <a:fld id="{C10995D4-C630-4D1E-A120-C0B9FB85BAB5}" type="slidenum">
              <a:rPr lang="en-IN" smtClean="0"/>
              <a:t>11</a:t>
            </a:fld>
            <a:endParaRPr lang="en-IN"/>
          </a:p>
        </p:txBody>
      </p:sp>
    </p:spTree>
    <p:extLst>
      <p:ext uri="{BB962C8B-B14F-4D97-AF65-F5344CB8AC3E}">
        <p14:creationId xmlns:p14="http://schemas.microsoft.com/office/powerpoint/2010/main" val="4107992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Sometimes, the growth accounting equation will break capital down into separate variables for both human and physical capital. </a:t>
            </a:r>
            <a:endParaRPr lang="en-US" i="0" baseline="0" dirty="0"/>
          </a:p>
          <a:p>
            <a:endParaRPr lang="en-IN" dirty="0"/>
          </a:p>
        </p:txBody>
      </p:sp>
      <p:sp>
        <p:nvSpPr>
          <p:cNvPr id="4" name="Slide Number Placeholder 3"/>
          <p:cNvSpPr>
            <a:spLocks noGrp="1"/>
          </p:cNvSpPr>
          <p:nvPr>
            <p:ph type="sldNum" sz="quarter" idx="5"/>
          </p:nvPr>
        </p:nvSpPr>
        <p:spPr/>
        <p:txBody>
          <a:bodyPr/>
          <a:lstStyle/>
          <a:p>
            <a:fld id="{C10995D4-C630-4D1E-A120-C0B9FB85BAB5}" type="slidenum">
              <a:rPr lang="en-IN" smtClean="0"/>
              <a:t>12</a:t>
            </a:fld>
            <a:endParaRPr lang="en-IN"/>
          </a:p>
        </p:txBody>
      </p:sp>
    </p:spTree>
    <p:extLst>
      <p:ext uri="{BB962C8B-B14F-4D97-AF65-F5344CB8AC3E}">
        <p14:creationId xmlns:p14="http://schemas.microsoft.com/office/powerpoint/2010/main" val="3785754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1961, India was at risk of famine. The population was booming, and no more farmland was available. By 1985 the specter of famine had all but disappeared, not only in India but across Asia. In just 25 years, crop yields had doubled, easily outpacing the growth of the population.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Rockefeller Foundation funded researchers, such as the</a:t>
            </a:r>
            <a:r>
              <a:rPr lang="en-US" baseline="0" dirty="0"/>
              <a:t> </a:t>
            </a:r>
            <a:r>
              <a:rPr lang="en-US" dirty="0"/>
              <a:t>International Rice Research Institute in the Philippines, to </a:t>
            </a:r>
            <a:r>
              <a:rPr lang="en-US" baseline="0" dirty="0"/>
              <a:t>develop new crop varieties. One new crop was </a:t>
            </a:r>
            <a:r>
              <a:rPr lang="en-US" dirty="0"/>
              <a:t>“miracle rice.”. “Miracle rice” required more intensive fertilizer and irrigation treatments than traditional varieties but produced about double the amount of rice per plant.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Many economists believe that the Green Revolution partly explains why Asia’s economies have grown quickly in the last half century: When you don’t need as many workers to grow food, they can do something else instead, such as work in factories in the city.</a:t>
            </a:r>
            <a:endParaRPr lang="en-US" i="0" baseline="0" dirty="0"/>
          </a:p>
        </p:txBody>
      </p:sp>
      <p:sp>
        <p:nvSpPr>
          <p:cNvPr id="4" name="Slide Number Placeholder 3"/>
          <p:cNvSpPr>
            <a:spLocks noGrp="1"/>
          </p:cNvSpPr>
          <p:nvPr>
            <p:ph type="sldNum" sz="quarter" idx="5"/>
          </p:nvPr>
        </p:nvSpPr>
        <p:spPr/>
        <p:txBody>
          <a:bodyPr/>
          <a:lstStyle/>
          <a:p>
            <a:fld id="{C10995D4-C630-4D1E-A120-C0B9FB85BAB5}" type="slidenum">
              <a:rPr lang="en-IN" smtClean="0"/>
              <a:t>13</a:t>
            </a:fld>
            <a:endParaRPr lang="en-IN"/>
          </a:p>
        </p:txBody>
      </p:sp>
    </p:spTree>
    <p:extLst>
      <p:ext uri="{BB962C8B-B14F-4D97-AF65-F5344CB8AC3E}">
        <p14:creationId xmlns:p14="http://schemas.microsoft.com/office/powerpoint/2010/main" val="34540073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Convergence</a:t>
            </a:r>
            <a:r>
              <a:rPr lang="en-US" b="0" baseline="0" dirty="0"/>
              <a:t> theory relates to the idea of decreasing marginal returns to the factors of production. Countries with little initial physical and human capital will get a higher return from adding a unit of capital than countries that start with a higher level. Note for students that although they will eventually converge to the same growth rate, that does not mean that they will converge to the same level of income. The map here illustrates how many of the richer countries have been growing slowly over the past 20 years and that the fastest growth is in some of the poorest countries. Make it clear that this theory does not always hold, as many African countries have had similar or lower levels of physical and human capital than East Asia but have not experienced high growth rates. </a:t>
            </a:r>
          </a:p>
          <a:p>
            <a:endParaRPr lang="en-IN" dirty="0"/>
          </a:p>
        </p:txBody>
      </p:sp>
      <p:sp>
        <p:nvSpPr>
          <p:cNvPr id="4" name="Slide Number Placeholder 3"/>
          <p:cNvSpPr>
            <a:spLocks noGrp="1"/>
          </p:cNvSpPr>
          <p:nvPr>
            <p:ph type="sldNum" sz="quarter" idx="5"/>
          </p:nvPr>
        </p:nvSpPr>
        <p:spPr/>
        <p:txBody>
          <a:bodyPr/>
          <a:lstStyle/>
          <a:p>
            <a:fld id="{C10995D4-C630-4D1E-A120-C0B9FB85BAB5}" type="slidenum">
              <a:rPr lang="en-IN" smtClean="0"/>
              <a:t>14</a:t>
            </a:fld>
            <a:endParaRPr lang="en-IN"/>
          </a:p>
        </p:txBody>
      </p:sp>
    </p:spTree>
    <p:extLst>
      <p:ext uri="{BB962C8B-B14F-4D97-AF65-F5344CB8AC3E}">
        <p14:creationId xmlns:p14="http://schemas.microsoft.com/office/powerpoint/2010/main" val="2642765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Overall, higher incomes within a country correlate with a higher life expectancy. However, at lower</a:t>
            </a:r>
            <a:r>
              <a:rPr lang="en-US" baseline="0" dirty="0"/>
              <a:t> levels of income, the relationship is not as clear. Some countries have increased incomes without making much progress in life expectancy and vice versa.</a:t>
            </a:r>
            <a:endParaRPr lang="en-US" dirty="0"/>
          </a:p>
        </p:txBody>
      </p:sp>
      <p:sp>
        <p:nvSpPr>
          <p:cNvPr id="4" name="Slide Number Placeholder 3"/>
          <p:cNvSpPr>
            <a:spLocks noGrp="1"/>
          </p:cNvSpPr>
          <p:nvPr>
            <p:ph type="sldNum" sz="quarter" idx="10"/>
          </p:nvPr>
        </p:nvSpPr>
        <p:spPr/>
        <p:txBody>
          <a:bodyPr/>
          <a:lstStyle/>
          <a:p>
            <a:fld id="{C10995D4-C630-4D1E-A120-C0B9FB85BAB5}" type="slidenum">
              <a:rPr lang="en-IN" smtClean="0"/>
              <a:t>15</a:t>
            </a:fld>
            <a:endParaRPr lang="en-IN"/>
          </a:p>
        </p:txBody>
      </p:sp>
    </p:spTree>
    <p:extLst>
      <p:ext uri="{BB962C8B-B14F-4D97-AF65-F5344CB8AC3E}">
        <p14:creationId xmlns:p14="http://schemas.microsoft.com/office/powerpoint/2010/main" val="3705659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Countries</a:t>
            </a:r>
            <a:r>
              <a:rPr lang="en-US" baseline="0" dirty="0"/>
              <a:t> employ savings, investment, education, health, technological development, and governance policies to try to help stimulate growth.</a:t>
            </a:r>
          </a:p>
          <a:p>
            <a:endParaRPr lang="en-US" sz="1200" baseline="0" dirty="0"/>
          </a:p>
          <a:p>
            <a:r>
              <a:rPr lang="en-US" sz="1200" dirty="0"/>
              <a:t>There is no one-size-fits all policy.</a:t>
            </a:r>
            <a:endParaRPr lang="en-US" dirty="0"/>
          </a:p>
        </p:txBody>
      </p:sp>
      <p:sp>
        <p:nvSpPr>
          <p:cNvPr id="4" name="Slide Number Placeholder 3"/>
          <p:cNvSpPr>
            <a:spLocks noGrp="1"/>
          </p:cNvSpPr>
          <p:nvPr>
            <p:ph type="sldNum" sz="quarter" idx="5"/>
          </p:nvPr>
        </p:nvSpPr>
        <p:spPr/>
        <p:txBody>
          <a:bodyPr/>
          <a:lstStyle/>
          <a:p>
            <a:fld id="{C10995D4-C630-4D1E-A120-C0B9FB85BAB5}" type="slidenum">
              <a:rPr lang="en-IN" smtClean="0"/>
              <a:t>16</a:t>
            </a:fld>
            <a:endParaRPr lang="en-IN"/>
          </a:p>
        </p:txBody>
      </p:sp>
    </p:spTree>
    <p:extLst>
      <p:ext uri="{BB962C8B-B14F-4D97-AF65-F5344CB8AC3E}">
        <p14:creationId xmlns:p14="http://schemas.microsoft.com/office/powerpoint/2010/main" val="1280277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
            </a:r>
            <a:r>
              <a:rPr lang="en-US" baseline="0" dirty="0"/>
              <a:t>hen average GDP increases, the average level of education and health increase too. But this is not a guarantee. For example, the rate of child malnutrition in India didn’t change between 1998 and 2005 even though India experienced strong economic growth. </a:t>
            </a:r>
            <a:r>
              <a:rPr lang="en-US" b="0" baseline="0" dirty="0"/>
              <a:t>Examples of p</a:t>
            </a:r>
            <a:r>
              <a:rPr lang="en-US" b="0" dirty="0"/>
              <a:t>olicy</a:t>
            </a:r>
            <a:r>
              <a:rPr lang="en-US" b="0" baseline="0" dirty="0"/>
              <a:t> mechanisms include property rights, rule of law, and efficiency/effectiveness of the legal system (e.g., courts). Economic development </a:t>
            </a:r>
            <a:r>
              <a:rPr lang="en-US" b="0" baseline="0" dirty="0">
                <a:sym typeface="Wingdings" pitchFamily="2" charset="2"/>
              </a:rPr>
              <a:t>can lead to economic growth if </a:t>
            </a:r>
            <a:r>
              <a:rPr lang="en-US" dirty="0"/>
              <a:t>there are fundamentals</a:t>
            </a:r>
            <a:r>
              <a:rPr lang="en-US" baseline="0" dirty="0"/>
              <a:t> like</a:t>
            </a:r>
            <a:r>
              <a:rPr lang="en-US" dirty="0"/>
              <a:t> property rights, the rule of law, and human capital.</a:t>
            </a:r>
          </a:p>
        </p:txBody>
      </p:sp>
      <p:sp>
        <p:nvSpPr>
          <p:cNvPr id="4" name="Slide Number Placeholder 3"/>
          <p:cNvSpPr>
            <a:spLocks noGrp="1"/>
          </p:cNvSpPr>
          <p:nvPr>
            <p:ph type="sldNum" sz="quarter" idx="10"/>
          </p:nvPr>
        </p:nvSpPr>
        <p:spPr/>
        <p:txBody>
          <a:bodyPr/>
          <a:lstStyle/>
          <a:p>
            <a:fld id="{C10995D4-C630-4D1E-A120-C0B9FB85BAB5}" type="slidenum">
              <a:rPr lang="en-IN" smtClean="0"/>
              <a:t>17</a:t>
            </a:fld>
            <a:endParaRPr lang="en-IN"/>
          </a:p>
        </p:txBody>
      </p:sp>
    </p:spTree>
    <p:extLst>
      <p:ext uri="{BB962C8B-B14F-4D97-AF65-F5344CB8AC3E}">
        <p14:creationId xmlns:p14="http://schemas.microsoft.com/office/powerpoint/2010/main" val="332369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a:buNone/>
              <a:tabLst/>
              <a:defRPr/>
            </a:pPr>
            <a:endParaRPr lang="en-US" dirty="0"/>
          </a:p>
        </p:txBody>
      </p:sp>
      <p:sp>
        <p:nvSpPr>
          <p:cNvPr id="4" name="Slide Number Placeholder 3"/>
          <p:cNvSpPr>
            <a:spLocks noGrp="1"/>
          </p:cNvSpPr>
          <p:nvPr>
            <p:ph type="sldNum" sz="quarter" idx="10"/>
          </p:nvPr>
        </p:nvSpPr>
        <p:spPr/>
        <p:txBody>
          <a:bodyPr/>
          <a:lstStyle/>
          <a:p>
            <a:fld id="{C10995D4-C630-4D1E-A120-C0B9FB85BAB5}" type="slidenum">
              <a:rPr lang="en-IN" smtClean="0"/>
              <a:t>18</a:t>
            </a:fld>
            <a:endParaRPr lang="en-IN"/>
          </a:p>
        </p:txBody>
      </p:sp>
    </p:spTree>
    <p:extLst>
      <p:ext uri="{BB962C8B-B14F-4D97-AF65-F5344CB8AC3E}">
        <p14:creationId xmlns:p14="http://schemas.microsoft.com/office/powerpoint/2010/main" val="206234641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fr-FR" noProof="0"/>
              <a:t>Modifiez le style du titre</a:t>
            </a:r>
            <a:endParaRPr lang="fr-FR" noProof="0" dirty="0"/>
          </a:p>
        </p:txBody>
      </p:sp>
      <p:sp>
        <p:nvSpPr>
          <p:cNvPr id="3" name="Sous-titre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fr-FR" noProof="0"/>
              <a:t>Modifiez le style des sous-titres du masque</a:t>
            </a:r>
            <a:endParaRPr lang="fr-FR" noProof="0" dirty="0"/>
          </a:p>
        </p:txBody>
      </p:sp>
      <p:sp>
        <p:nvSpPr>
          <p:cNvPr id="4" name="Espace réservé de la date 3"/>
          <p:cNvSpPr>
            <a:spLocks noGrp="1"/>
          </p:cNvSpPr>
          <p:nvPr>
            <p:ph type="dt" sz="half" idx="10"/>
          </p:nvPr>
        </p:nvSpPr>
        <p:spPr/>
        <p:txBody>
          <a:bodyPr rtlCol="0"/>
          <a:lstStyle>
            <a:lvl1pPr>
              <a:defRPr/>
            </a:lvl1pPr>
          </a:lstStyle>
          <a:p>
            <a:fld id="{2A93682C-1666-439C-B1F6-2324BA8BDEE9}" type="datetime1">
              <a:rPr lang="fr-FR" smtClean="0"/>
              <a:pPr/>
              <a:t>20/02/2025</a:t>
            </a:fld>
            <a:endParaRPr lang="fr-FR" dirty="0"/>
          </a:p>
        </p:txBody>
      </p:sp>
      <p:sp>
        <p:nvSpPr>
          <p:cNvPr id="5" name="Espace réservé du pied de page 4"/>
          <p:cNvSpPr>
            <a:spLocks noGrp="1"/>
          </p:cNvSpPr>
          <p:nvPr>
            <p:ph type="ftr" sz="quarter" idx="11"/>
          </p:nvPr>
        </p:nvSpPr>
        <p:spPr/>
        <p:txBody>
          <a:bodyPr rtlCol="0"/>
          <a:lstStyle/>
          <a:p>
            <a:pPr rtl="0"/>
            <a:endParaRPr lang="fr-FR" noProof="0" dirty="0"/>
          </a:p>
        </p:txBody>
      </p:sp>
      <p:sp>
        <p:nvSpPr>
          <p:cNvPr id="6" name="Espace réservé du numéro de diapositive 5"/>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pic>
        <p:nvPicPr>
          <p:cNvPr id="11" name="Imag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contenu 2"/>
          <p:cNvSpPr>
            <a:spLocks noGrp="1"/>
          </p:cNvSpPr>
          <p:nvPr>
            <p:ph idx="1"/>
          </p:nvPr>
        </p:nvSpPr>
        <p:spPr/>
        <p:txBody>
          <a:bodyPr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e la date 3"/>
          <p:cNvSpPr>
            <a:spLocks noGrp="1"/>
          </p:cNvSpPr>
          <p:nvPr>
            <p:ph type="dt" sz="half" idx="10"/>
          </p:nvPr>
        </p:nvSpPr>
        <p:spPr/>
        <p:txBody>
          <a:bodyPr rtlCol="0"/>
          <a:lstStyle>
            <a:lvl1pPr>
              <a:defRPr/>
            </a:lvl1pPr>
          </a:lstStyle>
          <a:p>
            <a:fld id="{51DB54D6-28DC-40C0-8824-32CC37999B83}" type="datetime1">
              <a:rPr lang="fr-FR" smtClean="0"/>
              <a:pPr/>
              <a:t>20/02/2025</a:t>
            </a:fld>
            <a:endParaRPr lang="fr-FR" dirty="0"/>
          </a:p>
        </p:txBody>
      </p:sp>
      <p:sp>
        <p:nvSpPr>
          <p:cNvPr id="5" name="Espace réservé du pied de page 4"/>
          <p:cNvSpPr>
            <a:spLocks noGrp="1"/>
          </p:cNvSpPr>
          <p:nvPr>
            <p:ph type="ftr" sz="quarter" idx="11"/>
          </p:nvPr>
        </p:nvSpPr>
        <p:spPr/>
        <p:txBody>
          <a:bodyPr rtlCol="0"/>
          <a:lstStyle/>
          <a:p>
            <a:pPr rtl="0"/>
            <a:endParaRPr lang="fr-FR" noProof="0" dirty="0"/>
          </a:p>
        </p:txBody>
      </p:sp>
      <p:sp>
        <p:nvSpPr>
          <p:cNvPr id="6" name="Espace réservé du numéro de diapositive 5"/>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Diapositive de titre avec image">
    <p:spTree>
      <p:nvGrpSpPr>
        <p:cNvPr id="1" name=""/>
        <p:cNvGrpSpPr/>
        <p:nvPr/>
      </p:nvGrpSpPr>
      <p:grpSpPr>
        <a:xfrm>
          <a:off x="0" y="0"/>
          <a:ext cx="0" cy="0"/>
          <a:chOff x="0" y="0"/>
          <a:chExt cx="0" cy="0"/>
        </a:xfrm>
      </p:grpSpPr>
      <p:grpSp>
        <p:nvGrpSpPr>
          <p:cNvPr id="13" name="Groupe 12"/>
          <p:cNvGrpSpPr/>
          <p:nvPr/>
        </p:nvGrpSpPr>
        <p:grpSpPr>
          <a:xfrm rot="10800000">
            <a:off x="0" y="5645510"/>
            <a:ext cx="12192000" cy="63125"/>
            <a:chOff x="507492" y="1501519"/>
            <a:chExt cx="8129016" cy="63125"/>
          </a:xfrm>
        </p:grpSpPr>
        <p:cxnSp>
          <p:nvCxnSpPr>
            <p:cNvPr id="17" name="Connecteur droit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e 13"/>
          <p:cNvGrpSpPr/>
          <p:nvPr/>
        </p:nvGrpSpPr>
        <p:grpSpPr>
          <a:xfrm>
            <a:off x="0" y="1143000"/>
            <a:ext cx="12192000" cy="63125"/>
            <a:chOff x="507492" y="1501519"/>
            <a:chExt cx="8129016" cy="63125"/>
          </a:xfrm>
        </p:grpSpPr>
        <p:cxnSp>
          <p:nvCxnSpPr>
            <p:cNvPr id="15" name="Connecteur droit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p:cNvSpPr>
            <a:spLocks noGrp="1"/>
          </p:cNvSpPr>
          <p:nvPr>
            <p:ph type="ctrTitle"/>
          </p:nvPr>
        </p:nvSpPr>
        <p:spPr>
          <a:xfrm>
            <a:off x="1104900" y="2292094"/>
            <a:ext cx="5734050" cy="2219691"/>
          </a:xfrm>
        </p:spPr>
        <p:txBody>
          <a:bodyPr rtlCol="0" anchor="ctr">
            <a:normAutofit/>
          </a:bodyPr>
          <a:lstStyle>
            <a:lvl1pPr algn="l" rtl="0">
              <a:defRPr sz="4400" cap="all" baseline="0"/>
            </a:lvl1pPr>
          </a:lstStyle>
          <a:p>
            <a:pPr rtl="0"/>
            <a:r>
              <a:rPr lang="fr-FR" noProof="0"/>
              <a:t>Modifiez le style du titre</a:t>
            </a:r>
            <a:endParaRPr lang="fr-FR" noProof="0" dirty="0"/>
          </a:p>
        </p:txBody>
      </p:sp>
      <p:sp>
        <p:nvSpPr>
          <p:cNvPr id="3" name="Sous-titre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fr-FR" noProof="0"/>
              <a:t>Modifiez le style des sous-titres du masque</a:t>
            </a:r>
            <a:endParaRPr lang="fr-FR" noProof="0" dirty="0"/>
          </a:p>
        </p:txBody>
      </p:sp>
      <p:pic>
        <p:nvPicPr>
          <p:cNvPr id="10" name="Imag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
        <p:nvSpPr>
          <p:cNvPr id="11" name="Espace réservé d’image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vl1pPr>
          </a:lstStyle>
          <a:p>
            <a:pPr rtl="0"/>
            <a:r>
              <a:rPr lang="fr-FR" noProof="0"/>
              <a:t>Cliquez sur l'icône pour ajouter une image</a:t>
            </a:r>
            <a:endParaRPr lang="fr-FR" noProof="0" dirty="0"/>
          </a:p>
        </p:txBody>
      </p:sp>
      <p:sp>
        <p:nvSpPr>
          <p:cNvPr id="19" name="Texte d’instructions"/>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rtl="0"/>
            <a:r>
              <a:rPr lang="fr-FR" sz="1200" b="1" i="1" noProof="0" dirty="0">
                <a:latin typeface="Arial" pitchFamily="34" charset="0"/>
                <a:cs typeface="Arial" pitchFamily="34" charset="0"/>
              </a:rPr>
              <a:t>REMARQUE :</a:t>
            </a:r>
          </a:p>
          <a:p>
            <a:pPr rtl="0"/>
            <a:r>
              <a:rPr lang="fr-FR" sz="1200" i="1" noProof="0" dirty="0">
                <a:latin typeface="Arial" pitchFamily="34" charset="0"/>
                <a:cs typeface="Arial" pitchFamily="34" charset="0"/>
              </a:rPr>
              <a:t>Pour remplacer l’image sur cette diapositive, sélectionnez-la et supprimez-la. Cliquez ensuite sur l’icône Images dans l’espace réservé pour insérer votre image.</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8" name="Groupe 7"/>
          <p:cNvGrpSpPr/>
          <p:nvPr/>
        </p:nvGrpSpPr>
        <p:grpSpPr>
          <a:xfrm>
            <a:off x="0" y="2514600"/>
            <a:ext cx="12192000" cy="3194035"/>
            <a:chOff x="647402" y="2514600"/>
            <a:chExt cx="10838688" cy="3194035"/>
          </a:xfrm>
        </p:grpSpPr>
        <p:grpSp>
          <p:nvGrpSpPr>
            <p:cNvPr id="9" name="Groupe 8"/>
            <p:cNvGrpSpPr/>
            <p:nvPr/>
          </p:nvGrpSpPr>
          <p:grpSpPr>
            <a:xfrm>
              <a:off x="647402" y="2514600"/>
              <a:ext cx="10838688" cy="63125"/>
              <a:chOff x="507492" y="1501519"/>
              <a:chExt cx="8129016" cy="63125"/>
            </a:xfrm>
          </p:grpSpPr>
          <p:cxnSp>
            <p:nvCxnSpPr>
              <p:cNvPr id="14" name="Connecteur droit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grpSp>
          <p:nvGrpSpPr>
            <p:cNvPr id="11" name="Groupe 10"/>
            <p:cNvGrpSpPr/>
            <p:nvPr/>
          </p:nvGrpSpPr>
          <p:grpSpPr>
            <a:xfrm rot="10800000">
              <a:off x="647402" y="5645510"/>
              <a:ext cx="10838688" cy="63125"/>
              <a:chOff x="507492" y="1501519"/>
              <a:chExt cx="8129016" cy="63125"/>
            </a:xfrm>
          </p:grpSpPr>
          <p:cxnSp>
            <p:nvCxnSpPr>
              <p:cNvPr id="12" name="Connecteur droit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re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defRPr>
            </a:lvl1pPr>
          </a:lstStyle>
          <a:p>
            <a:pPr rtl="0"/>
            <a:r>
              <a:rPr lang="fr-FR" noProof="0"/>
              <a:t>Modifiez le style du titre</a:t>
            </a:r>
            <a:endParaRPr lang="fr-FR" noProof="0" dirty="0"/>
          </a:p>
        </p:txBody>
      </p:sp>
      <p:sp>
        <p:nvSpPr>
          <p:cNvPr id="3" name="Espace réservé du texte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fr-FR" noProof="0"/>
              <a:t>Modifier les styles du texte du masque</a:t>
            </a:r>
          </a:p>
        </p:txBody>
      </p:sp>
      <p:sp>
        <p:nvSpPr>
          <p:cNvPr id="4" name="Espace réservé de la date 3"/>
          <p:cNvSpPr>
            <a:spLocks noGrp="1"/>
          </p:cNvSpPr>
          <p:nvPr>
            <p:ph type="dt" sz="half" idx="10"/>
          </p:nvPr>
        </p:nvSpPr>
        <p:spPr/>
        <p:txBody>
          <a:bodyPr rtlCol="0"/>
          <a:lstStyle/>
          <a:p>
            <a:r>
              <a:rPr lang="fr-FR" dirty="0"/>
              <a:t>​</a:t>
            </a:r>
            <a:fld id="{FF5F1CE1-2D83-4710-B005-E03A94773F54}" type="datetime1">
              <a:rPr lang="fr-FR" smtClean="0"/>
              <a:pPr/>
              <a:t>20/02/2025</a:t>
            </a:fld>
            <a:r>
              <a:rPr lang="fr-FR" dirty="0"/>
              <a:t>​</a:t>
            </a:r>
          </a:p>
        </p:txBody>
      </p:sp>
      <p:sp>
        <p:nvSpPr>
          <p:cNvPr id="5" name="Espace réservé du pied de page 4"/>
          <p:cNvSpPr>
            <a:spLocks noGrp="1"/>
          </p:cNvSpPr>
          <p:nvPr>
            <p:ph type="ftr" sz="quarter" idx="11"/>
          </p:nvPr>
        </p:nvSpPr>
        <p:spPr/>
        <p:txBody>
          <a:bodyPr rtlCol="0"/>
          <a:lstStyle/>
          <a:p>
            <a:pPr rtl="0"/>
            <a:endParaRPr lang="fr-FR" noProof="0" dirty="0"/>
          </a:p>
        </p:txBody>
      </p:sp>
      <p:sp>
        <p:nvSpPr>
          <p:cNvPr id="6" name="Espace réservé du numéro de diapositive 5"/>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pic>
        <p:nvPicPr>
          <p:cNvPr id="7" name="Imag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contenu 2"/>
          <p:cNvSpPr>
            <a:spLocks noGrp="1"/>
          </p:cNvSpPr>
          <p:nvPr>
            <p:ph sz="half" idx="1"/>
          </p:nvPr>
        </p:nvSpPr>
        <p:spPr>
          <a:xfrm>
            <a:off x="1104900" y="1600200"/>
            <a:ext cx="4914900" cy="4571999"/>
          </a:xfrm>
        </p:spPr>
        <p:txBody>
          <a:bodyPr rtlCol="0"/>
          <a:lstStyle>
            <a:lvl5pPr algn="l" rtl="0">
              <a:defRPr/>
            </a:lvl5pPr>
            <a:lvl6pPr algn="l" rtl="0">
              <a:defRPr/>
            </a:lvl6pPr>
            <a:lvl7pPr algn="l" rtl="0">
              <a:defRPr/>
            </a:lvl7pPr>
            <a:lvl8pPr algn="l" rtl="0">
              <a:defRPr/>
            </a:lvl8pPr>
            <a:lvl9pPr algn="l" rtl="0">
              <a:defRPr/>
            </a:lvl9pPr>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u contenu 3"/>
          <p:cNvSpPr>
            <a:spLocks noGrp="1"/>
          </p:cNvSpPr>
          <p:nvPr>
            <p:ph sz="half" idx="2"/>
          </p:nvPr>
        </p:nvSpPr>
        <p:spPr>
          <a:xfrm>
            <a:off x="6172200" y="1600200"/>
            <a:ext cx="4914900" cy="4571999"/>
          </a:xfrm>
        </p:spPr>
        <p:txBody>
          <a:bodyPr rtlCol="0"/>
          <a:lstStyle>
            <a:lvl5pPr algn="l" rtl="0">
              <a:defRPr/>
            </a:lvl5pPr>
            <a:lvl6pPr algn="l" rtl="0">
              <a:defRPr/>
            </a:lvl6pPr>
            <a:lvl7pPr algn="l" rtl="0">
              <a:defRPr/>
            </a:lvl7pPr>
            <a:lvl8pPr algn="l" rtl="0">
              <a:defRPr/>
            </a:lvl8pPr>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5" name="Espace réservé de la date 4"/>
          <p:cNvSpPr>
            <a:spLocks noGrp="1"/>
          </p:cNvSpPr>
          <p:nvPr>
            <p:ph type="dt" sz="half" idx="10"/>
          </p:nvPr>
        </p:nvSpPr>
        <p:spPr/>
        <p:txBody>
          <a:bodyPr rtlCol="0"/>
          <a:lstStyle>
            <a:lvl1pPr>
              <a:defRPr/>
            </a:lvl1pPr>
          </a:lstStyle>
          <a:p>
            <a:fld id="{03CC60CA-F5F0-431E-AD16-DA84336EFE3A}" type="datetime1">
              <a:rPr lang="fr-FR" smtClean="0"/>
              <a:pPr/>
              <a:t>20/02/2025</a:t>
            </a:fld>
            <a:endParaRPr lang="fr-FR" dirty="0"/>
          </a:p>
        </p:txBody>
      </p:sp>
      <p:sp>
        <p:nvSpPr>
          <p:cNvPr id="6" name="Espace réservé du pied de page 5"/>
          <p:cNvSpPr>
            <a:spLocks noGrp="1"/>
          </p:cNvSpPr>
          <p:nvPr>
            <p:ph type="ftr" sz="quarter" idx="11"/>
          </p:nvPr>
        </p:nvSpPr>
        <p:spPr/>
        <p:txBody>
          <a:bodyPr rtlCol="0"/>
          <a:lstStyle/>
          <a:p>
            <a:pPr rtl="0"/>
            <a:endParaRPr lang="fr-FR" noProof="0" dirty="0"/>
          </a:p>
        </p:txBody>
      </p:sp>
      <p:sp>
        <p:nvSpPr>
          <p:cNvPr id="7" name="Espace réservé du numéro de diapositive 6"/>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texte 2"/>
          <p:cNvSpPr>
            <a:spLocks noGrp="1"/>
          </p:cNvSpPr>
          <p:nvPr>
            <p:ph type="body" idx="1"/>
          </p:nvPr>
        </p:nvSpPr>
        <p:spPr>
          <a:xfrm>
            <a:off x="1104900" y="1600200"/>
            <a:ext cx="4919472" cy="823912"/>
          </a:xfrm>
        </p:spPr>
        <p:txBody>
          <a:bodyPr rtlCol="0" anchor="b"/>
          <a:lstStyle>
            <a:lvl1pPr marL="0" indent="0" algn="l" rtl="0">
              <a:spcBef>
                <a:spcPts val="0"/>
              </a:spcBef>
              <a:buNone/>
              <a:defRPr sz="24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fr-FR" noProof="0"/>
              <a:t>Modifier les styles du texte du masque</a:t>
            </a:r>
          </a:p>
        </p:txBody>
      </p:sp>
      <p:sp>
        <p:nvSpPr>
          <p:cNvPr id="4" name="Espace réservé du contenu 3"/>
          <p:cNvSpPr>
            <a:spLocks noGrp="1"/>
          </p:cNvSpPr>
          <p:nvPr>
            <p:ph sz="half" idx="2"/>
          </p:nvPr>
        </p:nvSpPr>
        <p:spPr>
          <a:xfrm>
            <a:off x="1104900" y="2424112"/>
            <a:ext cx="4919472" cy="3748088"/>
          </a:xfrm>
        </p:spPr>
        <p:txBody>
          <a:bodyPr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5" name="Espace réservé du texte 4"/>
          <p:cNvSpPr>
            <a:spLocks noGrp="1"/>
          </p:cNvSpPr>
          <p:nvPr>
            <p:ph type="body" sz="quarter" idx="3"/>
          </p:nvPr>
        </p:nvSpPr>
        <p:spPr>
          <a:xfrm>
            <a:off x="6166110" y="1600200"/>
            <a:ext cx="4919472" cy="823912"/>
          </a:xfrm>
        </p:spPr>
        <p:txBody>
          <a:bodyPr rtlCol="0" anchor="b"/>
          <a:lstStyle>
            <a:lvl1pPr marL="0" indent="0" algn="l" rtl="0">
              <a:spcBef>
                <a:spcPts val="0"/>
              </a:spcBef>
              <a:buNone/>
              <a:defRPr sz="24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fr-FR" noProof="0"/>
              <a:t>Modifier les styles du texte du masque</a:t>
            </a:r>
          </a:p>
        </p:txBody>
      </p:sp>
      <p:sp>
        <p:nvSpPr>
          <p:cNvPr id="6" name="Espace réservé du contenu 5"/>
          <p:cNvSpPr>
            <a:spLocks noGrp="1"/>
          </p:cNvSpPr>
          <p:nvPr>
            <p:ph sz="quarter" idx="4"/>
          </p:nvPr>
        </p:nvSpPr>
        <p:spPr>
          <a:xfrm>
            <a:off x="6166110" y="2424112"/>
            <a:ext cx="4919472" cy="3748088"/>
          </a:xfrm>
        </p:spPr>
        <p:txBody>
          <a:bodyPr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7" name="Espace réservé de la date 6"/>
          <p:cNvSpPr>
            <a:spLocks noGrp="1"/>
          </p:cNvSpPr>
          <p:nvPr>
            <p:ph type="dt" sz="half" idx="10"/>
          </p:nvPr>
        </p:nvSpPr>
        <p:spPr/>
        <p:txBody>
          <a:bodyPr rtlCol="0"/>
          <a:lstStyle>
            <a:lvl1pPr>
              <a:defRPr/>
            </a:lvl1pPr>
          </a:lstStyle>
          <a:p>
            <a:fld id="{37571E30-3F8C-45A0-A97D-32FEE21AD3FE}" type="datetime1">
              <a:rPr lang="fr-FR" smtClean="0"/>
              <a:pPr/>
              <a:t>20/02/2025</a:t>
            </a:fld>
            <a:endParaRPr lang="fr-FR" dirty="0"/>
          </a:p>
        </p:txBody>
      </p:sp>
      <p:sp>
        <p:nvSpPr>
          <p:cNvPr id="8" name="Espace réservé du pied de page 7"/>
          <p:cNvSpPr>
            <a:spLocks noGrp="1"/>
          </p:cNvSpPr>
          <p:nvPr>
            <p:ph type="ftr" sz="quarter" idx="11"/>
          </p:nvPr>
        </p:nvSpPr>
        <p:spPr/>
        <p:txBody>
          <a:bodyPr rtlCol="0"/>
          <a:lstStyle/>
          <a:p>
            <a:pPr rtl="0"/>
            <a:endParaRPr lang="fr-FR" noProof="0" dirty="0"/>
          </a:p>
        </p:txBody>
      </p:sp>
      <p:sp>
        <p:nvSpPr>
          <p:cNvPr id="9" name="Espace réservé du numéro de diapositive 8"/>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endParaRPr lang="fr-FR" noProof="0" dirty="0"/>
          </a:p>
        </p:txBody>
      </p:sp>
      <p:sp>
        <p:nvSpPr>
          <p:cNvPr id="3" name="Espace réservé de la date 2"/>
          <p:cNvSpPr>
            <a:spLocks noGrp="1"/>
          </p:cNvSpPr>
          <p:nvPr>
            <p:ph type="dt" sz="half" idx="10"/>
          </p:nvPr>
        </p:nvSpPr>
        <p:spPr/>
        <p:txBody>
          <a:bodyPr rtlCol="0"/>
          <a:lstStyle>
            <a:lvl1pPr>
              <a:defRPr/>
            </a:lvl1pPr>
          </a:lstStyle>
          <a:p>
            <a:fld id="{F53E571F-D862-4C44-826E-B0273097C3EE}" type="datetime1">
              <a:rPr lang="fr-FR" smtClean="0"/>
              <a:pPr/>
              <a:t>20/02/2025</a:t>
            </a:fld>
            <a:endParaRPr lang="fr-FR" dirty="0"/>
          </a:p>
        </p:txBody>
      </p:sp>
      <p:sp>
        <p:nvSpPr>
          <p:cNvPr id="4" name="Espace réservé du pied de page 3"/>
          <p:cNvSpPr>
            <a:spLocks noGrp="1"/>
          </p:cNvSpPr>
          <p:nvPr>
            <p:ph type="ftr" sz="quarter" idx="11"/>
          </p:nvPr>
        </p:nvSpPr>
        <p:spPr/>
        <p:txBody>
          <a:bodyPr rtlCol="0"/>
          <a:lstStyle/>
          <a:p>
            <a:pPr rtl="0"/>
            <a:endParaRPr lang="fr-FR" noProof="0" dirty="0"/>
          </a:p>
        </p:txBody>
      </p:sp>
      <p:sp>
        <p:nvSpPr>
          <p:cNvPr id="5" name="Espace réservé du numéro de diapositive 4"/>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lvl1pPr>
              <a:defRPr/>
            </a:lvl1pPr>
          </a:lstStyle>
          <a:p>
            <a:fld id="{6A5EA7CD-A54C-4044-94F4-AD92C5338D2B}" type="datetime1">
              <a:rPr lang="fr-FR" smtClean="0"/>
              <a:pPr/>
              <a:t>20/02/2025</a:t>
            </a:fld>
            <a:endParaRPr lang="fr-FR" dirty="0"/>
          </a:p>
        </p:txBody>
      </p:sp>
      <p:sp>
        <p:nvSpPr>
          <p:cNvPr id="3" name="Espace réservé du pied de page 2"/>
          <p:cNvSpPr>
            <a:spLocks noGrp="1"/>
          </p:cNvSpPr>
          <p:nvPr>
            <p:ph type="ftr" sz="quarter" idx="11"/>
          </p:nvPr>
        </p:nvSpPr>
        <p:spPr/>
        <p:txBody>
          <a:bodyPr rtlCol="0"/>
          <a:lstStyle/>
          <a:p>
            <a:pPr rtl="0"/>
            <a:endParaRPr lang="fr-FR" noProof="0" dirty="0"/>
          </a:p>
        </p:txBody>
      </p:sp>
      <p:sp>
        <p:nvSpPr>
          <p:cNvPr id="4" name="Espace réservé du numéro de diapositive 3"/>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chor="b"/>
          <a:lstStyle>
            <a:lvl1pPr algn="l" rtl="0">
              <a:defRPr sz="3200"/>
            </a:lvl1pPr>
          </a:lstStyle>
          <a:p>
            <a:pPr rtl="0"/>
            <a:r>
              <a:rPr lang="fr-FR" noProof="0"/>
              <a:t>Modifiez le style du titre</a:t>
            </a:r>
            <a:endParaRPr lang="fr-FR" noProof="0" dirty="0"/>
          </a:p>
        </p:txBody>
      </p:sp>
      <p:sp>
        <p:nvSpPr>
          <p:cNvPr id="3" name="Espace réservé du contenu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u texte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fr-FR" noProof="0"/>
              <a:t>Modifier les styles du texte du masque</a:t>
            </a:r>
          </a:p>
        </p:txBody>
      </p:sp>
      <p:sp>
        <p:nvSpPr>
          <p:cNvPr id="5" name="Espace réservé de la date 4"/>
          <p:cNvSpPr>
            <a:spLocks noGrp="1"/>
          </p:cNvSpPr>
          <p:nvPr>
            <p:ph type="dt" sz="half" idx="10"/>
          </p:nvPr>
        </p:nvSpPr>
        <p:spPr/>
        <p:txBody>
          <a:bodyPr rtlCol="0"/>
          <a:lstStyle>
            <a:lvl1pPr>
              <a:defRPr/>
            </a:lvl1pPr>
          </a:lstStyle>
          <a:p>
            <a:fld id="{3214D363-38EB-4EFE-A4CB-9D469BC54DCB}" type="datetime1">
              <a:rPr lang="fr-FR" smtClean="0"/>
              <a:pPr/>
              <a:t>20/02/2025</a:t>
            </a:fld>
            <a:endParaRPr lang="fr-FR" dirty="0"/>
          </a:p>
        </p:txBody>
      </p:sp>
      <p:sp>
        <p:nvSpPr>
          <p:cNvPr id="6" name="Espace réservé du pied de page 5"/>
          <p:cNvSpPr>
            <a:spLocks noGrp="1"/>
          </p:cNvSpPr>
          <p:nvPr>
            <p:ph type="ftr" sz="quarter" idx="11"/>
          </p:nvPr>
        </p:nvSpPr>
        <p:spPr/>
        <p:txBody>
          <a:bodyPr rtlCol="0"/>
          <a:lstStyle/>
          <a:p>
            <a:pPr rtl="0"/>
            <a:endParaRPr lang="fr-FR" noProof="0" dirty="0"/>
          </a:p>
        </p:txBody>
      </p:sp>
      <p:sp>
        <p:nvSpPr>
          <p:cNvPr id="7" name="Espace réservé du numéro de diapositive 6"/>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nchor="b"/>
          <a:lstStyle>
            <a:lvl1pPr algn="l" rtl="0">
              <a:defRPr sz="3200"/>
            </a:lvl1pPr>
          </a:lstStyle>
          <a:p>
            <a:pPr rtl="0"/>
            <a:r>
              <a:rPr lang="fr-FR" noProof="0"/>
              <a:t>Modifiez le style du titre</a:t>
            </a:r>
            <a:endParaRPr lang="fr-FR" noProof="0" dirty="0"/>
          </a:p>
        </p:txBody>
      </p:sp>
      <p:sp>
        <p:nvSpPr>
          <p:cNvPr id="3" name="Espace réservé d’image 2"/>
          <p:cNvSpPr>
            <a:spLocks noGrp="1"/>
          </p:cNvSpPr>
          <p:nvPr>
            <p:ph type="pic" idx="1"/>
          </p:nvPr>
        </p:nvSpPr>
        <p:spPr>
          <a:xfrm>
            <a:off x="4654671" y="1600199"/>
            <a:ext cx="6430912" cy="4572001"/>
          </a:xfrm>
        </p:spPr>
        <p:txBody>
          <a:bodyPr tIns="1188720" rtlCol="0">
            <a:normAutofit/>
          </a:bodyPr>
          <a:lstStyle>
            <a:lvl1pPr marL="0" indent="0" algn="ctr" rtl="0">
              <a:buNone/>
              <a:defRPr sz="2000"/>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fr-FR" noProof="0"/>
              <a:t>Cliquez sur l'icône pour ajouter une image</a:t>
            </a:r>
            <a:endParaRPr lang="fr-FR" noProof="0" dirty="0"/>
          </a:p>
        </p:txBody>
      </p:sp>
      <p:sp>
        <p:nvSpPr>
          <p:cNvPr id="4" name="Espace réservé du texte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fr-FR" noProof="0"/>
              <a:t>Modifier les styles du texte du masque</a:t>
            </a:r>
          </a:p>
        </p:txBody>
      </p:sp>
      <p:sp>
        <p:nvSpPr>
          <p:cNvPr id="5" name="Espace réservé de la date 4"/>
          <p:cNvSpPr>
            <a:spLocks noGrp="1"/>
          </p:cNvSpPr>
          <p:nvPr>
            <p:ph type="dt" sz="half" idx="10"/>
          </p:nvPr>
        </p:nvSpPr>
        <p:spPr/>
        <p:txBody>
          <a:bodyPr rtlCol="0"/>
          <a:lstStyle>
            <a:lvl1pPr>
              <a:defRPr/>
            </a:lvl1pPr>
          </a:lstStyle>
          <a:p>
            <a:fld id="{75AC62B6-9765-4D0D-A062-B6261D408591}" type="datetime1">
              <a:rPr lang="fr-FR" smtClean="0"/>
              <a:pPr/>
              <a:t>20/02/2025</a:t>
            </a:fld>
            <a:endParaRPr lang="fr-FR" dirty="0"/>
          </a:p>
        </p:txBody>
      </p:sp>
      <p:sp>
        <p:nvSpPr>
          <p:cNvPr id="6" name="Espace réservé du pied de page 5"/>
          <p:cNvSpPr>
            <a:spLocks noGrp="1"/>
          </p:cNvSpPr>
          <p:nvPr>
            <p:ph type="ftr" sz="quarter" idx="11"/>
          </p:nvPr>
        </p:nvSpPr>
        <p:spPr/>
        <p:txBody>
          <a:bodyPr rtlCol="0"/>
          <a:lstStyle/>
          <a:p>
            <a:pPr rtl="0"/>
            <a:endParaRPr lang="fr-FR" noProof="0" dirty="0"/>
          </a:p>
        </p:txBody>
      </p:sp>
      <p:sp>
        <p:nvSpPr>
          <p:cNvPr id="7" name="Espace réservé du numéro de diapositive 6"/>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endParaRPr lang="fr-FR" noProof="0" dirty="0"/>
          </a:p>
        </p:txBody>
      </p:sp>
      <p:sp>
        <p:nvSpPr>
          <p:cNvPr id="3" name="Espace réservé du texte vertical 2"/>
          <p:cNvSpPr>
            <a:spLocks noGrp="1"/>
          </p:cNvSpPr>
          <p:nvPr>
            <p:ph type="body" orient="vert" idx="1"/>
          </p:nvPr>
        </p:nvSpPr>
        <p:spPr/>
        <p:txBody>
          <a:bodyPr vert="eaVert"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e la date 3"/>
          <p:cNvSpPr>
            <a:spLocks noGrp="1"/>
          </p:cNvSpPr>
          <p:nvPr>
            <p:ph type="dt" sz="half" idx="10"/>
          </p:nvPr>
        </p:nvSpPr>
        <p:spPr/>
        <p:txBody>
          <a:bodyPr rtlCol="0"/>
          <a:lstStyle>
            <a:lvl1pPr>
              <a:defRPr/>
            </a:lvl1pPr>
          </a:lstStyle>
          <a:p>
            <a:fld id="{05560E40-E96F-4F90-B177-9CA529868AE7}" type="datetime1">
              <a:rPr lang="fr-FR" smtClean="0"/>
              <a:pPr/>
              <a:t>20/02/2025</a:t>
            </a:fld>
            <a:endParaRPr lang="fr-FR" dirty="0"/>
          </a:p>
        </p:txBody>
      </p:sp>
      <p:sp>
        <p:nvSpPr>
          <p:cNvPr id="5" name="Espace réservé du pied de page 4"/>
          <p:cNvSpPr>
            <a:spLocks noGrp="1"/>
          </p:cNvSpPr>
          <p:nvPr>
            <p:ph type="ftr" sz="quarter" idx="11"/>
          </p:nvPr>
        </p:nvSpPr>
        <p:spPr/>
        <p:txBody>
          <a:bodyPr rtlCol="0"/>
          <a:lstStyle/>
          <a:p>
            <a:pPr rtl="0"/>
            <a:endParaRPr lang="fr-FR" noProof="0" dirty="0"/>
          </a:p>
        </p:txBody>
      </p:sp>
      <p:sp>
        <p:nvSpPr>
          <p:cNvPr id="6" name="Espace réservé du numéro de diapositive 5"/>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372600" y="365125"/>
            <a:ext cx="1714500" cy="5811838"/>
          </a:xfrm>
        </p:spPr>
        <p:txBody>
          <a:bodyPr vert="eaVert" rtlCol="0"/>
          <a:lstStyle/>
          <a:p>
            <a:pPr rtl="0"/>
            <a:r>
              <a:rPr lang="fr-FR" noProof="0"/>
              <a:t>Modifiez le style du titre</a:t>
            </a:r>
            <a:endParaRPr lang="fr-FR" noProof="0" dirty="0"/>
          </a:p>
        </p:txBody>
      </p:sp>
      <p:sp>
        <p:nvSpPr>
          <p:cNvPr id="3" name="Espace réservé du texte vertical 2"/>
          <p:cNvSpPr>
            <a:spLocks noGrp="1"/>
          </p:cNvSpPr>
          <p:nvPr>
            <p:ph type="body" orient="vert" idx="1"/>
          </p:nvPr>
        </p:nvSpPr>
        <p:spPr>
          <a:xfrm>
            <a:off x="1104900" y="365125"/>
            <a:ext cx="8098896" cy="5811838"/>
          </a:xfrm>
        </p:spPr>
        <p:txBody>
          <a:bodyPr vert="eaVert" rtlCol="0"/>
          <a:lstStyle/>
          <a:p>
            <a:pPr lvl="0" rtl="0"/>
            <a:r>
              <a:rPr lang="fr-FR" noProof="0"/>
              <a:t>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4" name="Espace réservé de la date 3"/>
          <p:cNvSpPr>
            <a:spLocks noGrp="1"/>
          </p:cNvSpPr>
          <p:nvPr>
            <p:ph type="dt" sz="half" idx="10"/>
          </p:nvPr>
        </p:nvSpPr>
        <p:spPr/>
        <p:txBody>
          <a:bodyPr rtlCol="0"/>
          <a:lstStyle>
            <a:lvl1pPr>
              <a:defRPr/>
            </a:lvl1pPr>
          </a:lstStyle>
          <a:p>
            <a:fld id="{495D8A20-D5AA-4EBF-82E0-3620BEFE5662}" type="datetime1">
              <a:rPr lang="fr-FR" smtClean="0"/>
              <a:pPr/>
              <a:t>20/02/2025</a:t>
            </a:fld>
            <a:endParaRPr lang="fr-FR" dirty="0"/>
          </a:p>
        </p:txBody>
      </p:sp>
      <p:sp>
        <p:nvSpPr>
          <p:cNvPr id="5" name="Espace réservé du pied de page 4"/>
          <p:cNvSpPr>
            <a:spLocks noGrp="1"/>
          </p:cNvSpPr>
          <p:nvPr>
            <p:ph type="ftr" sz="quarter" idx="11"/>
          </p:nvPr>
        </p:nvSpPr>
        <p:spPr/>
        <p:txBody>
          <a:bodyPr rtlCol="0"/>
          <a:lstStyle/>
          <a:p>
            <a:pPr rtl="0"/>
            <a:endParaRPr lang="fr-FR" noProof="0" dirty="0"/>
          </a:p>
        </p:txBody>
      </p:sp>
      <p:sp>
        <p:nvSpPr>
          <p:cNvPr id="6" name="Espace réservé du numéro de diapositive 5"/>
          <p:cNvSpPr>
            <a:spLocks noGrp="1"/>
          </p:cNvSpPr>
          <p:nvPr>
            <p:ph type="sldNum" sz="quarter" idx="12"/>
          </p:nvPr>
        </p:nvSpPr>
        <p:spPr/>
        <p:txBody>
          <a:bodyPr rtlCol="0"/>
          <a:lstStyle>
            <a:lvl1pPr rtl="0">
              <a:defRPr/>
            </a:lvl1pPr>
          </a:lstStyle>
          <a:p>
            <a:fld id="{E31375A4-56A4-47D6-9801-1991572033F7}" type="slidenum">
              <a:rPr lang="fr-FR" smtClean="0"/>
              <a:pPr/>
              <a:t>‹N°›</a:t>
            </a:fld>
            <a:endParaRPr lang="fr-FR" dirty="0"/>
          </a:p>
        </p:txBody>
      </p:sp>
      <p:grpSp>
        <p:nvGrpSpPr>
          <p:cNvPr id="7" name="Groupe 6"/>
          <p:cNvGrpSpPr/>
          <p:nvPr/>
        </p:nvGrpSpPr>
        <p:grpSpPr>
          <a:xfrm rot="5400000">
            <a:off x="6514047" y="3228843"/>
            <a:ext cx="5632704" cy="84403"/>
            <a:chOff x="1073150" y="1219201"/>
            <a:chExt cx="10058400" cy="63125"/>
          </a:xfrm>
        </p:grpSpPr>
        <p:cxnSp>
          <p:nvCxnSpPr>
            <p:cNvPr id="8" name="Connecteur droit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Connecteur droit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spcBef>
                <a:spcPts val="1000"/>
              </a:spcBef>
              <a:spcAft>
                <a:spcPts val="0"/>
              </a:spcAft>
              <a:defRPr/>
            </a:lvl1pPr>
            <a:lvl2pPr marL="292608" indent="-292608">
              <a:spcBef>
                <a:spcPts val="1000"/>
              </a:spcBef>
              <a:spcAft>
                <a:spcPts val="0"/>
              </a:spcAft>
              <a:defRPr/>
            </a:lvl2pPr>
            <a:lvl3pPr marL="621792" indent="-320040">
              <a:spcBef>
                <a:spcPts val="1000"/>
              </a:spcBef>
              <a:spcAft>
                <a:spcPts val="0"/>
              </a:spcAft>
              <a:defRPr/>
            </a:lvl3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spcBef>
                <a:spcPts val="1000"/>
              </a:spcBef>
              <a:spcAft>
                <a:spcPts val="0"/>
              </a:spcAft>
              <a:defRPr/>
            </a:lvl1pPr>
            <a:lvl2pPr marL="292608" indent="-292608">
              <a:spcBef>
                <a:spcPts val="1000"/>
              </a:spcBef>
              <a:spcAft>
                <a:spcPts val="0"/>
              </a:spcAft>
              <a:defRPr/>
            </a:lvl2pPr>
            <a:lvl3pPr marL="621792" indent="-320040">
              <a:spcBef>
                <a:spcPts val="1000"/>
              </a:spcBef>
              <a:spcAft>
                <a:spcPts val="0"/>
              </a:spcAft>
              <a:defRPr/>
            </a:lvl3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spcBef>
                <a:spcPts val="1000"/>
              </a:spcBef>
              <a:spcAft>
                <a:spcPts val="0"/>
              </a:spcAft>
              <a:defRPr/>
            </a:lvl1pPr>
            <a:lvl2pPr marL="292608" indent="-292608">
              <a:spcBef>
                <a:spcPts val="1000"/>
              </a:spcBef>
              <a:spcAft>
                <a:spcPts val="0"/>
              </a:spcAft>
              <a:defRPr/>
            </a:lvl2pPr>
            <a:lvl3pPr marL="621792" indent="-320040">
              <a:spcBef>
                <a:spcPts val="1000"/>
              </a:spcBef>
              <a:spcAft>
                <a:spcPts val="0"/>
              </a:spcAft>
              <a:defRPr/>
            </a:lvl3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spcBef>
                <a:spcPts val="1000"/>
              </a:spcBef>
              <a:spcAft>
                <a:spcPts val="0"/>
              </a:spcAft>
              <a:defRPr/>
            </a:lvl1pPr>
            <a:lvl2pPr marL="292608" indent="-292608">
              <a:spcBef>
                <a:spcPts val="1000"/>
              </a:spcBef>
              <a:spcAft>
                <a:spcPts val="0"/>
              </a:spcAft>
              <a:defRPr/>
            </a:lvl2pPr>
            <a:lvl3pPr marL="621792" indent="-320040">
              <a:spcBef>
                <a:spcPts val="1000"/>
              </a:spcBef>
              <a:spcAft>
                <a:spcPts val="0"/>
              </a:spcAft>
              <a:defRPr/>
            </a:lvl3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spcBef>
                <a:spcPts val="1000"/>
              </a:spcBef>
              <a:spcAft>
                <a:spcPts val="0"/>
              </a:spcAft>
              <a:defRPr/>
            </a:lvl1pPr>
            <a:lvl2pPr marL="292608" indent="-292608">
              <a:spcBef>
                <a:spcPts val="1000"/>
              </a:spcBef>
              <a:spcAft>
                <a:spcPts val="0"/>
              </a:spcAft>
              <a:defRPr/>
            </a:lvl2pPr>
            <a:lvl3pPr>
              <a:spcBef>
                <a:spcPts val="1000"/>
              </a:spcBef>
              <a:spcAft>
                <a:spcPts val="0"/>
              </a:spcAft>
              <a:defRPr/>
            </a:lvl3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spcBef>
                <a:spcPts val="1000"/>
              </a:spcBef>
              <a:spcAft>
                <a:spcPts val="0"/>
              </a:spcAft>
              <a:defRPr/>
            </a:lvl1pPr>
            <a:lvl2pPr marL="292608" indent="-292608">
              <a:spcBef>
                <a:spcPts val="1000"/>
              </a:spcBef>
              <a:spcAft>
                <a:spcPts val="0"/>
              </a:spcAft>
              <a:defRPr/>
            </a:lvl2pPr>
            <a:lvl3pPr>
              <a:spcBef>
                <a:spcPts val="1000"/>
              </a:spcBef>
              <a:spcAft>
                <a:spcPts val="0"/>
              </a:spcAft>
              <a:defRPr/>
            </a:lvl3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2" y="6684964"/>
            <a:ext cx="92963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‹N°›</a:t>
            </a:fld>
            <a:endParaRPr lang="en-US"/>
          </a:p>
        </p:txBody>
      </p:sp>
    </p:spTree>
    <p:extLst>
      <p:ext uri="{BB962C8B-B14F-4D97-AF65-F5344CB8AC3E}">
        <p14:creationId xmlns:p14="http://schemas.microsoft.com/office/powerpoint/2010/main" val="345254216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fr-FR" noProof="0" dirty="0"/>
              <a:t>Modifiez le style du titre</a:t>
            </a:r>
          </a:p>
        </p:txBody>
      </p:sp>
      <p:sp>
        <p:nvSpPr>
          <p:cNvPr id="3" name="Espace réservé du texte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a:p>
            <a:pPr lvl="5" rtl="0"/>
            <a:r>
              <a:rPr lang="fr-FR" noProof="0" dirty="0"/>
              <a:t>Sixième niveau</a:t>
            </a:r>
          </a:p>
          <a:p>
            <a:pPr lvl="6" rtl="0"/>
            <a:r>
              <a:rPr lang="fr-FR" noProof="0" dirty="0"/>
              <a:t>Septième niveau</a:t>
            </a:r>
          </a:p>
          <a:p>
            <a:pPr lvl="7" rtl="0"/>
            <a:r>
              <a:rPr lang="fr-FR" noProof="0" dirty="0"/>
              <a:t>Huitième niveau</a:t>
            </a:r>
          </a:p>
          <a:p>
            <a:pPr lvl="8" rtl="0"/>
            <a:r>
              <a:rPr lang="fr-FR" noProof="0" dirty="0"/>
              <a:t>Neuvième niveau</a:t>
            </a:r>
          </a:p>
        </p:txBody>
      </p:sp>
      <p:sp>
        <p:nvSpPr>
          <p:cNvPr id="4" name="Espace réservé de la date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defRPr>
            </a:lvl1pPr>
          </a:lstStyle>
          <a:p>
            <a:r>
              <a:rPr lang="fr-FR" dirty="0"/>
              <a:t>​</a:t>
            </a:r>
            <a:fld id="{B4D55279-C06B-4789-90C7-CDBF3CF07A5D}" type="datetime1">
              <a:rPr lang="fr-FR" smtClean="0"/>
              <a:pPr/>
              <a:t>20/02/2025</a:t>
            </a:fld>
            <a:r>
              <a:rPr lang="fr-FR" dirty="0"/>
              <a:t>​</a:t>
            </a:r>
          </a:p>
        </p:txBody>
      </p:sp>
      <p:sp>
        <p:nvSpPr>
          <p:cNvPr id="5" name="Espace réservé du pied de page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defRPr>
            </a:lvl1pPr>
          </a:lstStyle>
          <a:p>
            <a:pPr rtl="0"/>
            <a:endParaRPr lang="fr-FR" noProof="0" dirty="0"/>
          </a:p>
        </p:txBody>
      </p:sp>
      <p:sp>
        <p:nvSpPr>
          <p:cNvPr id="6" name="Espace réservé du numéro de diapositive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rtl="0">
              <a:defRPr sz="1200">
                <a:solidFill>
                  <a:schemeClr val="tx1">
                    <a:lumMod val="60000"/>
                    <a:lumOff val="40000"/>
                  </a:schemeClr>
                </a:solidFill>
              </a:defRPr>
            </a:lvl1pPr>
          </a:lstStyle>
          <a:p>
            <a:fld id="{E31375A4-56A4-47D6-9801-1991572033F7}" type="slidenum">
              <a:rPr lang="fr-FR" smtClean="0"/>
              <a:pPr/>
              <a:t>‹N°›</a:t>
            </a:fld>
            <a:endParaRPr lang="fr-FR" dirty="0"/>
          </a:p>
        </p:txBody>
      </p:sp>
      <p:grpSp>
        <p:nvGrpSpPr>
          <p:cNvPr id="15" name="Groupe 14"/>
          <p:cNvGrpSpPr/>
          <p:nvPr/>
        </p:nvGrpSpPr>
        <p:grpSpPr>
          <a:xfrm>
            <a:off x="1103376" y="1219201"/>
            <a:ext cx="9985248" cy="84403"/>
            <a:chOff x="1073150" y="1219201"/>
            <a:chExt cx="10058400" cy="63125"/>
          </a:xfrm>
        </p:grpSpPr>
        <p:cxnSp>
          <p:nvCxnSpPr>
            <p:cNvPr id="13" name="Connecteur droit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p:cNvSpPr>
            <a:spLocks noGrp="1"/>
          </p:cNvSpPr>
          <p:nvPr>
            <p:ph type="ctrTitle"/>
          </p:nvPr>
        </p:nvSpPr>
        <p:spPr>
          <a:xfrm>
            <a:off x="1104900" y="2292094"/>
            <a:ext cx="5734050" cy="2219691"/>
          </a:xfrm>
        </p:spPr>
        <p:txBody>
          <a:bodyPr rtlCol="0" anchor="ctr"/>
          <a:lstStyle/>
          <a:p>
            <a:r>
              <a:rPr lang="fr-FR" dirty="0"/>
              <a:t>Economic </a:t>
            </a:r>
            <a:r>
              <a:rPr lang="fr-FR" dirty="0" err="1"/>
              <a:t>Models</a:t>
            </a:r>
            <a:br>
              <a:rPr lang="fr-FR" dirty="0"/>
            </a:br>
            <a:r>
              <a:rPr lang="fr-FR" dirty="0"/>
              <a:t>in </a:t>
            </a:r>
            <a:r>
              <a:rPr lang="fr-FR" dirty="0" err="1"/>
              <a:t>asia</a:t>
            </a:r>
            <a:endParaRPr lang="fr-FR" dirty="0"/>
          </a:p>
        </p:txBody>
      </p:sp>
      <p:sp>
        <p:nvSpPr>
          <p:cNvPr id="7" name="Sous-titre 6"/>
          <p:cNvSpPr>
            <a:spLocks noGrp="1"/>
          </p:cNvSpPr>
          <p:nvPr>
            <p:ph type="subTitle" idx="1"/>
          </p:nvPr>
        </p:nvSpPr>
        <p:spPr>
          <a:xfrm>
            <a:off x="1005840" y="4490721"/>
            <a:ext cx="5932170" cy="997692"/>
          </a:xfrm>
        </p:spPr>
        <p:txBody>
          <a:bodyPr rtlCol="0"/>
          <a:lstStyle/>
          <a:p>
            <a:r>
              <a:rPr lang="en-US" dirty="0"/>
              <a:t>The Rise and Stagnation of Japan: an Exception?</a:t>
            </a:r>
            <a:endParaRPr lang="fr-FR" dirty="0"/>
          </a:p>
        </p:txBody>
      </p:sp>
      <p:pic>
        <p:nvPicPr>
          <p:cNvPr id="4" name="Espace réservé d’image 3" descr="Livre ouvert sur une table, rayonnages flous à l’arrière-plan" title="Exemple d’image"/>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re 12"/>
          <p:cNvSpPr>
            <a:spLocks noGrp="1"/>
          </p:cNvSpPr>
          <p:nvPr>
            <p:ph type="title"/>
          </p:nvPr>
        </p:nvSpPr>
        <p:spPr>
          <a:xfrm>
            <a:off x="558800" y="76200"/>
            <a:ext cx="10526782" cy="1096962"/>
          </a:xfrm>
        </p:spPr>
        <p:txBody>
          <a:bodyPr rtlCol="0">
            <a:noAutofit/>
          </a:bodyPr>
          <a:lstStyle/>
          <a:p>
            <a:pPr algn="ctr" rtl="0"/>
            <a:r>
              <a:rPr lang="fr-FR" sz="4000" dirty="0"/>
              <a:t>Japan Economic Miracle </a:t>
            </a:r>
            <a:r>
              <a:rPr lang="fr-FR" sz="4000" dirty="0" err="1"/>
              <a:t>after</a:t>
            </a:r>
            <a:r>
              <a:rPr lang="fr-FR" sz="4000" dirty="0"/>
              <a:t> the End of WWII </a:t>
            </a:r>
          </a:p>
        </p:txBody>
      </p:sp>
      <p:sp>
        <p:nvSpPr>
          <p:cNvPr id="14" name="Espace réservé du contenu 13"/>
          <p:cNvSpPr>
            <a:spLocks noGrp="1"/>
          </p:cNvSpPr>
          <p:nvPr>
            <p:ph idx="1"/>
          </p:nvPr>
        </p:nvSpPr>
        <p:spPr/>
        <p:txBody>
          <a:bodyPr rtlCol="0">
            <a:normAutofit lnSpcReduction="10000"/>
          </a:bodyPr>
          <a:lstStyle/>
          <a:p>
            <a:pPr rtl="0"/>
            <a:r>
              <a:rPr lang="fr-FR" sz="2800" dirty="0"/>
              <a:t>Japan </a:t>
            </a:r>
            <a:r>
              <a:rPr lang="fr-FR" sz="2800" dirty="0" err="1"/>
              <a:t>was</a:t>
            </a:r>
            <a:r>
              <a:rPr lang="fr-FR" sz="2800" dirty="0"/>
              <a:t> </a:t>
            </a:r>
            <a:r>
              <a:rPr lang="fr-FR" sz="2800" dirty="0" err="1"/>
              <a:t>devasted</a:t>
            </a:r>
            <a:r>
              <a:rPr lang="fr-FR" sz="2800" dirty="0"/>
              <a:t> at the end of the </a:t>
            </a:r>
            <a:r>
              <a:rPr lang="fr-FR" sz="2800" dirty="0" err="1"/>
              <a:t>war</a:t>
            </a:r>
            <a:r>
              <a:rPr lang="fr-FR" sz="2800" dirty="0"/>
              <a:t>: a </a:t>
            </a:r>
            <a:r>
              <a:rPr lang="fr-FR" sz="2800" dirty="0" err="1"/>
              <a:t>cost</a:t>
            </a:r>
            <a:r>
              <a:rPr lang="fr-FR" sz="2800" dirty="0"/>
              <a:t> </a:t>
            </a:r>
            <a:r>
              <a:rPr lang="fr-FR" sz="2800" dirty="0" err="1"/>
              <a:t>estimated</a:t>
            </a:r>
            <a:r>
              <a:rPr lang="fr-FR" sz="2800" dirty="0"/>
              <a:t> to $56 Billion and </a:t>
            </a:r>
            <a:r>
              <a:rPr lang="fr-FR" sz="2800" dirty="0" err="1"/>
              <a:t>around</a:t>
            </a:r>
            <a:r>
              <a:rPr lang="fr-FR" sz="2800" dirty="0"/>
              <a:t> 3 millions </a:t>
            </a:r>
            <a:r>
              <a:rPr lang="fr-FR" sz="2800" dirty="0" err="1"/>
              <a:t>lives</a:t>
            </a:r>
            <a:endParaRPr lang="fr-FR" sz="2800" dirty="0"/>
          </a:p>
          <a:p>
            <a:pPr rtl="0"/>
            <a:r>
              <a:rPr lang="fr-FR" sz="2800" dirty="0" err="1"/>
              <a:t>Sustained</a:t>
            </a:r>
            <a:r>
              <a:rPr lang="fr-FR" sz="2800" dirty="0"/>
              <a:t> </a:t>
            </a:r>
            <a:r>
              <a:rPr lang="fr-FR" sz="2800" dirty="0" err="1"/>
              <a:t>economic</a:t>
            </a:r>
            <a:r>
              <a:rPr lang="fr-FR" sz="2800" dirty="0"/>
              <a:t> </a:t>
            </a:r>
            <a:r>
              <a:rPr lang="fr-FR" sz="2800" dirty="0" err="1"/>
              <a:t>growth</a:t>
            </a:r>
            <a:r>
              <a:rPr lang="fr-FR" sz="2800" dirty="0"/>
              <a:t> </a:t>
            </a:r>
            <a:r>
              <a:rPr lang="fr-FR" sz="2800" dirty="0" err="1"/>
              <a:t>from</a:t>
            </a:r>
            <a:r>
              <a:rPr lang="fr-FR" sz="2800" dirty="0"/>
              <a:t> 1945 to 1991, </a:t>
            </a:r>
            <a:r>
              <a:rPr lang="fr-FR" sz="2800" dirty="0" err="1"/>
              <a:t>particularly</a:t>
            </a:r>
            <a:r>
              <a:rPr lang="fr-FR" sz="2800" dirty="0"/>
              <a:t> </a:t>
            </a:r>
            <a:r>
              <a:rPr lang="fr-FR" sz="2800" dirty="0" err="1"/>
              <a:t>strong</a:t>
            </a:r>
            <a:r>
              <a:rPr lang="fr-FR" sz="2800" dirty="0"/>
              <a:t> </a:t>
            </a:r>
            <a:r>
              <a:rPr lang="fr-FR" sz="2800" dirty="0" err="1"/>
              <a:t>during</a:t>
            </a:r>
            <a:r>
              <a:rPr lang="fr-FR" sz="2800" dirty="0"/>
              <a:t> the first 20 </a:t>
            </a:r>
            <a:r>
              <a:rPr lang="fr-FR" sz="2800" dirty="0" err="1"/>
              <a:t>years</a:t>
            </a:r>
            <a:r>
              <a:rPr lang="fr-FR" sz="2800" dirty="0"/>
              <a:t> (</a:t>
            </a:r>
            <a:r>
              <a:rPr lang="fr-FR" sz="2800" dirty="0" err="1"/>
              <a:t>see</a:t>
            </a:r>
            <a:r>
              <a:rPr lang="fr-FR" sz="2800" dirty="0"/>
              <a:t> real </a:t>
            </a:r>
            <a:r>
              <a:rPr lang="fr-FR" sz="2800" dirty="0" err="1"/>
              <a:t>economic</a:t>
            </a:r>
            <a:r>
              <a:rPr lang="fr-FR" sz="2800" dirty="0"/>
              <a:t> </a:t>
            </a:r>
            <a:r>
              <a:rPr lang="fr-FR" sz="2800" dirty="0" err="1"/>
              <a:t>growth</a:t>
            </a:r>
            <a:r>
              <a:rPr lang="fr-FR" sz="2800" dirty="0"/>
              <a:t>)</a:t>
            </a:r>
          </a:p>
          <a:p>
            <a:pPr rtl="0"/>
            <a:r>
              <a:rPr lang="fr-FR" sz="2800" dirty="0"/>
              <a:t>4 main </a:t>
            </a:r>
            <a:r>
              <a:rPr lang="fr-FR" sz="2800" dirty="0" err="1"/>
              <a:t>factors</a:t>
            </a:r>
            <a:r>
              <a:rPr lang="fr-FR" sz="2800" dirty="0"/>
              <a:t> </a:t>
            </a:r>
            <a:r>
              <a:rPr lang="fr-FR" sz="2800" dirty="0" err="1"/>
              <a:t>explain</a:t>
            </a:r>
            <a:r>
              <a:rPr lang="fr-FR" sz="2800" dirty="0"/>
              <a:t> </a:t>
            </a:r>
            <a:r>
              <a:rPr lang="fr-FR" sz="2800" dirty="0" err="1"/>
              <a:t>this</a:t>
            </a:r>
            <a:r>
              <a:rPr lang="fr-FR" sz="2800" dirty="0"/>
              <a:t> «miracle»:</a:t>
            </a:r>
          </a:p>
          <a:p>
            <a:pPr lvl="1"/>
            <a:r>
              <a:rPr lang="fr-FR" sz="2400" dirty="0" err="1"/>
              <a:t>Technological</a:t>
            </a:r>
            <a:r>
              <a:rPr lang="fr-FR" sz="2400" dirty="0"/>
              <a:t> change</a:t>
            </a:r>
          </a:p>
          <a:p>
            <a:pPr lvl="1"/>
            <a:r>
              <a:rPr lang="fr-FR" sz="2400" dirty="0"/>
              <a:t>Accumulation of capital</a:t>
            </a:r>
          </a:p>
          <a:p>
            <a:pPr lvl="1"/>
            <a:r>
              <a:rPr lang="fr-FR" sz="2400" dirty="0" err="1"/>
              <a:t>Increased</a:t>
            </a:r>
            <a:r>
              <a:rPr lang="fr-FR" sz="2400" dirty="0"/>
              <a:t> </a:t>
            </a:r>
            <a:r>
              <a:rPr lang="fr-FR" sz="2400" dirty="0" err="1"/>
              <a:t>quantity</a:t>
            </a:r>
            <a:r>
              <a:rPr lang="fr-FR" sz="2400" dirty="0"/>
              <a:t> and </a:t>
            </a:r>
            <a:r>
              <a:rPr lang="fr-FR" sz="2400" dirty="0" err="1"/>
              <a:t>quality</a:t>
            </a:r>
            <a:r>
              <a:rPr lang="fr-FR" sz="2400" dirty="0"/>
              <a:t> of </a:t>
            </a:r>
            <a:r>
              <a:rPr lang="fr-FR" sz="2400" dirty="0" err="1"/>
              <a:t>labor</a:t>
            </a:r>
            <a:endParaRPr lang="fr-FR" sz="2400" dirty="0"/>
          </a:p>
          <a:p>
            <a:pPr lvl="1"/>
            <a:r>
              <a:rPr lang="fr-FR" sz="2400" dirty="0" err="1"/>
              <a:t>Increased</a:t>
            </a:r>
            <a:r>
              <a:rPr lang="fr-FR" sz="2400" dirty="0"/>
              <a:t> international </a:t>
            </a:r>
            <a:r>
              <a:rPr lang="fr-FR" sz="2400" dirty="0" err="1"/>
              <a:t>trade</a:t>
            </a:r>
            <a:endParaRPr lang="fr-FR" sz="2400" dirty="0"/>
          </a:p>
          <a:p>
            <a:pPr rtl="0"/>
            <a:r>
              <a:rPr lang="fr-FR" sz="2800" dirty="0"/>
              <a:t>A combination of </a:t>
            </a:r>
            <a:r>
              <a:rPr lang="fr-FR" sz="2800" dirty="0" err="1"/>
              <a:t>strategic</a:t>
            </a:r>
            <a:r>
              <a:rPr lang="fr-FR" sz="2800" dirty="0"/>
              <a:t> planning and </a:t>
            </a:r>
            <a:r>
              <a:rPr lang="fr-FR" sz="2800" dirty="0" err="1"/>
              <a:t>firms’cooperation</a:t>
            </a:r>
            <a:endParaRPr lang="fr-FR" sz="2800" dirty="0"/>
          </a:p>
          <a:p>
            <a:endParaRPr lang="fr-FR" dirty="0"/>
          </a:p>
          <a:p>
            <a:endParaRPr lang="fr-FR" dirty="0"/>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86F5E4-330B-4141-B2B9-BFE311CA7EE4}"/>
              </a:ext>
            </a:extLst>
          </p:cNvPr>
          <p:cNvSpPr>
            <a:spLocks noGrp="1"/>
          </p:cNvSpPr>
          <p:nvPr>
            <p:ph type="title"/>
          </p:nvPr>
        </p:nvSpPr>
        <p:spPr/>
        <p:txBody>
          <a:bodyPr>
            <a:normAutofit fontScale="90000"/>
          </a:bodyPr>
          <a:lstStyle/>
          <a:p>
            <a:r>
              <a:rPr lang="fr-FR" sz="4000" dirty="0" err="1"/>
              <a:t>Historical</a:t>
            </a:r>
            <a:r>
              <a:rPr lang="fr-FR" sz="4000" dirty="0"/>
              <a:t> Real GDP per Capita – Japan and USA</a:t>
            </a:r>
          </a:p>
        </p:txBody>
      </p:sp>
      <p:pic>
        <p:nvPicPr>
          <p:cNvPr id="4" name="Espace réservé du contenu 3">
            <a:extLst>
              <a:ext uri="{FF2B5EF4-FFF2-40B4-BE49-F238E27FC236}">
                <a16:creationId xmlns:a16="http://schemas.microsoft.com/office/drawing/2014/main" id="{736F503C-0474-4721-B961-9D8ADBD1B02A}"/>
              </a:ext>
            </a:extLst>
          </p:cNvPr>
          <p:cNvPicPr>
            <a:picLocks noGrp="1" noChangeAspect="1"/>
          </p:cNvPicPr>
          <p:nvPr>
            <p:ph idx="1"/>
          </p:nvPr>
        </p:nvPicPr>
        <p:blipFill>
          <a:blip r:embed="rId2"/>
          <a:stretch>
            <a:fillRect/>
          </a:stretch>
        </p:blipFill>
        <p:spPr>
          <a:xfrm>
            <a:off x="1767840" y="1676400"/>
            <a:ext cx="8239760" cy="4846319"/>
          </a:xfrm>
          <a:prstGeom prst="rect">
            <a:avLst/>
          </a:prstGeom>
        </p:spPr>
      </p:pic>
    </p:spTree>
    <p:extLst>
      <p:ext uri="{BB962C8B-B14F-4D97-AF65-F5344CB8AC3E}">
        <p14:creationId xmlns:p14="http://schemas.microsoft.com/office/powerpoint/2010/main" val="195735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C49F5D-2EC9-4B73-ACBC-E76633DE863F}"/>
              </a:ext>
            </a:extLst>
          </p:cNvPr>
          <p:cNvSpPr>
            <a:spLocks noGrp="1"/>
          </p:cNvSpPr>
          <p:nvPr>
            <p:ph type="title"/>
          </p:nvPr>
        </p:nvSpPr>
        <p:spPr>
          <a:xfrm>
            <a:off x="1859280" y="0"/>
            <a:ext cx="8564880" cy="931017"/>
          </a:xfrm>
          <a:solidFill>
            <a:srgbClr val="FFFF00"/>
          </a:solidFill>
        </p:spPr>
        <p:txBody>
          <a:bodyPr>
            <a:normAutofit/>
          </a:bodyPr>
          <a:lstStyle/>
          <a:p>
            <a:pPr algn="ctr"/>
            <a:r>
              <a:rPr lang="fr-FR" sz="3200" dirty="0"/>
              <a:t>Japan Real Economic </a:t>
            </a:r>
            <a:r>
              <a:rPr lang="fr-FR" sz="3200" dirty="0" err="1"/>
              <a:t>Growth</a:t>
            </a:r>
            <a:r>
              <a:rPr lang="fr-FR" sz="3200" dirty="0"/>
              <a:t> 1950-1973</a:t>
            </a:r>
          </a:p>
        </p:txBody>
      </p:sp>
      <p:sp>
        <p:nvSpPr>
          <p:cNvPr id="4" name="Espace réservé du contenu 3">
            <a:extLst>
              <a:ext uri="{FF2B5EF4-FFF2-40B4-BE49-F238E27FC236}">
                <a16:creationId xmlns:a16="http://schemas.microsoft.com/office/drawing/2014/main" id="{50CEAF1F-AA96-4E7F-BE63-924AB22568EB}"/>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4EBC196F-21F5-49ED-8103-211B80ED9F60}"/>
              </a:ext>
            </a:extLst>
          </p:cNvPr>
          <p:cNvPicPr>
            <a:picLocks noChangeAspect="1"/>
          </p:cNvPicPr>
          <p:nvPr/>
        </p:nvPicPr>
        <p:blipFill>
          <a:blip r:embed="rId2"/>
          <a:stretch>
            <a:fillRect/>
          </a:stretch>
        </p:blipFill>
        <p:spPr>
          <a:xfrm>
            <a:off x="1026160" y="1171458"/>
            <a:ext cx="9982200" cy="5000742"/>
          </a:xfrm>
          <a:prstGeom prst="rect">
            <a:avLst/>
          </a:prstGeom>
        </p:spPr>
      </p:pic>
    </p:spTree>
    <p:extLst>
      <p:ext uri="{BB962C8B-B14F-4D97-AF65-F5344CB8AC3E}">
        <p14:creationId xmlns:p14="http://schemas.microsoft.com/office/powerpoint/2010/main" val="1359020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3DCE-4043-4117-A86A-85BE52F44372}"/>
              </a:ext>
            </a:extLst>
          </p:cNvPr>
          <p:cNvSpPr>
            <a:spLocks noGrp="1"/>
          </p:cNvSpPr>
          <p:nvPr>
            <p:ph type="title"/>
          </p:nvPr>
        </p:nvSpPr>
        <p:spPr/>
        <p:txBody>
          <a:bodyPr>
            <a:normAutofit/>
          </a:bodyPr>
          <a:lstStyle/>
          <a:p>
            <a:pPr algn="ctr"/>
            <a:r>
              <a:rPr lang="en-US" dirty="0" err="1"/>
              <a:t>Technicological</a:t>
            </a:r>
            <a:r>
              <a:rPr lang="en-US" dirty="0"/>
              <a:t> Change</a:t>
            </a:r>
            <a:endParaRPr lang="en-US" noProof="0" dirty="0"/>
          </a:p>
        </p:txBody>
      </p:sp>
      <p:sp>
        <p:nvSpPr>
          <p:cNvPr id="3" name="Content Placeholder 2">
            <a:extLst>
              <a:ext uri="{FF2B5EF4-FFF2-40B4-BE49-F238E27FC236}">
                <a16:creationId xmlns:a16="http://schemas.microsoft.com/office/drawing/2014/main" id="{96D0BEAC-5FE4-4E55-82CD-8E9CA5EDC569}"/>
              </a:ext>
            </a:extLst>
          </p:cNvPr>
          <p:cNvSpPr>
            <a:spLocks noGrp="1"/>
          </p:cNvSpPr>
          <p:nvPr>
            <p:ph sz="quarter" idx="11"/>
          </p:nvPr>
        </p:nvSpPr>
        <p:spPr>
          <a:xfrm>
            <a:off x="1330960" y="1297030"/>
            <a:ext cx="9621520" cy="5256169"/>
          </a:xfrm>
        </p:spPr>
        <p:txBody>
          <a:bodyPr>
            <a:normAutofit/>
          </a:bodyPr>
          <a:lstStyle/>
          <a:p>
            <a:pPr>
              <a:buClr>
                <a:schemeClr val="tx1"/>
              </a:buClr>
            </a:pPr>
            <a:r>
              <a:rPr lang="en-US" sz="2800" dirty="0"/>
              <a:t>After the War, Japan had lost ¼ of Industrial capacity + Depreciated stock</a:t>
            </a:r>
          </a:p>
          <a:p>
            <a:pPr>
              <a:buClr>
                <a:schemeClr val="tx1"/>
              </a:buClr>
            </a:pPr>
            <a:r>
              <a:rPr lang="en-US" sz="2800" dirty="0"/>
              <a:t>Condition for Japan to adopt an abundance of new technologies without having to wait for assets fully depreciated</a:t>
            </a:r>
          </a:p>
          <a:p>
            <a:pPr>
              <a:buClr>
                <a:schemeClr val="tx1"/>
              </a:buClr>
            </a:pPr>
            <a:r>
              <a:rPr lang="en-US" sz="2800" dirty="0"/>
              <a:t>Favorable to innovation</a:t>
            </a:r>
          </a:p>
          <a:p>
            <a:pPr>
              <a:buClr>
                <a:schemeClr val="tx1"/>
              </a:buClr>
            </a:pPr>
            <a:r>
              <a:rPr lang="en-US" sz="2800" dirty="0"/>
              <a:t>Fuel innovation</a:t>
            </a:r>
          </a:p>
          <a:p>
            <a:pPr>
              <a:buClr>
                <a:schemeClr val="tx1"/>
              </a:buClr>
            </a:pPr>
            <a:r>
              <a:rPr lang="en-US" sz="2800" dirty="0"/>
              <a:t>Accelerated by import of new technology in industries such as iron, steel, </a:t>
            </a:r>
            <a:r>
              <a:rPr lang="en-US" sz="2800" dirty="0" err="1"/>
              <a:t>petrochimicals</a:t>
            </a:r>
            <a:r>
              <a:rPr lang="en-US" sz="2800" dirty="0"/>
              <a:t> electronics, motor manufacturing and chemical engineering</a:t>
            </a:r>
          </a:p>
          <a:p>
            <a:pPr>
              <a:buClr>
                <a:schemeClr val="tx1"/>
              </a:buClr>
            </a:pPr>
            <a:endParaRPr lang="en-US" sz="2800" noProof="0" dirty="0"/>
          </a:p>
        </p:txBody>
      </p:sp>
    </p:spTree>
    <p:extLst>
      <p:ext uri="{BB962C8B-B14F-4D97-AF65-F5344CB8AC3E}">
        <p14:creationId xmlns:p14="http://schemas.microsoft.com/office/powerpoint/2010/main" val="229437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06428E-6164-4BCD-A5A3-0B9E90195E63}"/>
              </a:ext>
            </a:extLst>
          </p:cNvPr>
          <p:cNvSpPr>
            <a:spLocks noGrp="1"/>
          </p:cNvSpPr>
          <p:nvPr>
            <p:ph type="title"/>
          </p:nvPr>
        </p:nvSpPr>
        <p:spPr>
          <a:xfrm>
            <a:off x="660400" y="76200"/>
            <a:ext cx="10698480" cy="1096962"/>
          </a:xfrm>
        </p:spPr>
        <p:txBody>
          <a:bodyPr>
            <a:noAutofit/>
          </a:bodyPr>
          <a:lstStyle/>
          <a:p>
            <a:pPr algn="ctr"/>
            <a:r>
              <a:rPr lang="fr-FR" sz="4000" dirty="0" err="1"/>
              <a:t>Japan’s</a:t>
            </a:r>
            <a:r>
              <a:rPr lang="fr-FR" sz="4000" dirty="0"/>
              <a:t> </a:t>
            </a:r>
            <a:r>
              <a:rPr lang="fr-FR" sz="4000" dirty="0" err="1"/>
              <a:t>Technological</a:t>
            </a:r>
            <a:r>
              <a:rPr lang="fr-FR" sz="4000" dirty="0"/>
              <a:t> Change and </a:t>
            </a:r>
            <a:r>
              <a:rPr lang="fr-FR" sz="4000" dirty="0" err="1"/>
              <a:t>Productivity</a:t>
            </a:r>
            <a:endParaRPr lang="fr-FR" sz="4000" dirty="0"/>
          </a:p>
        </p:txBody>
      </p:sp>
      <p:pic>
        <p:nvPicPr>
          <p:cNvPr id="4" name="Espace réservé du contenu 3">
            <a:extLst>
              <a:ext uri="{FF2B5EF4-FFF2-40B4-BE49-F238E27FC236}">
                <a16:creationId xmlns:a16="http://schemas.microsoft.com/office/drawing/2014/main" id="{EFCE973C-B989-4582-9B02-84BAD43F3A5E}"/>
              </a:ext>
            </a:extLst>
          </p:cNvPr>
          <p:cNvPicPr>
            <a:picLocks noGrp="1" noChangeAspect="1"/>
          </p:cNvPicPr>
          <p:nvPr>
            <p:ph idx="1"/>
          </p:nvPr>
        </p:nvPicPr>
        <p:blipFill>
          <a:blip r:embed="rId2"/>
          <a:stretch>
            <a:fillRect/>
          </a:stretch>
        </p:blipFill>
        <p:spPr>
          <a:xfrm>
            <a:off x="1104900" y="2273127"/>
            <a:ext cx="9982200" cy="3226146"/>
          </a:xfrm>
          <a:prstGeom prst="rect">
            <a:avLst/>
          </a:prstGeom>
        </p:spPr>
      </p:pic>
    </p:spTree>
    <p:extLst>
      <p:ext uri="{BB962C8B-B14F-4D97-AF65-F5344CB8AC3E}">
        <p14:creationId xmlns:p14="http://schemas.microsoft.com/office/powerpoint/2010/main" val="2529812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06">
            <a:extLst>
              <a:ext uri="{FF2B5EF4-FFF2-40B4-BE49-F238E27FC236}">
                <a16:creationId xmlns:a16="http://schemas.microsoft.com/office/drawing/2014/main" id="{DE77E088-08C7-4F41-935F-4939FC122203}"/>
              </a:ext>
            </a:extLst>
          </p:cNvPr>
          <p:cNvSpPr>
            <a:spLocks noGrp="1"/>
          </p:cNvSpPr>
          <p:nvPr>
            <p:ph type="title"/>
          </p:nvPr>
        </p:nvSpPr>
        <p:spPr>
          <a:solidFill>
            <a:srgbClr val="FFFF00"/>
          </a:solidFill>
        </p:spPr>
        <p:txBody>
          <a:bodyPr>
            <a:normAutofit/>
          </a:bodyPr>
          <a:lstStyle/>
          <a:p>
            <a:pPr algn="ctr"/>
            <a:r>
              <a:rPr lang="fr-FR" altLang="fr-FR" sz="3200" dirty="0"/>
              <a:t> </a:t>
            </a:r>
            <a:r>
              <a:rPr lang="en-US" dirty="0"/>
              <a:t>Number of contracts ( &gt; 1 year) signed to import new technology in foreign currency between 1950 and 1969.</a:t>
            </a:r>
            <a:endParaRPr lang="fr-FR" altLang="fr-FR" sz="3200" dirty="0"/>
          </a:p>
        </p:txBody>
      </p:sp>
      <p:pic>
        <p:nvPicPr>
          <p:cNvPr id="3" name="Espace réservé du contenu 2">
            <a:extLst>
              <a:ext uri="{FF2B5EF4-FFF2-40B4-BE49-F238E27FC236}">
                <a16:creationId xmlns:a16="http://schemas.microsoft.com/office/drawing/2014/main" id="{EE1A6D2D-EFEE-4023-AFE7-E7FC98556E0D}"/>
              </a:ext>
            </a:extLst>
          </p:cNvPr>
          <p:cNvPicPr>
            <a:picLocks noGrp="1" noChangeAspect="1"/>
          </p:cNvPicPr>
          <p:nvPr>
            <p:ph idx="1"/>
          </p:nvPr>
        </p:nvPicPr>
        <p:blipFill>
          <a:blip r:embed="rId3"/>
          <a:stretch>
            <a:fillRect/>
          </a:stretch>
        </p:blipFill>
        <p:spPr>
          <a:xfrm>
            <a:off x="1442720" y="1720738"/>
            <a:ext cx="8349170" cy="4330923"/>
          </a:xfrm>
          <a:prstGeom prst="rect">
            <a:avLst/>
          </a:prstGeom>
        </p:spPr>
      </p:pic>
      <p:sp>
        <p:nvSpPr>
          <p:cNvPr id="14339" name="ZoneTexte 4">
            <a:extLst>
              <a:ext uri="{FF2B5EF4-FFF2-40B4-BE49-F238E27FC236}">
                <a16:creationId xmlns:a16="http://schemas.microsoft.com/office/drawing/2014/main" id="{91EC36D8-C0F2-43FB-8013-2EDC4642E20E}"/>
              </a:ext>
            </a:extLst>
          </p:cNvPr>
          <p:cNvSpPr txBox="1">
            <a:spLocks noChangeArrowheads="1"/>
          </p:cNvSpPr>
          <p:nvPr/>
        </p:nvSpPr>
        <p:spPr bwMode="auto">
          <a:xfrm>
            <a:off x="6324600" y="21336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fr-FR" altLang="fr-FR" sz="180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945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023BD1-98C5-43BD-B60B-22E0FB98AA3E}"/>
              </a:ext>
            </a:extLst>
          </p:cNvPr>
          <p:cNvSpPr>
            <a:spLocks noGrp="1"/>
          </p:cNvSpPr>
          <p:nvPr>
            <p:ph type="title"/>
          </p:nvPr>
        </p:nvSpPr>
        <p:spPr/>
        <p:txBody>
          <a:bodyPr>
            <a:normAutofit/>
          </a:bodyPr>
          <a:lstStyle/>
          <a:p>
            <a:pPr algn="ctr"/>
            <a:r>
              <a:rPr lang="fr-FR" sz="4000" dirty="0">
                <a:latin typeface="+mn-lt"/>
              </a:rPr>
              <a:t>International Labor </a:t>
            </a:r>
            <a:r>
              <a:rPr lang="fr-FR" sz="4000" dirty="0" err="1">
                <a:latin typeface="+mn-lt"/>
              </a:rPr>
              <a:t>Productivity</a:t>
            </a:r>
            <a:endParaRPr lang="fr-FR" sz="4000" dirty="0">
              <a:latin typeface="+mn-lt"/>
            </a:endParaRPr>
          </a:p>
        </p:txBody>
      </p:sp>
      <p:sp>
        <p:nvSpPr>
          <p:cNvPr id="6" name="Espace réservé du contenu 5">
            <a:extLst>
              <a:ext uri="{FF2B5EF4-FFF2-40B4-BE49-F238E27FC236}">
                <a16:creationId xmlns:a16="http://schemas.microsoft.com/office/drawing/2014/main" id="{07D92F64-DCFE-4AE3-B38E-C8378F983DA4}"/>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CAD6421B-C35A-47B4-BCA2-CBD9DE57DDE3}"/>
              </a:ext>
            </a:extLst>
          </p:cNvPr>
          <p:cNvPicPr>
            <a:picLocks noChangeAspect="1"/>
          </p:cNvPicPr>
          <p:nvPr/>
        </p:nvPicPr>
        <p:blipFill>
          <a:blip r:embed="rId2"/>
          <a:stretch>
            <a:fillRect/>
          </a:stretch>
        </p:blipFill>
        <p:spPr>
          <a:xfrm>
            <a:off x="690880" y="1149232"/>
            <a:ext cx="10394702" cy="5119487"/>
          </a:xfrm>
          <a:prstGeom prst="rect">
            <a:avLst/>
          </a:prstGeom>
        </p:spPr>
      </p:pic>
    </p:spTree>
    <p:extLst>
      <p:ext uri="{BB962C8B-B14F-4D97-AF65-F5344CB8AC3E}">
        <p14:creationId xmlns:p14="http://schemas.microsoft.com/office/powerpoint/2010/main" val="3203097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99CFF0-1433-40BA-8F37-C514FEB7B565}"/>
              </a:ext>
            </a:extLst>
          </p:cNvPr>
          <p:cNvSpPr>
            <a:spLocks noGrp="1"/>
          </p:cNvSpPr>
          <p:nvPr>
            <p:ph type="title"/>
          </p:nvPr>
        </p:nvSpPr>
        <p:spPr/>
        <p:txBody>
          <a:bodyPr>
            <a:normAutofit/>
          </a:bodyPr>
          <a:lstStyle/>
          <a:p>
            <a:pPr algn="ctr"/>
            <a:r>
              <a:rPr lang="fr-FR" sz="4000" dirty="0"/>
              <a:t>G7 Nations Per-</a:t>
            </a:r>
            <a:r>
              <a:rPr lang="fr-FR" sz="4000" dirty="0" err="1"/>
              <a:t>Hour</a:t>
            </a:r>
            <a:r>
              <a:rPr lang="fr-FR" sz="4000" dirty="0"/>
              <a:t> Labor </a:t>
            </a:r>
            <a:r>
              <a:rPr lang="fr-FR" sz="4000" dirty="0" err="1"/>
              <a:t>Productivity</a:t>
            </a:r>
            <a:endParaRPr lang="fr-FR" sz="4000" dirty="0"/>
          </a:p>
        </p:txBody>
      </p:sp>
      <p:pic>
        <p:nvPicPr>
          <p:cNvPr id="4" name="Espace réservé du contenu 3">
            <a:extLst>
              <a:ext uri="{FF2B5EF4-FFF2-40B4-BE49-F238E27FC236}">
                <a16:creationId xmlns:a16="http://schemas.microsoft.com/office/drawing/2014/main" id="{EF067215-54ED-44C9-9098-F06D512FAC78}"/>
              </a:ext>
            </a:extLst>
          </p:cNvPr>
          <p:cNvPicPr>
            <a:picLocks noGrp="1" noChangeAspect="1"/>
          </p:cNvPicPr>
          <p:nvPr>
            <p:ph idx="1"/>
          </p:nvPr>
        </p:nvPicPr>
        <p:blipFill>
          <a:blip r:embed="rId2"/>
          <a:stretch>
            <a:fillRect/>
          </a:stretch>
        </p:blipFill>
        <p:spPr>
          <a:xfrm>
            <a:off x="1960880" y="1600200"/>
            <a:ext cx="7579360" cy="4572000"/>
          </a:xfrm>
          <a:prstGeom prst="rect">
            <a:avLst/>
          </a:prstGeom>
        </p:spPr>
      </p:pic>
    </p:spTree>
    <p:extLst>
      <p:ext uri="{BB962C8B-B14F-4D97-AF65-F5344CB8AC3E}">
        <p14:creationId xmlns:p14="http://schemas.microsoft.com/office/powerpoint/2010/main" val="750708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BA0FB3-8D24-46F9-86FE-BC0FB3C72A22}"/>
              </a:ext>
            </a:extLst>
          </p:cNvPr>
          <p:cNvSpPr>
            <a:spLocks noGrp="1"/>
          </p:cNvSpPr>
          <p:nvPr>
            <p:ph type="title"/>
          </p:nvPr>
        </p:nvSpPr>
        <p:spPr/>
        <p:txBody>
          <a:bodyPr>
            <a:normAutofit/>
          </a:bodyPr>
          <a:lstStyle/>
          <a:p>
            <a:pPr algn="ctr"/>
            <a:r>
              <a:rPr lang="fr-FR" sz="4000" dirty="0"/>
              <a:t>G-7 </a:t>
            </a:r>
            <a:r>
              <a:rPr lang="fr-FR" sz="4000" dirty="0" err="1"/>
              <a:t>Average</a:t>
            </a:r>
            <a:r>
              <a:rPr lang="fr-FR" sz="4000" dirty="0"/>
              <a:t> </a:t>
            </a:r>
            <a:r>
              <a:rPr lang="fr-FR" sz="4000" dirty="0" err="1"/>
              <a:t>Hourly</a:t>
            </a:r>
            <a:r>
              <a:rPr lang="fr-FR" sz="4000" dirty="0"/>
              <a:t> </a:t>
            </a:r>
            <a:r>
              <a:rPr lang="fr-FR" sz="4000" dirty="0" err="1"/>
              <a:t>Productivity</a:t>
            </a:r>
            <a:r>
              <a:rPr lang="fr-FR" sz="4000" dirty="0"/>
              <a:t> </a:t>
            </a:r>
            <a:r>
              <a:rPr lang="fr-FR" sz="4000" dirty="0" err="1"/>
              <a:t>Growth</a:t>
            </a:r>
            <a:endParaRPr lang="fr-FR" sz="4000" dirty="0"/>
          </a:p>
        </p:txBody>
      </p:sp>
      <p:pic>
        <p:nvPicPr>
          <p:cNvPr id="4" name="Espace réservé du contenu 3">
            <a:extLst>
              <a:ext uri="{FF2B5EF4-FFF2-40B4-BE49-F238E27FC236}">
                <a16:creationId xmlns:a16="http://schemas.microsoft.com/office/drawing/2014/main" id="{CFEE20C3-5094-40F6-BD7D-AEF348259CEC}"/>
              </a:ext>
            </a:extLst>
          </p:cNvPr>
          <p:cNvPicPr>
            <a:picLocks noGrp="1" noChangeAspect="1"/>
          </p:cNvPicPr>
          <p:nvPr>
            <p:ph idx="1"/>
          </p:nvPr>
        </p:nvPicPr>
        <p:blipFill>
          <a:blip r:embed="rId2"/>
          <a:stretch>
            <a:fillRect/>
          </a:stretch>
        </p:blipFill>
        <p:spPr>
          <a:xfrm>
            <a:off x="666998" y="1661160"/>
            <a:ext cx="9980682" cy="4572000"/>
          </a:xfrm>
          <a:prstGeom prst="rect">
            <a:avLst/>
          </a:prstGeom>
        </p:spPr>
      </p:pic>
    </p:spTree>
    <p:extLst>
      <p:ext uri="{BB962C8B-B14F-4D97-AF65-F5344CB8AC3E}">
        <p14:creationId xmlns:p14="http://schemas.microsoft.com/office/powerpoint/2010/main" val="148684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3DCE-4043-4117-A86A-85BE52F44372}"/>
              </a:ext>
            </a:extLst>
          </p:cNvPr>
          <p:cNvSpPr>
            <a:spLocks noGrp="1"/>
          </p:cNvSpPr>
          <p:nvPr>
            <p:ph type="title"/>
          </p:nvPr>
        </p:nvSpPr>
        <p:spPr/>
        <p:txBody>
          <a:bodyPr>
            <a:normAutofit fontScale="90000"/>
          </a:bodyPr>
          <a:lstStyle/>
          <a:p>
            <a:pPr algn="ctr"/>
            <a:r>
              <a:rPr lang="en-US" noProof="0" dirty="0"/>
              <a:t>The Magic Touch of Loose Monetary Policy Combined with Loose Fiscal Policy</a:t>
            </a:r>
          </a:p>
        </p:txBody>
      </p:sp>
      <p:sp>
        <p:nvSpPr>
          <p:cNvPr id="3" name="Content Placeholder 2">
            <a:extLst>
              <a:ext uri="{FF2B5EF4-FFF2-40B4-BE49-F238E27FC236}">
                <a16:creationId xmlns:a16="http://schemas.microsoft.com/office/drawing/2014/main" id="{96D0BEAC-5FE4-4E55-82CD-8E9CA5EDC569}"/>
              </a:ext>
            </a:extLst>
          </p:cNvPr>
          <p:cNvSpPr>
            <a:spLocks noGrp="1"/>
          </p:cNvSpPr>
          <p:nvPr>
            <p:ph sz="quarter" idx="11"/>
          </p:nvPr>
        </p:nvSpPr>
        <p:spPr>
          <a:xfrm>
            <a:off x="965200" y="1276710"/>
            <a:ext cx="10109200" cy="5105237"/>
          </a:xfrm>
        </p:spPr>
        <p:txBody>
          <a:bodyPr>
            <a:normAutofit/>
          </a:bodyPr>
          <a:lstStyle/>
          <a:p>
            <a:pPr>
              <a:buClr>
                <a:schemeClr val="tx1"/>
              </a:buClr>
            </a:pPr>
            <a:r>
              <a:rPr lang="en-US" sz="2800" noProof="0" dirty="0"/>
              <a:t>This technological race was fueled by cheap money</a:t>
            </a:r>
          </a:p>
          <a:p>
            <a:pPr>
              <a:buClr>
                <a:schemeClr val="tx1"/>
              </a:buClr>
            </a:pPr>
            <a:r>
              <a:rPr lang="en-US" sz="2800" dirty="0"/>
              <a:t>Central bank monetary policy essentially setting the interest rate low</a:t>
            </a:r>
            <a:r>
              <a:rPr lang="en-US" sz="2800" noProof="0" dirty="0"/>
              <a:t>.</a:t>
            </a:r>
          </a:p>
          <a:p>
            <a:pPr>
              <a:buClr>
                <a:schemeClr val="tx1"/>
              </a:buClr>
            </a:pPr>
            <a:r>
              <a:rPr lang="en-US" sz="2800" dirty="0"/>
              <a:t>Firms were overborrowing and banks were </a:t>
            </a:r>
            <a:r>
              <a:rPr lang="en-US" sz="2800" dirty="0" err="1"/>
              <a:t>overlending</a:t>
            </a:r>
            <a:endParaRPr lang="en-US" sz="2800" dirty="0"/>
          </a:p>
          <a:p>
            <a:pPr>
              <a:buClr>
                <a:schemeClr val="tx1"/>
              </a:buClr>
            </a:pPr>
            <a:r>
              <a:rPr lang="en-US" sz="2800" dirty="0"/>
              <a:t>Government use generous depreciation provisions and tax deductions:</a:t>
            </a:r>
          </a:p>
          <a:p>
            <a:pPr lvl="2">
              <a:buClr>
                <a:schemeClr val="tx1"/>
              </a:buClr>
            </a:pPr>
            <a:r>
              <a:rPr lang="en-US" sz="2800" dirty="0"/>
              <a:t>Rapid growing corporations lower tax rate compare to slower-growing firms </a:t>
            </a:r>
          </a:p>
          <a:p>
            <a:pPr>
              <a:buClr>
                <a:schemeClr val="tx1"/>
              </a:buClr>
            </a:pPr>
            <a:r>
              <a:rPr lang="en-US" sz="2800" dirty="0"/>
              <a:t>Personal Income Tax: partial exemption of interest and dividend incomes from taxation.</a:t>
            </a:r>
          </a:p>
          <a:p>
            <a:pPr>
              <a:buClr>
                <a:schemeClr val="tx1"/>
              </a:buClr>
            </a:pPr>
            <a:endParaRPr lang="en-US" sz="2400" noProof="0" dirty="0"/>
          </a:p>
        </p:txBody>
      </p:sp>
    </p:spTree>
    <p:extLst>
      <p:ext uri="{BB962C8B-B14F-4D97-AF65-F5344CB8AC3E}">
        <p14:creationId xmlns:p14="http://schemas.microsoft.com/office/powerpoint/2010/main" val="1976154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3089E-4F22-4108-818A-393BFA31150A}"/>
              </a:ext>
            </a:extLst>
          </p:cNvPr>
          <p:cNvSpPr>
            <a:spLocks noGrp="1"/>
          </p:cNvSpPr>
          <p:nvPr>
            <p:ph type="title"/>
          </p:nvPr>
        </p:nvSpPr>
        <p:spPr/>
        <p:txBody>
          <a:bodyPr>
            <a:normAutofit/>
          </a:bodyPr>
          <a:lstStyle/>
          <a:p>
            <a:pPr algn="ctr"/>
            <a:r>
              <a:rPr lang="en-US" sz="4000" dirty="0"/>
              <a:t>Transfers of Technology </a:t>
            </a:r>
            <a:endParaRPr lang="en-US" sz="4000" noProof="0" dirty="0"/>
          </a:p>
        </p:txBody>
      </p:sp>
      <p:sp>
        <p:nvSpPr>
          <p:cNvPr id="7" name="Espace réservé du contenu 6">
            <a:extLst>
              <a:ext uri="{FF2B5EF4-FFF2-40B4-BE49-F238E27FC236}">
                <a16:creationId xmlns:a16="http://schemas.microsoft.com/office/drawing/2014/main" id="{81817E4C-833C-45AD-9D08-9C45BED50E8D}"/>
              </a:ext>
            </a:extLst>
          </p:cNvPr>
          <p:cNvSpPr>
            <a:spLocks noGrp="1"/>
          </p:cNvSpPr>
          <p:nvPr>
            <p:ph idx="1"/>
          </p:nvPr>
        </p:nvSpPr>
        <p:spPr/>
        <p:txBody>
          <a:bodyPr>
            <a:normAutofit lnSpcReduction="10000"/>
          </a:bodyPr>
          <a:lstStyle/>
          <a:p>
            <a:r>
              <a:rPr lang="fr-FR" sz="2800" dirty="0"/>
              <a:t>By </a:t>
            </a:r>
            <a:r>
              <a:rPr lang="fr-FR" sz="2800" dirty="0" err="1"/>
              <a:t>importing</a:t>
            </a:r>
            <a:r>
              <a:rPr lang="fr-FR" sz="2800" dirty="0"/>
              <a:t> </a:t>
            </a:r>
            <a:r>
              <a:rPr lang="fr-FR" sz="2800" dirty="0" err="1"/>
              <a:t>technology</a:t>
            </a:r>
            <a:r>
              <a:rPr lang="fr-FR" sz="2800" dirty="0"/>
              <a:t>, </a:t>
            </a:r>
            <a:r>
              <a:rPr lang="fr-FR" sz="2800" dirty="0" err="1"/>
              <a:t>it</a:t>
            </a:r>
            <a:r>
              <a:rPr lang="fr-FR" sz="2800" dirty="0"/>
              <a:t> </a:t>
            </a:r>
            <a:r>
              <a:rPr lang="fr-FR" sz="2800" dirty="0" err="1"/>
              <a:t>fosters</a:t>
            </a:r>
            <a:r>
              <a:rPr lang="fr-FR" sz="2800" dirty="0"/>
              <a:t> innovation:</a:t>
            </a:r>
          </a:p>
          <a:p>
            <a:pPr lvl="1"/>
            <a:r>
              <a:rPr lang="fr-FR" sz="2400" dirty="0"/>
              <a:t>In 1963 the </a:t>
            </a:r>
            <a:r>
              <a:rPr lang="fr-FR" sz="2400" dirty="0" err="1"/>
              <a:t>japan</a:t>
            </a:r>
            <a:r>
              <a:rPr lang="fr-FR" sz="2400" dirty="0"/>
              <a:t> Information center for Science and </a:t>
            </a:r>
            <a:r>
              <a:rPr lang="fr-FR" sz="2400" dirty="0" err="1"/>
              <a:t>Technology</a:t>
            </a:r>
            <a:r>
              <a:rPr lang="fr-FR" sz="2400" dirty="0"/>
              <a:t> </a:t>
            </a:r>
            <a:r>
              <a:rPr lang="fr-FR" sz="2400" dirty="0" err="1"/>
              <a:t>wrote</a:t>
            </a:r>
            <a:r>
              <a:rPr lang="fr-FR" sz="2400" dirty="0"/>
              <a:t> 210 000 abstracts of </a:t>
            </a:r>
            <a:r>
              <a:rPr lang="fr-FR" sz="2400" dirty="0" err="1"/>
              <a:t>foreign</a:t>
            </a:r>
            <a:r>
              <a:rPr lang="fr-FR" sz="2400" dirty="0"/>
              <a:t> </a:t>
            </a:r>
            <a:r>
              <a:rPr lang="fr-FR" sz="2400" dirty="0" err="1"/>
              <a:t>scientific</a:t>
            </a:r>
            <a:r>
              <a:rPr lang="fr-FR" sz="2400" dirty="0"/>
              <a:t> </a:t>
            </a:r>
            <a:r>
              <a:rPr lang="fr-FR" sz="2400" dirty="0" err="1"/>
              <a:t>papers</a:t>
            </a:r>
            <a:endParaRPr lang="fr-FR" sz="2400" dirty="0"/>
          </a:p>
          <a:p>
            <a:r>
              <a:rPr lang="fr-FR" sz="2800" dirty="0"/>
              <a:t>New technologies </a:t>
            </a:r>
            <a:r>
              <a:rPr lang="fr-FR" sz="2800" dirty="0" err="1"/>
              <a:t>imported</a:t>
            </a:r>
            <a:r>
              <a:rPr lang="fr-FR" sz="2800" dirty="0"/>
              <a:t> </a:t>
            </a:r>
            <a:r>
              <a:rPr lang="fr-FR" sz="2800" dirty="0" err="1"/>
              <a:t>were</a:t>
            </a:r>
            <a:r>
              <a:rPr lang="fr-FR" sz="2800" dirty="0"/>
              <a:t> </a:t>
            </a:r>
            <a:r>
              <a:rPr lang="fr-FR" sz="2800" dirty="0" err="1"/>
              <a:t>improved</a:t>
            </a:r>
            <a:r>
              <a:rPr lang="fr-FR" sz="2800" dirty="0"/>
              <a:t>:</a:t>
            </a:r>
          </a:p>
          <a:p>
            <a:pPr lvl="1"/>
            <a:r>
              <a:rPr lang="fr-FR" sz="2400" dirty="0"/>
              <a:t>Machine </a:t>
            </a:r>
            <a:r>
              <a:rPr lang="fr-FR" sz="2400" dirty="0" err="1"/>
              <a:t>tools</a:t>
            </a:r>
            <a:r>
              <a:rPr lang="fr-FR" sz="2400" dirty="0"/>
              <a:t> and robot </a:t>
            </a:r>
            <a:r>
              <a:rPr lang="fr-FR" sz="2400" dirty="0" err="1"/>
              <a:t>were</a:t>
            </a:r>
            <a:r>
              <a:rPr lang="fr-FR" sz="2400" dirty="0"/>
              <a:t> </a:t>
            </a:r>
            <a:r>
              <a:rPr lang="fr-FR" sz="2400" dirty="0" err="1"/>
              <a:t>imported</a:t>
            </a:r>
            <a:r>
              <a:rPr lang="fr-FR" sz="2400" dirty="0"/>
              <a:t> and </a:t>
            </a:r>
            <a:r>
              <a:rPr lang="fr-FR" sz="2400" dirty="0" err="1"/>
              <a:t>used</a:t>
            </a:r>
            <a:r>
              <a:rPr lang="fr-FR" sz="2400" dirty="0"/>
              <a:t> in the automobile </a:t>
            </a:r>
            <a:r>
              <a:rPr lang="fr-FR" sz="2400" dirty="0" err="1"/>
              <a:t>industry</a:t>
            </a:r>
            <a:endParaRPr lang="fr-FR" sz="2400" dirty="0"/>
          </a:p>
          <a:p>
            <a:pPr lvl="1"/>
            <a:r>
              <a:rPr lang="fr-FR" sz="2400" dirty="0" err="1"/>
              <a:t>Imported</a:t>
            </a:r>
            <a:r>
              <a:rPr lang="fr-FR" sz="2400" dirty="0"/>
              <a:t> </a:t>
            </a:r>
            <a:r>
              <a:rPr lang="fr-FR" sz="2400" dirty="0" err="1"/>
              <a:t>generators</a:t>
            </a:r>
            <a:r>
              <a:rPr lang="fr-FR" sz="2400" dirty="0"/>
              <a:t> </a:t>
            </a:r>
            <a:r>
              <a:rPr lang="fr-FR" sz="2400" dirty="0" err="1"/>
              <a:t>adapted</a:t>
            </a:r>
            <a:r>
              <a:rPr lang="fr-FR" sz="2400" dirty="0"/>
              <a:t> to </a:t>
            </a:r>
            <a:r>
              <a:rPr lang="fr-FR" sz="2400" dirty="0" err="1"/>
              <a:t>improve</a:t>
            </a:r>
            <a:r>
              <a:rPr lang="fr-FR" sz="2400" dirty="0"/>
              <a:t> </a:t>
            </a:r>
            <a:r>
              <a:rPr lang="fr-FR" sz="2400" dirty="0" err="1"/>
              <a:t>efficiency</a:t>
            </a:r>
            <a:r>
              <a:rPr lang="fr-FR" sz="2400" dirty="0"/>
              <a:t> of </a:t>
            </a:r>
            <a:r>
              <a:rPr lang="fr-FR" sz="2400" dirty="0" err="1"/>
              <a:t>electric</a:t>
            </a:r>
            <a:r>
              <a:rPr lang="fr-FR" sz="2400" dirty="0"/>
              <a:t> utility </a:t>
            </a:r>
            <a:r>
              <a:rPr lang="fr-FR" sz="2400" dirty="0" err="1"/>
              <a:t>industry</a:t>
            </a:r>
            <a:endParaRPr lang="fr-FR" sz="2400" dirty="0"/>
          </a:p>
          <a:p>
            <a:r>
              <a:rPr lang="fr-FR" sz="2800" dirty="0" err="1"/>
              <a:t>Technology</a:t>
            </a:r>
            <a:r>
              <a:rPr lang="fr-FR" sz="2800" dirty="0"/>
              <a:t> = 20% more efficient</a:t>
            </a:r>
          </a:p>
          <a:p>
            <a:r>
              <a:rPr lang="fr-FR" sz="2800" dirty="0"/>
              <a:t>9500 large </a:t>
            </a:r>
            <a:r>
              <a:rPr lang="fr-FR" sz="2800" dirty="0" err="1"/>
              <a:t>firms</a:t>
            </a:r>
            <a:r>
              <a:rPr lang="fr-FR" sz="2800" dirty="0"/>
              <a:t>  = </a:t>
            </a:r>
            <a:r>
              <a:rPr lang="fr-FR" sz="2800" dirty="0" err="1"/>
              <a:t>spending</a:t>
            </a:r>
            <a:r>
              <a:rPr lang="fr-FR" sz="2800" dirty="0"/>
              <a:t> 1/3 of </a:t>
            </a:r>
            <a:r>
              <a:rPr lang="fr-FR" sz="2800" dirty="0" err="1"/>
              <a:t>their</a:t>
            </a:r>
            <a:r>
              <a:rPr lang="fr-FR" sz="2800" dirty="0"/>
              <a:t> R&amp;D </a:t>
            </a:r>
            <a:r>
              <a:rPr lang="fr-FR" sz="2800" dirty="0" err="1"/>
              <a:t>expenditure</a:t>
            </a:r>
            <a:r>
              <a:rPr lang="fr-FR" sz="2800" dirty="0"/>
              <a:t> and </a:t>
            </a:r>
            <a:r>
              <a:rPr lang="fr-FR" sz="2800" dirty="0" err="1"/>
              <a:t>improving</a:t>
            </a:r>
            <a:r>
              <a:rPr lang="fr-FR" sz="2800" dirty="0"/>
              <a:t> </a:t>
            </a:r>
            <a:r>
              <a:rPr lang="fr-FR" sz="2800" dirty="0" err="1"/>
              <a:t>imported</a:t>
            </a:r>
            <a:r>
              <a:rPr lang="fr-FR" sz="2800" dirty="0"/>
              <a:t> technique</a:t>
            </a:r>
          </a:p>
        </p:txBody>
      </p:sp>
    </p:spTree>
    <p:extLst>
      <p:ext uri="{BB962C8B-B14F-4D97-AF65-F5344CB8AC3E}">
        <p14:creationId xmlns:p14="http://schemas.microsoft.com/office/powerpoint/2010/main" val="3089961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3089E-4F22-4108-818A-393BFA31150A}"/>
              </a:ext>
            </a:extLst>
          </p:cNvPr>
          <p:cNvSpPr>
            <a:spLocks noGrp="1"/>
          </p:cNvSpPr>
          <p:nvPr>
            <p:ph type="title"/>
          </p:nvPr>
        </p:nvSpPr>
        <p:spPr/>
        <p:txBody>
          <a:bodyPr>
            <a:normAutofit/>
          </a:bodyPr>
          <a:lstStyle/>
          <a:p>
            <a:pPr algn="ctr"/>
            <a:r>
              <a:rPr lang="en-US" sz="4000" noProof="0" dirty="0"/>
              <a:t>Capital Accumulation</a:t>
            </a:r>
          </a:p>
        </p:txBody>
      </p:sp>
      <p:sp>
        <p:nvSpPr>
          <p:cNvPr id="7" name="Espace réservé du contenu 6">
            <a:extLst>
              <a:ext uri="{FF2B5EF4-FFF2-40B4-BE49-F238E27FC236}">
                <a16:creationId xmlns:a16="http://schemas.microsoft.com/office/drawing/2014/main" id="{598097C0-6B68-4A14-BF95-F5E2E65BDBC6}"/>
              </a:ext>
            </a:extLst>
          </p:cNvPr>
          <p:cNvSpPr>
            <a:spLocks noGrp="1"/>
          </p:cNvSpPr>
          <p:nvPr>
            <p:ph idx="1"/>
          </p:nvPr>
        </p:nvSpPr>
        <p:spPr/>
        <p:txBody>
          <a:bodyPr>
            <a:normAutofit/>
          </a:bodyPr>
          <a:lstStyle/>
          <a:p>
            <a:r>
              <a:rPr lang="fr-FR" sz="2800" dirty="0"/>
              <a:t>Concentration of capital in </a:t>
            </a:r>
            <a:r>
              <a:rPr lang="fr-FR" sz="2800" dirty="0" err="1"/>
              <a:t>rapid</a:t>
            </a:r>
            <a:r>
              <a:rPr lang="fr-FR" sz="2800" dirty="0"/>
              <a:t> </a:t>
            </a:r>
            <a:r>
              <a:rPr lang="fr-FR" sz="2800" dirty="0" err="1"/>
              <a:t>growing</a:t>
            </a:r>
            <a:r>
              <a:rPr lang="fr-FR" sz="2800" dirty="0"/>
              <a:t> industries:</a:t>
            </a:r>
          </a:p>
          <a:p>
            <a:pPr lvl="1"/>
            <a:r>
              <a:rPr lang="fr-FR" sz="2400" dirty="0"/>
              <a:t>In </a:t>
            </a:r>
            <a:r>
              <a:rPr lang="fr-FR" sz="2400" dirty="0" err="1"/>
              <a:t>contrast</a:t>
            </a:r>
            <a:r>
              <a:rPr lang="fr-FR" sz="2400" dirty="0"/>
              <a:t> </a:t>
            </a:r>
            <a:r>
              <a:rPr lang="fr-FR" sz="2400" dirty="0" err="1"/>
              <a:t>with</a:t>
            </a:r>
            <a:r>
              <a:rPr lang="fr-FR" sz="2400" dirty="0"/>
              <a:t> </a:t>
            </a:r>
            <a:r>
              <a:rPr lang="fr-FR" sz="2400" dirty="0" err="1"/>
              <a:t>otehr</a:t>
            </a:r>
            <a:r>
              <a:rPr lang="fr-FR" sz="2400" dirty="0"/>
              <a:t> countries </a:t>
            </a:r>
            <a:r>
              <a:rPr lang="fr-FR" sz="2400" dirty="0" err="1"/>
              <a:t>investing</a:t>
            </a:r>
            <a:r>
              <a:rPr lang="fr-FR" sz="2400" dirty="0"/>
              <a:t> in </a:t>
            </a:r>
            <a:r>
              <a:rPr lang="fr-FR" sz="2400" dirty="0" err="1"/>
              <a:t>housing</a:t>
            </a:r>
            <a:r>
              <a:rPr lang="fr-FR" sz="2400" dirty="0"/>
              <a:t> or social </a:t>
            </a:r>
            <a:r>
              <a:rPr lang="fr-FR" sz="2400" dirty="0" err="1"/>
              <a:t>overhead</a:t>
            </a:r>
            <a:r>
              <a:rPr lang="fr-FR" sz="2400" dirty="0"/>
              <a:t> capital</a:t>
            </a:r>
          </a:p>
          <a:p>
            <a:r>
              <a:rPr lang="fr-FR" sz="2800" dirty="0"/>
              <a:t>Strong </a:t>
            </a:r>
            <a:r>
              <a:rPr lang="fr-FR" sz="2800" dirty="0" err="1"/>
              <a:t>commitment</a:t>
            </a:r>
            <a:r>
              <a:rPr lang="fr-FR" sz="2800" dirty="0"/>
              <a:t> to close the </a:t>
            </a:r>
            <a:r>
              <a:rPr lang="fr-FR" sz="2800" dirty="0" err="1"/>
              <a:t>technological</a:t>
            </a:r>
            <a:r>
              <a:rPr lang="fr-FR" sz="2800" dirty="0"/>
              <a:t> gap in </a:t>
            </a:r>
            <a:r>
              <a:rPr lang="fr-FR" sz="2800" dirty="0" err="1"/>
              <a:t>order</a:t>
            </a:r>
            <a:r>
              <a:rPr lang="fr-FR" sz="2800" dirty="0"/>
              <a:t> to </a:t>
            </a:r>
            <a:r>
              <a:rPr lang="fr-FR" sz="2800" dirty="0" err="1"/>
              <a:t>increase</a:t>
            </a:r>
            <a:r>
              <a:rPr lang="fr-FR" sz="2800" dirty="0"/>
              <a:t> international </a:t>
            </a:r>
            <a:r>
              <a:rPr lang="fr-FR" sz="2800" dirty="0" err="1"/>
              <a:t>competitiveness</a:t>
            </a:r>
            <a:endParaRPr lang="fr-FR" sz="2800" dirty="0"/>
          </a:p>
          <a:p>
            <a:r>
              <a:rPr lang="fr-FR" sz="2800" dirty="0"/>
              <a:t>High return on </a:t>
            </a:r>
            <a:r>
              <a:rPr lang="fr-FR" sz="2800" dirty="0" err="1"/>
              <a:t>investment</a:t>
            </a:r>
            <a:r>
              <a:rPr lang="fr-FR" sz="2800" dirty="0"/>
              <a:t> </a:t>
            </a:r>
            <a:r>
              <a:rPr lang="fr-FR" sz="2800" dirty="0" err="1"/>
              <a:t>because</a:t>
            </a:r>
            <a:r>
              <a:rPr lang="fr-FR" sz="2800" dirty="0"/>
              <a:t> of the high marginal </a:t>
            </a:r>
            <a:r>
              <a:rPr lang="fr-FR" sz="2800" dirty="0" err="1"/>
              <a:t>productivity</a:t>
            </a:r>
            <a:endParaRPr lang="fr-FR" sz="2800" dirty="0"/>
          </a:p>
          <a:p>
            <a:r>
              <a:rPr lang="fr-FR" sz="2800" dirty="0"/>
              <a:t>High rate of </a:t>
            </a:r>
            <a:r>
              <a:rPr lang="fr-FR" sz="2800" dirty="0" err="1"/>
              <a:t>savings</a:t>
            </a:r>
            <a:r>
              <a:rPr lang="fr-FR" sz="2800" dirty="0"/>
              <a:t> have </a:t>
            </a:r>
            <a:r>
              <a:rPr lang="fr-FR" sz="2800" dirty="0" err="1"/>
              <a:t>avoided</a:t>
            </a:r>
            <a:r>
              <a:rPr lang="fr-FR" sz="2800" dirty="0"/>
              <a:t> high inflation: </a:t>
            </a:r>
          </a:p>
          <a:p>
            <a:pPr lvl="1"/>
            <a:r>
              <a:rPr lang="fr-FR" sz="2400" dirty="0"/>
              <a:t>1950-1970: </a:t>
            </a:r>
            <a:r>
              <a:rPr lang="fr-FR" sz="2400" dirty="0" err="1"/>
              <a:t>personal</a:t>
            </a:r>
            <a:r>
              <a:rPr lang="fr-FR" sz="2400" dirty="0"/>
              <a:t> </a:t>
            </a:r>
            <a:r>
              <a:rPr lang="fr-FR" sz="2400" dirty="0" err="1"/>
              <a:t>savings</a:t>
            </a:r>
            <a:r>
              <a:rPr lang="fr-FR" sz="2400" dirty="0"/>
              <a:t> rate = 18,5% Japan 7% US</a:t>
            </a:r>
            <a:endParaRPr lang="fr-FR" sz="2200" dirty="0"/>
          </a:p>
          <a:p>
            <a:endParaRPr lang="fr-FR" sz="2800" dirty="0"/>
          </a:p>
        </p:txBody>
      </p:sp>
    </p:spTree>
    <p:extLst>
      <p:ext uri="{BB962C8B-B14F-4D97-AF65-F5344CB8AC3E}">
        <p14:creationId xmlns:p14="http://schemas.microsoft.com/office/powerpoint/2010/main" val="436073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4B8AE-982E-4A5E-BB43-135F62B00E5E}"/>
              </a:ext>
            </a:extLst>
          </p:cNvPr>
          <p:cNvSpPr>
            <a:spLocks noGrp="1"/>
          </p:cNvSpPr>
          <p:nvPr>
            <p:ph type="title"/>
          </p:nvPr>
        </p:nvSpPr>
        <p:spPr/>
        <p:txBody>
          <a:bodyPr/>
          <a:lstStyle/>
          <a:p>
            <a:pPr algn="ctr"/>
            <a:r>
              <a:rPr lang="en-US" noProof="0" dirty="0"/>
              <a:t>Quantity and Quality of Labor</a:t>
            </a:r>
          </a:p>
        </p:txBody>
      </p:sp>
      <p:sp>
        <p:nvSpPr>
          <p:cNvPr id="3" name="Content Placeholder 2">
            <a:extLst>
              <a:ext uri="{FF2B5EF4-FFF2-40B4-BE49-F238E27FC236}">
                <a16:creationId xmlns:a16="http://schemas.microsoft.com/office/drawing/2014/main" id="{70B3A204-5BA3-4160-81F8-500C4C54F2B5}"/>
              </a:ext>
            </a:extLst>
          </p:cNvPr>
          <p:cNvSpPr>
            <a:spLocks noGrp="1"/>
          </p:cNvSpPr>
          <p:nvPr>
            <p:ph sz="quarter" idx="11"/>
          </p:nvPr>
        </p:nvSpPr>
        <p:spPr>
          <a:xfrm>
            <a:off x="914400" y="1276710"/>
            <a:ext cx="10281920" cy="4934086"/>
          </a:xfrm>
        </p:spPr>
        <p:txBody>
          <a:bodyPr>
            <a:normAutofit/>
          </a:bodyPr>
          <a:lstStyle/>
          <a:p>
            <a:pPr>
              <a:lnSpc>
                <a:spcPct val="110000"/>
              </a:lnSpc>
              <a:buClr>
                <a:schemeClr val="tx1"/>
              </a:buClr>
            </a:pPr>
            <a:r>
              <a:rPr lang="en-US" sz="2800" noProof="0" dirty="0"/>
              <a:t>NBER paper finds that the increase in quantity and quality of labor  = 30% of the Japanese economic growth</a:t>
            </a:r>
          </a:p>
          <a:p>
            <a:pPr>
              <a:lnSpc>
                <a:spcPct val="110000"/>
              </a:lnSpc>
              <a:buClr>
                <a:schemeClr val="tx1"/>
              </a:buClr>
            </a:pPr>
            <a:r>
              <a:rPr lang="en-US" sz="2800" noProof="0" dirty="0"/>
              <a:t>After the war, large increase in labor so wages increased less rapidly than productivity in the 1950’s</a:t>
            </a:r>
          </a:p>
          <a:p>
            <a:pPr>
              <a:lnSpc>
                <a:spcPct val="110000"/>
              </a:lnSpc>
              <a:buClr>
                <a:schemeClr val="tx1"/>
              </a:buClr>
            </a:pPr>
            <a:r>
              <a:rPr lang="en-US" sz="2800" dirty="0"/>
              <a:t>In the 1960’s, wage increase in line with productivity</a:t>
            </a:r>
          </a:p>
          <a:p>
            <a:pPr>
              <a:lnSpc>
                <a:spcPct val="110000"/>
              </a:lnSpc>
              <a:buClr>
                <a:schemeClr val="tx1"/>
              </a:buClr>
            </a:pPr>
            <a:r>
              <a:rPr lang="en-US" sz="2800" noProof="0" dirty="0"/>
              <a:t>Labor moved from low </a:t>
            </a:r>
            <a:r>
              <a:rPr lang="en-US" sz="2800" noProof="0" dirty="0" err="1"/>
              <a:t>pr</a:t>
            </a:r>
            <a:r>
              <a:rPr lang="en-US" sz="2800" dirty="0" err="1"/>
              <a:t>oductivity</a:t>
            </a:r>
            <a:r>
              <a:rPr lang="en-US" sz="2800" dirty="0"/>
              <a:t> sector like agriculture to high productivity (automobile, electronics, aviation…)</a:t>
            </a:r>
          </a:p>
          <a:p>
            <a:pPr marL="0" indent="0">
              <a:lnSpc>
                <a:spcPct val="110000"/>
              </a:lnSpc>
              <a:buClr>
                <a:schemeClr val="tx1"/>
              </a:buClr>
              <a:buNone/>
            </a:pPr>
            <a:endParaRPr lang="en-US" sz="2800" noProof="0" dirty="0"/>
          </a:p>
          <a:p>
            <a:pPr>
              <a:lnSpc>
                <a:spcPct val="110000"/>
              </a:lnSpc>
              <a:buClr>
                <a:schemeClr val="tx1"/>
              </a:buClr>
            </a:pPr>
            <a:endParaRPr lang="en-US" sz="2800" noProof="0" dirty="0"/>
          </a:p>
        </p:txBody>
      </p:sp>
    </p:spTree>
    <p:extLst>
      <p:ext uri="{BB962C8B-B14F-4D97-AF65-F5344CB8AC3E}">
        <p14:creationId xmlns:p14="http://schemas.microsoft.com/office/powerpoint/2010/main" val="4200509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Postwar Sector Trends</a:t>
            </a:r>
          </a:p>
        </p:txBody>
      </p:sp>
      <p:sp>
        <p:nvSpPr>
          <p:cNvPr id="9" name="Text Placeholder 8"/>
          <p:cNvSpPr>
            <a:spLocks noGrp="1"/>
          </p:cNvSpPr>
          <p:nvPr>
            <p:ph idx="1"/>
          </p:nvPr>
        </p:nvSpPr>
        <p:spPr/>
        <p:txBody>
          <a:bodyPr/>
          <a:lstStyle/>
          <a:p>
            <a:r>
              <a:rPr lang="en-US" sz="1200" dirty="0">
                <a:hlinkClick r:id="" action="ppaction://noaction"/>
              </a:rPr>
              <a:t>Access the text alternative for slide images.</a:t>
            </a:r>
            <a:endParaRPr lang="en-US" sz="1200" dirty="0"/>
          </a:p>
        </p:txBody>
      </p:sp>
      <p:pic>
        <p:nvPicPr>
          <p:cNvPr id="4" name="Image 3">
            <a:extLst>
              <a:ext uri="{FF2B5EF4-FFF2-40B4-BE49-F238E27FC236}">
                <a16:creationId xmlns:a16="http://schemas.microsoft.com/office/drawing/2014/main" id="{0378AE62-404D-41B8-A6B4-AC785ACE39D8}"/>
              </a:ext>
            </a:extLst>
          </p:cNvPr>
          <p:cNvPicPr>
            <a:picLocks noChangeAspect="1"/>
          </p:cNvPicPr>
          <p:nvPr/>
        </p:nvPicPr>
        <p:blipFill>
          <a:blip r:embed="rId3"/>
          <a:stretch>
            <a:fillRect/>
          </a:stretch>
        </p:blipFill>
        <p:spPr>
          <a:xfrm>
            <a:off x="965200" y="1600200"/>
            <a:ext cx="10120381" cy="4826248"/>
          </a:xfrm>
          <a:prstGeom prst="rect">
            <a:avLst/>
          </a:prstGeom>
        </p:spPr>
      </p:pic>
    </p:spTree>
    <p:extLst>
      <p:ext uri="{BB962C8B-B14F-4D97-AF65-F5344CB8AC3E}">
        <p14:creationId xmlns:p14="http://schemas.microsoft.com/office/powerpoint/2010/main" val="4672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E0C6-3AD4-48B9-9EB3-88676E0F5DDD}"/>
              </a:ext>
            </a:extLst>
          </p:cNvPr>
          <p:cNvSpPr>
            <a:spLocks noGrp="1"/>
          </p:cNvSpPr>
          <p:nvPr>
            <p:ph type="title"/>
          </p:nvPr>
        </p:nvSpPr>
        <p:spPr/>
        <p:txBody>
          <a:bodyPr/>
          <a:lstStyle/>
          <a:p>
            <a:pPr algn="ctr"/>
            <a:r>
              <a:rPr lang="en-US" noProof="0" dirty="0"/>
              <a:t>The Role of </a:t>
            </a:r>
            <a:r>
              <a:rPr lang="en-US" noProof="0" dirty="0" err="1"/>
              <a:t>Kereitsu</a:t>
            </a:r>
            <a:endParaRPr lang="en-US" noProof="0" dirty="0"/>
          </a:p>
        </p:txBody>
      </p:sp>
      <p:sp>
        <p:nvSpPr>
          <p:cNvPr id="3" name="Content Placeholder 2">
            <a:extLst>
              <a:ext uri="{FF2B5EF4-FFF2-40B4-BE49-F238E27FC236}">
                <a16:creationId xmlns:a16="http://schemas.microsoft.com/office/drawing/2014/main" id="{5062A5EA-E109-438A-9A36-872C61B9E6E5}"/>
              </a:ext>
            </a:extLst>
          </p:cNvPr>
          <p:cNvSpPr>
            <a:spLocks noGrp="1"/>
          </p:cNvSpPr>
          <p:nvPr>
            <p:ph sz="quarter" idx="11"/>
          </p:nvPr>
        </p:nvSpPr>
        <p:spPr>
          <a:xfrm>
            <a:off x="955040" y="1276711"/>
            <a:ext cx="10119360" cy="4897847"/>
          </a:xfrm>
        </p:spPr>
        <p:txBody>
          <a:bodyPr>
            <a:normAutofit lnSpcReduction="10000"/>
          </a:bodyPr>
          <a:lstStyle/>
          <a:p>
            <a:r>
              <a:rPr lang="en-US" sz="2800" noProof="0" dirty="0" err="1"/>
              <a:t>Kereitsu</a:t>
            </a:r>
            <a:r>
              <a:rPr lang="en-US" sz="2800" noProof="0" dirty="0"/>
              <a:t> = large business groups linking banks, trading companies industrialist through ownership or stock / long standing exclusive relationship</a:t>
            </a:r>
          </a:p>
          <a:p>
            <a:r>
              <a:rPr lang="en-US" sz="2800" dirty="0"/>
              <a:t>Size gives financial strength and connections </a:t>
            </a:r>
          </a:p>
          <a:p>
            <a:r>
              <a:rPr lang="en-US" sz="2800" noProof="0" dirty="0" err="1"/>
              <a:t>Kereitsu</a:t>
            </a:r>
            <a:r>
              <a:rPr lang="en-US" sz="2800" noProof="0" dirty="0"/>
              <a:t> outperform national and international competitors</a:t>
            </a:r>
            <a:r>
              <a:rPr lang="en-US" sz="2800" dirty="0"/>
              <a:t> in high growth sector</a:t>
            </a:r>
          </a:p>
          <a:p>
            <a:r>
              <a:rPr lang="en-US" sz="2800" noProof="0" dirty="0"/>
              <a:t>Government </a:t>
            </a:r>
            <a:r>
              <a:rPr lang="en-US" sz="2800" dirty="0"/>
              <a:t>protects </a:t>
            </a:r>
            <a:r>
              <a:rPr lang="en-US" sz="2800" dirty="0" err="1"/>
              <a:t>Kereitsu</a:t>
            </a:r>
            <a:endParaRPr lang="en-US" sz="2800" dirty="0"/>
          </a:p>
          <a:p>
            <a:r>
              <a:rPr lang="en-US" sz="2800" noProof="0" dirty="0"/>
              <a:t>Ministry of industrial trade and Industry allowing administrative cartels + collusive activities:</a:t>
            </a:r>
          </a:p>
          <a:p>
            <a:pPr lvl="2"/>
            <a:r>
              <a:rPr lang="en-US" sz="2200" noProof="0" dirty="0"/>
              <a:t>Mergers amongst 5 largest firms in a given industry</a:t>
            </a:r>
          </a:p>
          <a:p>
            <a:r>
              <a:rPr lang="en-US" sz="2800" dirty="0"/>
              <a:t>Japanese business environment very competitive</a:t>
            </a:r>
            <a:endParaRPr lang="en-US" sz="2800" noProof="0" dirty="0"/>
          </a:p>
        </p:txBody>
      </p:sp>
    </p:spTree>
    <p:extLst>
      <p:ext uri="{BB962C8B-B14F-4D97-AF65-F5344CB8AC3E}">
        <p14:creationId xmlns:p14="http://schemas.microsoft.com/office/powerpoint/2010/main" val="591571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Role of </a:t>
            </a:r>
            <a:r>
              <a:rPr lang="en-US" dirty="0" err="1"/>
              <a:t>Kereitsu</a:t>
            </a:r>
            <a:endParaRPr lang="en-US" dirty="0"/>
          </a:p>
        </p:txBody>
      </p:sp>
      <p:sp>
        <p:nvSpPr>
          <p:cNvPr id="3" name="Content Placeholder 2"/>
          <p:cNvSpPr>
            <a:spLocks noGrp="1"/>
          </p:cNvSpPr>
          <p:nvPr>
            <p:ph sz="quarter" idx="11"/>
          </p:nvPr>
        </p:nvSpPr>
        <p:spPr>
          <a:xfrm>
            <a:off x="914400" y="1276711"/>
            <a:ext cx="10088880" cy="4524649"/>
          </a:xfrm>
        </p:spPr>
        <p:txBody>
          <a:bodyPr>
            <a:normAutofit/>
          </a:bodyPr>
          <a:lstStyle/>
          <a:p>
            <a:pPr>
              <a:buClr>
                <a:schemeClr val="tx1"/>
              </a:buClr>
            </a:pPr>
            <a:r>
              <a:rPr lang="en-US" sz="2800" dirty="0"/>
              <a:t>To keep up with product design and implement new production techniques, employees work long hours and are loyal to the firm</a:t>
            </a:r>
          </a:p>
          <a:p>
            <a:pPr>
              <a:buClr>
                <a:schemeClr val="tx1"/>
              </a:buClr>
            </a:pPr>
            <a:r>
              <a:rPr lang="en-US" sz="2800" dirty="0"/>
              <a:t>High standards with strict rules</a:t>
            </a:r>
          </a:p>
          <a:p>
            <a:pPr>
              <a:buClr>
                <a:schemeClr val="tx1"/>
              </a:buClr>
            </a:pPr>
            <a:r>
              <a:rPr lang="en-US" sz="2800" dirty="0"/>
              <a:t>Management practices innovation: </a:t>
            </a:r>
          </a:p>
          <a:p>
            <a:pPr lvl="2">
              <a:buClr>
                <a:schemeClr val="tx1"/>
              </a:buClr>
            </a:pPr>
            <a:r>
              <a:rPr lang="en-US" sz="2200" dirty="0"/>
              <a:t>Total quality control</a:t>
            </a:r>
          </a:p>
          <a:p>
            <a:pPr lvl="2">
              <a:buClr>
                <a:schemeClr val="tx1"/>
              </a:buClr>
            </a:pPr>
            <a:r>
              <a:rPr lang="en-US" sz="2200" dirty="0"/>
              <a:t>Lean production</a:t>
            </a:r>
          </a:p>
          <a:p>
            <a:pPr lvl="2">
              <a:buClr>
                <a:schemeClr val="tx1"/>
              </a:buClr>
            </a:pPr>
            <a:r>
              <a:rPr lang="en-US" sz="2200" dirty="0"/>
              <a:t>Cross-functional product teams</a:t>
            </a:r>
          </a:p>
          <a:p>
            <a:pPr lvl="2">
              <a:buClr>
                <a:schemeClr val="tx1"/>
              </a:buClr>
            </a:pPr>
            <a:r>
              <a:rPr lang="en-US" sz="2200" dirty="0"/>
              <a:t>Just in time</a:t>
            </a:r>
          </a:p>
          <a:p>
            <a:pPr lvl="2">
              <a:buClr>
                <a:schemeClr val="tx1"/>
              </a:buClr>
            </a:pPr>
            <a:endParaRPr lang="en-US" sz="2200" dirty="0"/>
          </a:p>
        </p:txBody>
      </p:sp>
    </p:spTree>
    <p:extLst>
      <p:ext uri="{BB962C8B-B14F-4D97-AF65-F5344CB8AC3E}">
        <p14:creationId xmlns:p14="http://schemas.microsoft.com/office/powerpoint/2010/main" val="14940422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a:t>International Trade </a:t>
            </a:r>
          </a:p>
        </p:txBody>
      </p:sp>
      <p:sp>
        <p:nvSpPr>
          <p:cNvPr id="14" name="Espace réservé du contenu 13">
            <a:extLst>
              <a:ext uri="{FF2B5EF4-FFF2-40B4-BE49-F238E27FC236}">
                <a16:creationId xmlns:a16="http://schemas.microsoft.com/office/drawing/2014/main" id="{C3A72172-FA98-4DA1-9003-D6CB121BD5A8}"/>
              </a:ext>
            </a:extLst>
          </p:cNvPr>
          <p:cNvSpPr>
            <a:spLocks noGrp="1"/>
          </p:cNvSpPr>
          <p:nvPr>
            <p:ph idx="1"/>
          </p:nvPr>
        </p:nvSpPr>
        <p:spPr>
          <a:xfrm>
            <a:off x="647700" y="1173162"/>
            <a:ext cx="10660380" cy="5501958"/>
          </a:xfrm>
        </p:spPr>
        <p:txBody>
          <a:bodyPr>
            <a:noAutofit/>
          </a:bodyPr>
          <a:lstStyle/>
          <a:p>
            <a:r>
              <a:rPr lang="fr-FR" sz="2800" dirty="0"/>
              <a:t>Exports </a:t>
            </a:r>
            <a:r>
              <a:rPr lang="fr-FR" sz="2800" dirty="0" err="1"/>
              <a:t>increase</a:t>
            </a:r>
            <a:r>
              <a:rPr lang="fr-FR" sz="2800" dirty="0"/>
              <a:t> </a:t>
            </a:r>
            <a:r>
              <a:rPr lang="fr-FR" sz="2800" dirty="0" err="1"/>
              <a:t>rapidly</a:t>
            </a:r>
            <a:r>
              <a:rPr lang="fr-FR" sz="2800" dirty="0"/>
              <a:t> </a:t>
            </a:r>
            <a:r>
              <a:rPr lang="fr-FR" sz="2800" dirty="0" err="1"/>
              <a:t>after</a:t>
            </a:r>
            <a:r>
              <a:rPr lang="fr-FR" sz="2800" dirty="0"/>
              <a:t> the </a:t>
            </a:r>
            <a:r>
              <a:rPr lang="fr-FR" sz="2800" dirty="0" err="1"/>
              <a:t>war</a:t>
            </a:r>
            <a:r>
              <a:rPr lang="fr-FR" sz="2800" dirty="0"/>
              <a:t>:</a:t>
            </a:r>
          </a:p>
          <a:p>
            <a:pPr lvl="1"/>
            <a:r>
              <a:rPr lang="fr-FR" sz="2400" dirty="0" err="1"/>
              <a:t>Tax</a:t>
            </a:r>
            <a:r>
              <a:rPr lang="fr-FR" sz="2400" dirty="0"/>
              <a:t> </a:t>
            </a:r>
            <a:r>
              <a:rPr lang="fr-FR" sz="2400" dirty="0" err="1"/>
              <a:t>deductions</a:t>
            </a:r>
            <a:r>
              <a:rPr lang="fr-FR" sz="2400" dirty="0"/>
              <a:t> for </a:t>
            </a:r>
            <a:r>
              <a:rPr lang="fr-FR" sz="2400" dirty="0" err="1"/>
              <a:t>overseas</a:t>
            </a:r>
            <a:r>
              <a:rPr lang="fr-FR" sz="2400" dirty="0"/>
              <a:t> sales </a:t>
            </a:r>
            <a:r>
              <a:rPr lang="fr-FR" sz="2400" dirty="0" err="1"/>
              <a:t>expenditures</a:t>
            </a:r>
            <a:r>
              <a:rPr lang="fr-FR" sz="2400" dirty="0"/>
              <a:t> + </a:t>
            </a:r>
            <a:r>
              <a:rPr lang="fr-FR" sz="2400" dirty="0" err="1"/>
              <a:t>preferential</a:t>
            </a:r>
            <a:r>
              <a:rPr lang="fr-FR" sz="2400" dirty="0"/>
              <a:t> </a:t>
            </a:r>
            <a:r>
              <a:rPr lang="fr-FR" sz="2400" dirty="0" err="1"/>
              <a:t>loans</a:t>
            </a:r>
            <a:r>
              <a:rPr lang="fr-FR" sz="2400" dirty="0"/>
              <a:t> = </a:t>
            </a:r>
            <a:r>
              <a:rPr lang="fr-FR" sz="2400" dirty="0" err="1"/>
              <a:t>competitive</a:t>
            </a:r>
            <a:r>
              <a:rPr lang="fr-FR" sz="2400" dirty="0"/>
              <a:t> exports</a:t>
            </a:r>
          </a:p>
          <a:p>
            <a:r>
              <a:rPr lang="fr-FR" sz="2800" dirty="0"/>
              <a:t>Mergers + Anti-</a:t>
            </a:r>
            <a:r>
              <a:rPr lang="fr-FR" sz="2800" dirty="0" err="1"/>
              <a:t>competitive</a:t>
            </a:r>
            <a:r>
              <a:rPr lang="fr-FR" sz="2800" dirty="0"/>
              <a:t> </a:t>
            </a:r>
            <a:r>
              <a:rPr lang="fr-FR" sz="2800" dirty="0" err="1"/>
              <a:t>behavior</a:t>
            </a:r>
            <a:r>
              <a:rPr lang="fr-FR" sz="2800" dirty="0"/>
              <a:t> </a:t>
            </a:r>
            <a:r>
              <a:rPr lang="fr-FR" sz="2800" dirty="0" err="1"/>
              <a:t>encouraged</a:t>
            </a:r>
            <a:r>
              <a:rPr lang="fr-FR" sz="2800" dirty="0"/>
              <a:t> in export </a:t>
            </a:r>
            <a:r>
              <a:rPr lang="fr-FR" sz="2800" dirty="0" err="1"/>
              <a:t>sectors</a:t>
            </a:r>
            <a:endParaRPr lang="fr-FR" sz="2800" dirty="0"/>
          </a:p>
          <a:p>
            <a:r>
              <a:rPr lang="fr-FR" sz="2800" dirty="0"/>
              <a:t>Key factor to </a:t>
            </a:r>
            <a:r>
              <a:rPr lang="fr-FR" sz="2800" dirty="0" err="1"/>
              <a:t>stay</a:t>
            </a:r>
            <a:r>
              <a:rPr lang="fr-FR" sz="2800" dirty="0"/>
              <a:t> </a:t>
            </a:r>
            <a:r>
              <a:rPr lang="fr-FR" sz="2800" dirty="0" err="1"/>
              <a:t>ahead</a:t>
            </a:r>
            <a:r>
              <a:rPr lang="fr-FR" sz="2800" dirty="0"/>
              <a:t> of international </a:t>
            </a:r>
            <a:r>
              <a:rPr lang="fr-FR" sz="2800" dirty="0" err="1"/>
              <a:t>competitor</a:t>
            </a:r>
            <a:r>
              <a:rPr lang="fr-FR" sz="2800" dirty="0"/>
              <a:t> = </a:t>
            </a:r>
            <a:r>
              <a:rPr lang="fr-FR" sz="2800" dirty="0" err="1"/>
              <a:t>ability</a:t>
            </a:r>
            <a:r>
              <a:rPr lang="fr-FR" sz="2800" dirty="0"/>
              <a:t> to change exports</a:t>
            </a:r>
          </a:p>
          <a:p>
            <a:pPr lvl="1"/>
            <a:r>
              <a:rPr lang="fr-FR" sz="2800" dirty="0"/>
              <a:t>1950-1965 = textile and </a:t>
            </a:r>
            <a:r>
              <a:rPr lang="fr-FR" sz="2800" dirty="0" err="1"/>
              <a:t>sundry</a:t>
            </a:r>
            <a:r>
              <a:rPr lang="fr-FR" sz="2800" dirty="0"/>
              <a:t> </a:t>
            </a:r>
            <a:r>
              <a:rPr lang="fr-FR" sz="2800" dirty="0" err="1"/>
              <a:t>goods</a:t>
            </a:r>
            <a:r>
              <a:rPr lang="fr-FR" sz="2800" dirty="0"/>
              <a:t> to </a:t>
            </a:r>
            <a:r>
              <a:rPr lang="fr-FR" sz="2800" dirty="0" err="1"/>
              <a:t>machinery</a:t>
            </a:r>
            <a:r>
              <a:rPr lang="fr-FR" sz="2800" dirty="0"/>
              <a:t> and </a:t>
            </a:r>
            <a:r>
              <a:rPr lang="fr-FR" sz="2800" dirty="0" err="1"/>
              <a:t>then</a:t>
            </a:r>
            <a:r>
              <a:rPr lang="fr-FR" sz="2800" dirty="0"/>
              <a:t> to </a:t>
            </a:r>
            <a:r>
              <a:rPr lang="fr-FR" sz="2800" dirty="0" err="1"/>
              <a:t>metals</a:t>
            </a:r>
            <a:endParaRPr lang="fr-FR" sz="2800" dirty="0"/>
          </a:p>
          <a:p>
            <a:r>
              <a:rPr lang="fr-FR" sz="2800" dirty="0" err="1"/>
              <a:t>Thanks</a:t>
            </a:r>
            <a:r>
              <a:rPr lang="fr-FR" sz="2800" dirty="0"/>
              <a:t> to </a:t>
            </a:r>
            <a:r>
              <a:rPr lang="fr-FR" sz="2800" dirty="0" err="1"/>
              <a:t>increased</a:t>
            </a:r>
            <a:r>
              <a:rPr lang="fr-FR" sz="2800" dirty="0"/>
              <a:t> </a:t>
            </a:r>
            <a:r>
              <a:rPr lang="fr-FR" sz="2800" dirty="0" err="1"/>
              <a:t>efficiency</a:t>
            </a:r>
            <a:r>
              <a:rPr lang="fr-FR" sz="2800" dirty="0"/>
              <a:t> + corporations’ </a:t>
            </a:r>
            <a:r>
              <a:rPr lang="fr-FR" sz="2800" dirty="0" err="1"/>
              <a:t>ability</a:t>
            </a:r>
            <a:r>
              <a:rPr lang="fr-FR" sz="2800" dirty="0"/>
              <a:t> = </a:t>
            </a:r>
            <a:r>
              <a:rPr lang="fr-FR" sz="2800" dirty="0" err="1"/>
              <a:t>ability</a:t>
            </a:r>
            <a:r>
              <a:rPr lang="fr-FR" sz="2800" dirty="0"/>
              <a:t> to </a:t>
            </a:r>
            <a:r>
              <a:rPr lang="fr-FR" sz="2800" dirty="0" err="1"/>
              <a:t>stay</a:t>
            </a:r>
            <a:r>
              <a:rPr lang="fr-FR" sz="2800" dirty="0"/>
              <a:t> </a:t>
            </a:r>
            <a:r>
              <a:rPr lang="fr-FR" sz="2800" dirty="0" err="1"/>
              <a:t>competitive</a:t>
            </a:r>
            <a:endParaRPr lang="fr-FR" sz="2800" dirty="0"/>
          </a:p>
          <a:p>
            <a:r>
              <a:rPr lang="fr-FR" sz="2800" dirty="0" err="1"/>
              <a:t>Ability</a:t>
            </a:r>
            <a:r>
              <a:rPr lang="fr-FR" sz="2800" dirty="0"/>
              <a:t> to </a:t>
            </a:r>
            <a:r>
              <a:rPr lang="fr-FR" sz="2800" dirty="0" err="1"/>
              <a:t>produce</a:t>
            </a:r>
            <a:r>
              <a:rPr lang="fr-FR" sz="2800" dirty="0"/>
              <a:t> </a:t>
            </a:r>
            <a:r>
              <a:rPr lang="fr-FR" sz="2800" dirty="0" err="1"/>
              <a:t>goods</a:t>
            </a:r>
            <a:r>
              <a:rPr lang="fr-FR" sz="2800" dirty="0"/>
              <a:t> </a:t>
            </a:r>
            <a:r>
              <a:rPr lang="fr-FR" sz="2800" dirty="0" err="1"/>
              <a:t>most</a:t>
            </a:r>
            <a:r>
              <a:rPr lang="fr-FR" sz="2800" dirty="0"/>
              <a:t> </a:t>
            </a:r>
            <a:r>
              <a:rPr lang="fr-FR" sz="2800" dirty="0" err="1"/>
              <a:t>demanded</a:t>
            </a:r>
            <a:endParaRPr lang="fr-FR" sz="2800" dirty="0"/>
          </a:p>
          <a:p>
            <a:endParaRPr lang="fr-FR" sz="2800" dirty="0"/>
          </a:p>
        </p:txBody>
      </p:sp>
    </p:spTree>
    <p:extLst>
      <p:ext uri="{BB962C8B-B14F-4D97-AF65-F5344CB8AC3E}">
        <p14:creationId xmlns:p14="http://schemas.microsoft.com/office/powerpoint/2010/main" val="94206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6D09E-8B8B-4710-B284-0900014797A9}"/>
              </a:ext>
            </a:extLst>
          </p:cNvPr>
          <p:cNvSpPr>
            <a:spLocks noGrp="1"/>
          </p:cNvSpPr>
          <p:nvPr>
            <p:ph type="title"/>
          </p:nvPr>
        </p:nvSpPr>
        <p:spPr/>
        <p:txBody>
          <a:bodyPr>
            <a:normAutofit fontScale="90000"/>
          </a:bodyPr>
          <a:lstStyle/>
          <a:p>
            <a:pPr algn="ctr"/>
            <a:r>
              <a:rPr lang="fr-FR" sz="4400" b="1" dirty="0">
                <a:latin typeface="+mn-lt"/>
              </a:rPr>
              <a:t>Japan Trade Balance 1970-2024</a:t>
            </a:r>
            <a:br>
              <a:rPr lang="fr-FR" b="1" dirty="0"/>
            </a:br>
            <a:endParaRPr lang="fr-FR" sz="4000" dirty="0">
              <a:latin typeface="+mn-lt"/>
            </a:endParaRPr>
          </a:p>
        </p:txBody>
      </p:sp>
      <p:pic>
        <p:nvPicPr>
          <p:cNvPr id="4" name="Espace réservé du contenu 3">
            <a:extLst>
              <a:ext uri="{FF2B5EF4-FFF2-40B4-BE49-F238E27FC236}">
                <a16:creationId xmlns:a16="http://schemas.microsoft.com/office/drawing/2014/main" id="{0CD31CB4-4ED7-4BA8-AC43-495C08503412}"/>
              </a:ext>
            </a:extLst>
          </p:cNvPr>
          <p:cNvPicPr>
            <a:picLocks noGrp="1" noChangeAspect="1"/>
          </p:cNvPicPr>
          <p:nvPr>
            <p:ph idx="1"/>
          </p:nvPr>
        </p:nvPicPr>
        <p:blipFill>
          <a:blip r:embed="rId2"/>
          <a:stretch>
            <a:fillRect/>
          </a:stretch>
        </p:blipFill>
        <p:spPr>
          <a:xfrm>
            <a:off x="1723037" y="1600200"/>
            <a:ext cx="8745925" cy="4572000"/>
          </a:xfrm>
          <a:prstGeom prst="rect">
            <a:avLst/>
          </a:prstGeom>
        </p:spPr>
      </p:pic>
      <p:pic>
        <p:nvPicPr>
          <p:cNvPr id="5" name="Image 4">
            <a:extLst>
              <a:ext uri="{FF2B5EF4-FFF2-40B4-BE49-F238E27FC236}">
                <a16:creationId xmlns:a16="http://schemas.microsoft.com/office/drawing/2014/main" id="{03D58DA4-748B-4C20-9893-048CB47703FB}"/>
              </a:ext>
            </a:extLst>
          </p:cNvPr>
          <p:cNvPicPr>
            <a:picLocks noChangeAspect="1"/>
          </p:cNvPicPr>
          <p:nvPr/>
        </p:nvPicPr>
        <p:blipFill>
          <a:blip r:embed="rId3"/>
          <a:stretch>
            <a:fillRect/>
          </a:stretch>
        </p:blipFill>
        <p:spPr>
          <a:xfrm>
            <a:off x="1394346" y="1415923"/>
            <a:ext cx="9385414" cy="4940554"/>
          </a:xfrm>
          <a:prstGeom prst="rect">
            <a:avLst/>
          </a:prstGeom>
        </p:spPr>
      </p:pic>
    </p:spTree>
    <p:extLst>
      <p:ext uri="{BB962C8B-B14F-4D97-AF65-F5344CB8AC3E}">
        <p14:creationId xmlns:p14="http://schemas.microsoft.com/office/powerpoint/2010/main" val="34167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21A436-CC83-4B4C-9AD6-0FE69A65DEDD}"/>
              </a:ext>
            </a:extLst>
          </p:cNvPr>
          <p:cNvSpPr>
            <a:spLocks noGrp="1"/>
          </p:cNvSpPr>
          <p:nvPr>
            <p:ph type="title"/>
          </p:nvPr>
        </p:nvSpPr>
        <p:spPr/>
        <p:txBody>
          <a:bodyPr/>
          <a:lstStyle/>
          <a:p>
            <a:pPr algn="ctr"/>
            <a:r>
              <a:rPr lang="fr-FR" sz="4000" b="1" dirty="0">
                <a:latin typeface="+mn-lt"/>
              </a:rPr>
              <a:t>Japan Exports 1970-2024</a:t>
            </a:r>
            <a:br>
              <a:rPr lang="fr-FR" b="1" dirty="0"/>
            </a:br>
            <a:endParaRPr lang="fr-FR" dirty="0"/>
          </a:p>
        </p:txBody>
      </p:sp>
      <p:pic>
        <p:nvPicPr>
          <p:cNvPr id="4" name="Espace réservé du contenu 3">
            <a:extLst>
              <a:ext uri="{FF2B5EF4-FFF2-40B4-BE49-F238E27FC236}">
                <a16:creationId xmlns:a16="http://schemas.microsoft.com/office/drawing/2014/main" id="{5EBE9D3C-2B79-4A52-BFC1-B7DD088C3BA2}"/>
              </a:ext>
            </a:extLst>
          </p:cNvPr>
          <p:cNvPicPr>
            <a:picLocks noGrp="1" noChangeAspect="1"/>
          </p:cNvPicPr>
          <p:nvPr>
            <p:ph idx="1"/>
          </p:nvPr>
        </p:nvPicPr>
        <p:blipFill>
          <a:blip r:embed="rId2"/>
          <a:stretch>
            <a:fillRect/>
          </a:stretch>
        </p:blipFill>
        <p:spPr>
          <a:xfrm>
            <a:off x="1104900" y="1600200"/>
            <a:ext cx="9522460" cy="4572000"/>
          </a:xfrm>
          <a:prstGeom prst="rect">
            <a:avLst/>
          </a:prstGeom>
        </p:spPr>
      </p:pic>
    </p:spTree>
    <p:extLst>
      <p:ext uri="{BB962C8B-B14F-4D97-AF65-F5344CB8AC3E}">
        <p14:creationId xmlns:p14="http://schemas.microsoft.com/office/powerpoint/2010/main" val="726925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8EF2CB-F2AF-4F3D-BF07-D5A90DC54197}"/>
              </a:ext>
            </a:extLst>
          </p:cNvPr>
          <p:cNvSpPr>
            <a:spLocks noGrp="1"/>
          </p:cNvSpPr>
          <p:nvPr>
            <p:ph type="title"/>
          </p:nvPr>
        </p:nvSpPr>
        <p:spPr>
          <a:xfrm>
            <a:off x="731520" y="76200"/>
            <a:ext cx="10657840" cy="1096962"/>
          </a:xfrm>
        </p:spPr>
        <p:txBody>
          <a:bodyPr>
            <a:normAutofit fontScale="90000"/>
          </a:bodyPr>
          <a:lstStyle/>
          <a:p>
            <a:pPr algn="ctr"/>
            <a:r>
              <a:rPr lang="fr-FR" sz="4000" dirty="0"/>
              <a:t>Private </a:t>
            </a:r>
            <a:r>
              <a:rPr lang="fr-FR" sz="4000" dirty="0" err="1"/>
              <a:t>Demand</a:t>
            </a:r>
            <a:r>
              <a:rPr lang="fr-FR" sz="4000" dirty="0"/>
              <a:t> and </a:t>
            </a:r>
            <a:r>
              <a:rPr lang="fr-FR" sz="4000" dirty="0" err="1"/>
              <a:t>Industrial</a:t>
            </a:r>
            <a:r>
              <a:rPr lang="fr-FR" sz="4000" dirty="0"/>
              <a:t> </a:t>
            </a:r>
            <a:r>
              <a:rPr lang="fr-FR" sz="4000" dirty="0" err="1"/>
              <a:t>Sector</a:t>
            </a:r>
            <a:r>
              <a:rPr lang="fr-FR" sz="4000" dirty="0"/>
              <a:t> </a:t>
            </a:r>
            <a:r>
              <a:rPr lang="fr-FR" sz="4000" dirty="0" err="1"/>
              <a:t>Shares</a:t>
            </a:r>
            <a:r>
              <a:rPr lang="fr-FR" sz="4000" dirty="0"/>
              <a:t> in the US</a:t>
            </a:r>
          </a:p>
        </p:txBody>
      </p:sp>
      <p:pic>
        <p:nvPicPr>
          <p:cNvPr id="4" name="Espace réservé du contenu 3">
            <a:extLst>
              <a:ext uri="{FF2B5EF4-FFF2-40B4-BE49-F238E27FC236}">
                <a16:creationId xmlns:a16="http://schemas.microsoft.com/office/drawing/2014/main" id="{402CFDD2-DDF5-41FF-A999-781F0F778815}"/>
              </a:ext>
            </a:extLst>
          </p:cNvPr>
          <p:cNvPicPr>
            <a:picLocks noGrp="1" noChangeAspect="1"/>
          </p:cNvPicPr>
          <p:nvPr>
            <p:ph idx="1"/>
          </p:nvPr>
        </p:nvPicPr>
        <p:blipFill>
          <a:blip r:embed="rId2"/>
          <a:stretch>
            <a:fillRect/>
          </a:stretch>
        </p:blipFill>
        <p:spPr>
          <a:xfrm>
            <a:off x="944880" y="1600200"/>
            <a:ext cx="10140701" cy="4572000"/>
          </a:xfrm>
          <a:prstGeom prst="rect">
            <a:avLst/>
          </a:prstGeom>
        </p:spPr>
      </p:pic>
    </p:spTree>
    <p:extLst>
      <p:ext uri="{BB962C8B-B14F-4D97-AF65-F5344CB8AC3E}">
        <p14:creationId xmlns:p14="http://schemas.microsoft.com/office/powerpoint/2010/main" val="442368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ittérature académique 16: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71_TF03431380_TF03431380.potx" id="{3EB80C2F-3DBD-42BA-8FFE-45D13301C271}" vid="{18AA12EE-0616-4C76-8CBB-BEAD487DA71A}"/>
    </a:ext>
  </a:extLst>
</a:theme>
</file>

<file path=ppt/theme/theme2.xml><?xml version="1.0" encoding="utf-8"?>
<a:theme xmlns:a="http://schemas.openxmlformats.org/drawingml/2006/main" name="Thème Offic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f8753d6-fcf4-4a3d-a432-4bf358a6133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A6A87683DC954D871DBFB00A76FCDD" ma:contentTypeVersion="18" ma:contentTypeDescription="Crée un document." ma:contentTypeScope="" ma:versionID="3b7ff7474024a0a3e186fe57bf437479">
  <xsd:schema xmlns:xsd="http://www.w3.org/2001/XMLSchema" xmlns:xs="http://www.w3.org/2001/XMLSchema" xmlns:p="http://schemas.microsoft.com/office/2006/metadata/properties" xmlns:ns3="9f8753d6-fcf4-4a3d-a432-4bf358a61331" xmlns:ns4="546ba0ff-e777-4e19-b1c9-0b02e4620088" targetNamespace="http://schemas.microsoft.com/office/2006/metadata/properties" ma:root="true" ma:fieldsID="ce96db153362c67e9ba289eb22d1c07c" ns3:_="" ns4:_="">
    <xsd:import namespace="9f8753d6-fcf4-4a3d-a432-4bf358a61331"/>
    <xsd:import namespace="546ba0ff-e777-4e19-b1c9-0b02e462008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LengthInSeconds" minOccurs="0"/>
                <xsd:element ref="ns3:MediaServiceOCR" minOccurs="0"/>
                <xsd:element ref="ns3:MediaServiceAutoKeyPoints" minOccurs="0"/>
                <xsd:element ref="ns3:MediaServiceKeyPoints" minOccurs="0"/>
                <xsd:element ref="ns3:MediaServiceLocation"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8753d6-fcf4-4a3d-a432-4bf358a613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6ba0ff-e777-4e19-b1c9-0b02e4620088" elementFormDefault="qualified">
    <xsd:import namespace="http://schemas.microsoft.com/office/2006/documentManagement/types"/>
    <xsd:import namespace="http://schemas.microsoft.com/office/infopath/2007/PartnerControls"/>
    <xsd:element name="SharedWithUsers" ma:index="2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Partagé avec détails" ma:internalName="SharedWithDetails" ma:readOnly="true">
      <xsd:simpleType>
        <xsd:restriction base="dms:Note">
          <xsd:maxLength value="255"/>
        </xsd:restriction>
      </xsd:simpleType>
    </xsd:element>
    <xsd:element name="SharingHintHash" ma:index="2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dcmitype/"/>
    <ds:schemaRef ds:uri="http://schemas.microsoft.com/office/2006/documentManagement/types"/>
    <ds:schemaRef ds:uri="http://schemas.microsoft.com/office/infopath/2007/PartnerControls"/>
    <ds:schemaRef ds:uri="546ba0ff-e777-4e19-b1c9-0b02e4620088"/>
    <ds:schemaRef ds:uri="http://schemas.microsoft.com/office/2006/metadata/properties"/>
    <ds:schemaRef ds:uri="http://schemas.openxmlformats.org/package/2006/metadata/core-properties"/>
    <ds:schemaRef ds:uri="http://purl.org/dc/elements/1.1/"/>
    <ds:schemaRef ds:uri="9f8753d6-fcf4-4a3d-a432-4bf358a61331"/>
    <ds:schemaRef ds:uri="http://www.w3.org/XML/1998/namespace"/>
    <ds:schemaRef ds:uri="http://purl.org/dc/terms/"/>
  </ds:schemaRefs>
</ds:datastoreItem>
</file>

<file path=customXml/itemProps2.xml><?xml version="1.0" encoding="utf-8"?>
<ds:datastoreItem xmlns:ds="http://schemas.openxmlformats.org/officeDocument/2006/customXml" ds:itemID="{C50D4991-711B-433B-A202-CDB5EB21D9D0}">
  <ds:schemaRefs>
    <ds:schemaRef ds:uri="http://schemas.microsoft.com/sharepoint/v3/contenttype/forms"/>
  </ds:schemaRefs>
</ds:datastoreItem>
</file>

<file path=customXml/itemProps3.xml><?xml version="1.0" encoding="utf-8"?>
<ds:datastoreItem xmlns:ds="http://schemas.openxmlformats.org/officeDocument/2006/customXml" ds:itemID="{81A9A35B-C6A7-4DDB-AB73-40BBAE4EBA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8753d6-fcf4-4a3d-a432-4bf358a61331"/>
    <ds:schemaRef ds:uri="546ba0ff-e777-4e19-b1c9-0b02e46200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Présentation académique avec rayures et ruban (grand écran)</Template>
  <TotalTime>0</TotalTime>
  <Words>1521</Words>
  <Application>Microsoft Office PowerPoint</Application>
  <PresentationFormat>Grand écran</PresentationFormat>
  <Paragraphs>123</Paragraphs>
  <Slides>21</Slides>
  <Notes>11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Arial</vt:lpstr>
      <vt:lpstr>Euphemia</vt:lpstr>
      <vt:lpstr>Plantagenet Cherokee</vt:lpstr>
      <vt:lpstr>Wingdings</vt:lpstr>
      <vt:lpstr>Littérature académique 16:9</vt:lpstr>
      <vt:lpstr>Economic Models in asia</vt:lpstr>
      <vt:lpstr>Japan Economic Miracle after the End of WWII </vt:lpstr>
      <vt:lpstr>Historical Real GDP per Capita – Japan and USA</vt:lpstr>
      <vt:lpstr>Japan Real Economic Growth 1950-1973</vt:lpstr>
      <vt:lpstr>Technicological Change</vt:lpstr>
      <vt:lpstr>Japan’s Technological Change and Productivity</vt:lpstr>
      <vt:lpstr> Number of contracts ( &gt; 1 year) signed to import new technology in foreign currency between 1950 and 1969.</vt:lpstr>
      <vt:lpstr>International Labor Productivity</vt:lpstr>
      <vt:lpstr>G7 Nations Per-Hour Labor Productivity</vt:lpstr>
      <vt:lpstr>G-7 Average Hourly Productivity Growth</vt:lpstr>
      <vt:lpstr>The Magic Touch of Loose Monetary Policy Combined with Loose Fiscal Policy</vt:lpstr>
      <vt:lpstr>Transfers of Technology </vt:lpstr>
      <vt:lpstr>Capital Accumulation</vt:lpstr>
      <vt:lpstr>Quantity and Quality of Labor</vt:lpstr>
      <vt:lpstr>Postwar Sector Trends</vt:lpstr>
      <vt:lpstr>The Role of Kereitsu</vt:lpstr>
      <vt:lpstr>The Role of Kereitsu</vt:lpstr>
      <vt:lpstr>International Trade </vt:lpstr>
      <vt:lpstr>Japan Trade Balance 1970-2024 </vt:lpstr>
      <vt:lpstr>Japan Exports 1970-2024 </vt:lpstr>
      <vt:lpstr>Private Demand and Industrial Sector Shares in the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2024-02-15T22:41:30Z</dcterms:created>
  <dcterms:modified xsi:type="dcterms:W3CDTF">2025-02-21T00:07:33Z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0x0101001FA6A87683DC954D871DBFB00A76FCDD</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