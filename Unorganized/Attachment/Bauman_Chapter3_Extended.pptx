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F4B"/>
        </a:solidFill>
      </p:bgPr>
    </p:bg>
    <p:spTree>
      <p:nvGrpSpPr>
        <p:cNvPr id="1" name=""/>
        <p:cNvGrpSpPr/>
        <p:nvPr/>
      </p:nvGrpSpPr>
      <p:grpSpPr>
        <a:xfrm>
          <a:off x="0" y="0"/>
          <a:ext cx="0" cy="0"/>
          <a:chOff x="0" y="0"/>
          <a:chExt cx="0" cy="0"/>
        </a:xfrm>
      </p:grpSpPr>
      <p:sp>
        <p:nvSpPr>
          <p:cNvPr id="2" name="Text 0"/>
          <p:cNvSpPr/>
          <p:nvPr/>
        </p:nvSpPr>
        <p:spPr>
          <a:xfrm>
            <a:off x="457200" y="1645920"/>
            <a:ext cx="8229600" cy="1097280"/>
          </a:xfrm>
          <a:prstGeom prst="rect">
            <a:avLst/>
          </a:prstGeom>
          <a:noFill/>
          <a:ln/>
        </p:spPr>
        <p:txBody>
          <a:bodyPr wrap="square" rtlCol="0" anchor="ctr"/>
          <a:lstStyle/>
          <a:p>
            <a:pPr algn="ctr" indent="0" marL="0">
              <a:buNone/>
            </a:pPr>
            <a:r>
              <a:rPr lang="en-US" sz="4400" b="1" dirty="0">
                <a:solidFill>
                  <a:srgbClr val="FFFFFF"/>
                </a:solidFill>
                <a:latin typeface="Calibri" pitchFamily="34" charset="0"/>
                <a:ea typeface="Calibri" pitchFamily="34" charset="-122"/>
                <a:cs typeface="Calibri" pitchFamily="34" charset="-120"/>
              </a:rPr>
              <a:t>Culture from Nation-Building to Globalization</a:t>
            </a:r>
            <a:endParaRPr lang="en-US" sz="4400" dirty="0"/>
          </a:p>
        </p:txBody>
      </p:sp>
      <p:sp>
        <p:nvSpPr>
          <p:cNvPr id="3" name="Text 1"/>
          <p:cNvSpPr/>
          <p:nvPr/>
        </p:nvSpPr>
        <p:spPr>
          <a:xfrm>
            <a:off x="457200" y="2834640"/>
            <a:ext cx="8229600" cy="548640"/>
          </a:xfrm>
          <a:prstGeom prst="rect">
            <a:avLst/>
          </a:prstGeom>
          <a:noFill/>
          <a:ln/>
        </p:spPr>
        <p:txBody>
          <a:bodyPr wrap="square" rtlCol="0" anchor="ctr"/>
          <a:lstStyle/>
          <a:p>
            <a:pPr algn="ctr" indent="0" marL="0">
              <a:buNone/>
            </a:pPr>
            <a:r>
              <a:rPr lang="en-US" sz="1800" dirty="0">
                <a:solidFill>
                  <a:srgbClr val="D0D0D0"/>
                </a:solidFill>
                <a:latin typeface="Calibri" pitchFamily="34" charset="0"/>
                <a:ea typeface="Calibri" pitchFamily="34" charset="-122"/>
                <a:cs typeface="Calibri" pitchFamily="34" charset="-120"/>
              </a:rPr>
              <a:t>Bauman - Chapter 3 Analysis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1F4B"/>
          </a:solidFill>
          <a:ln/>
        </p:spPr>
      </p:sp>
      <p:sp>
        <p:nvSpPr>
          <p:cNvPr id="3" name="Text 1"/>
          <p:cNvSpPr/>
          <p:nvPr/>
        </p:nvSpPr>
        <p:spPr>
          <a:xfrm>
            <a:off x="457200" y="137160"/>
            <a:ext cx="8229600" cy="41148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Chapter 3: Historical Context &amp; Main Themes</a:t>
            </a:r>
            <a:endParaRPr lang="en-US" sz="2800" dirty="0"/>
          </a:p>
        </p:txBody>
      </p:sp>
      <p:sp>
        <p:nvSpPr>
          <p:cNvPr id="4" name="Text 2"/>
          <p:cNvSpPr/>
          <p:nvPr/>
        </p:nvSpPr>
        <p:spPr>
          <a:xfrm>
            <a:off x="457200" y="822960"/>
            <a:ext cx="8229600" cy="365760"/>
          </a:xfrm>
          <a:prstGeom prst="rect">
            <a:avLst/>
          </a:prstGeom>
          <a:noFill/>
          <a:ln/>
        </p:spPr>
        <p:txBody>
          <a:bodyPr wrap="square" rtlCol="0" anchor="ctr"/>
          <a:lstStyle/>
          <a:p>
            <a:pPr indent="0" marL="0">
              <a:buNone/>
            </a:pPr>
            <a:r>
              <a:rPr lang="en-US" sz="1200" i="1" dirty="0">
                <a:solidFill>
                  <a:srgbClr val="6C757D"/>
                </a:solidFill>
                <a:latin typeface="Calibri" pitchFamily="34" charset="0"/>
                <a:ea typeface="Calibri" pitchFamily="34" charset="-122"/>
                <a:cs typeface="Calibri" pitchFamily="34" charset="-120"/>
              </a:rPr>
              <a:t>The chapter examines how culture's relationship with the nation-state has fundamentally transformed under conditions of globalization.</a:t>
            </a:r>
            <a:endParaRPr lang="en-US" sz="1200" dirty="0"/>
          </a:p>
        </p:txBody>
      </p:sp>
      <p:sp>
        <p:nvSpPr>
          <p:cNvPr id="5" name="Shape 3"/>
          <p:cNvSpPr/>
          <p:nvPr/>
        </p:nvSpPr>
        <p:spPr>
          <a:xfrm>
            <a:off x="457200" y="1280160"/>
            <a:ext cx="54864" cy="731520"/>
          </a:xfrm>
          <a:prstGeom prst="rect">
            <a:avLst/>
          </a:prstGeom>
          <a:solidFill>
            <a:srgbClr val="C1121F"/>
          </a:solidFill>
          <a:ln/>
        </p:spPr>
      </p:sp>
      <p:sp>
        <p:nvSpPr>
          <p:cNvPr id="6" name="Text 4"/>
          <p:cNvSpPr/>
          <p:nvPr/>
        </p:nvSpPr>
        <p:spPr>
          <a:xfrm>
            <a:off x="640080" y="1280160"/>
            <a:ext cx="8046720" cy="228600"/>
          </a:xfrm>
          <a:prstGeom prst="rect">
            <a:avLst/>
          </a:prstGeom>
          <a:noFill/>
          <a:ln/>
        </p:spPr>
        <p:txBody>
          <a:bodyPr wrap="square" rtlCol="0" anchor="ctr"/>
          <a:lstStyle/>
          <a:p>
            <a:pPr indent="0" marL="0">
              <a:buNone/>
            </a:pPr>
            <a:r>
              <a:rPr lang="en-US" sz="1300" b="1" dirty="0">
                <a:solidFill>
                  <a:srgbClr val="C1121F"/>
                </a:solidFill>
                <a:latin typeface="Calibri" pitchFamily="34" charset="0"/>
                <a:ea typeface="Calibri" pitchFamily="34" charset="-122"/>
                <a:cs typeface="Calibri" pitchFamily="34" charset="-120"/>
              </a:rPr>
              <a:t>1. The Homeostatic System</a:t>
            </a:r>
            <a:endParaRPr lang="en-US" sz="1300" dirty="0"/>
          </a:p>
        </p:txBody>
      </p:sp>
      <p:sp>
        <p:nvSpPr>
          <p:cNvPr id="7" name="Text 5"/>
          <p:cNvSpPr/>
          <p:nvPr/>
        </p:nvSpPr>
        <p:spPr>
          <a:xfrm>
            <a:off x="640080" y="1554480"/>
            <a:ext cx="8046720" cy="365760"/>
          </a:xfrm>
          <a:prstGeom prst="rect">
            <a:avLst/>
          </a:prstGeom>
          <a:noFill/>
          <a:ln/>
        </p:spPr>
        <p:txBody>
          <a:bodyPr wrap="square" rtlCol="0" anchor="ctr"/>
          <a:lstStyle/>
          <a:p>
            <a:pPr indent="0" marL="0">
              <a:buNone/>
            </a:pPr>
            <a:r>
              <a:rPr lang="en-US" sz="1100" dirty="0">
                <a:solidFill>
                  <a:srgbClr val="2C3E50"/>
                </a:solidFill>
                <a:latin typeface="Calibri" pitchFamily="34" charset="0"/>
                <a:ea typeface="Calibri" pitchFamily="34" charset="-122"/>
                <a:cs typeface="Calibri" pitchFamily="34" charset="-120"/>
              </a:rPr>
              <a:t>How nation-states relied on culture to maintain self-balancing systems</a:t>
            </a:r>
            <a:endParaRPr lang="en-US" sz="1100" dirty="0"/>
          </a:p>
        </p:txBody>
      </p:sp>
      <p:sp>
        <p:nvSpPr>
          <p:cNvPr id="8" name="Shape 6"/>
          <p:cNvSpPr/>
          <p:nvPr/>
        </p:nvSpPr>
        <p:spPr>
          <a:xfrm>
            <a:off x="457200" y="2331720"/>
            <a:ext cx="54864" cy="731520"/>
          </a:xfrm>
          <a:prstGeom prst="rect">
            <a:avLst/>
          </a:prstGeom>
          <a:solidFill>
            <a:srgbClr val="C1121F"/>
          </a:solidFill>
          <a:ln/>
        </p:spPr>
      </p:sp>
      <p:sp>
        <p:nvSpPr>
          <p:cNvPr id="9" name="Text 7"/>
          <p:cNvSpPr/>
          <p:nvPr/>
        </p:nvSpPr>
        <p:spPr>
          <a:xfrm>
            <a:off x="640080" y="2331720"/>
            <a:ext cx="8046720" cy="228600"/>
          </a:xfrm>
          <a:prstGeom prst="rect">
            <a:avLst/>
          </a:prstGeom>
          <a:noFill/>
          <a:ln/>
        </p:spPr>
        <p:txBody>
          <a:bodyPr wrap="square" rtlCol="0" anchor="ctr"/>
          <a:lstStyle/>
          <a:p>
            <a:pPr indent="0" marL="0">
              <a:buNone/>
            </a:pPr>
            <a:r>
              <a:rPr lang="en-US" sz="1300" b="1" dirty="0">
                <a:solidFill>
                  <a:srgbClr val="C1121F"/>
                </a:solidFill>
                <a:latin typeface="Calibri" pitchFamily="34" charset="0"/>
                <a:ea typeface="Calibri" pitchFamily="34" charset="-122"/>
                <a:cs typeface="Calibri" pitchFamily="34" charset="-120"/>
              </a:rPr>
              <a:t>2. Three Phases of Migration</a:t>
            </a:r>
            <a:endParaRPr lang="en-US" sz="1300" dirty="0"/>
          </a:p>
        </p:txBody>
      </p:sp>
      <p:sp>
        <p:nvSpPr>
          <p:cNvPr id="10" name="Text 8"/>
          <p:cNvSpPr/>
          <p:nvPr/>
        </p:nvSpPr>
        <p:spPr>
          <a:xfrm>
            <a:off x="640080" y="2606040"/>
            <a:ext cx="8046720" cy="365760"/>
          </a:xfrm>
          <a:prstGeom prst="rect">
            <a:avLst/>
          </a:prstGeom>
          <a:noFill/>
          <a:ln/>
        </p:spPr>
        <p:txBody>
          <a:bodyPr wrap="square" rtlCol="0" anchor="ctr"/>
          <a:lstStyle/>
          <a:p>
            <a:pPr indent="0" marL="0">
              <a:buNone/>
            </a:pPr>
            <a:r>
              <a:rPr lang="en-US" sz="1100" dirty="0">
                <a:solidFill>
                  <a:srgbClr val="2C3E50"/>
                </a:solidFill>
                <a:latin typeface="Calibri" pitchFamily="34" charset="0"/>
                <a:ea typeface="Calibri" pitchFamily="34" charset="-122"/>
                <a:cs typeface="Calibri" pitchFamily="34" charset="-120"/>
              </a:rPr>
              <a:t>Evolution from colonial emigration to contemporary diasporas</a:t>
            </a:r>
            <a:endParaRPr lang="en-US" sz="1100" dirty="0"/>
          </a:p>
        </p:txBody>
      </p:sp>
      <p:sp>
        <p:nvSpPr>
          <p:cNvPr id="11" name="Shape 9"/>
          <p:cNvSpPr/>
          <p:nvPr/>
        </p:nvSpPr>
        <p:spPr>
          <a:xfrm>
            <a:off x="457200" y="3383280"/>
            <a:ext cx="54864" cy="731520"/>
          </a:xfrm>
          <a:prstGeom prst="rect">
            <a:avLst/>
          </a:prstGeom>
          <a:solidFill>
            <a:srgbClr val="C1121F"/>
          </a:solidFill>
          <a:ln/>
        </p:spPr>
      </p:sp>
      <p:sp>
        <p:nvSpPr>
          <p:cNvPr id="12" name="Text 10"/>
          <p:cNvSpPr/>
          <p:nvPr/>
        </p:nvSpPr>
        <p:spPr>
          <a:xfrm>
            <a:off x="640080" y="3383280"/>
            <a:ext cx="8046720" cy="228600"/>
          </a:xfrm>
          <a:prstGeom prst="rect">
            <a:avLst/>
          </a:prstGeom>
          <a:noFill/>
          <a:ln/>
        </p:spPr>
        <p:txBody>
          <a:bodyPr wrap="square" rtlCol="0" anchor="ctr"/>
          <a:lstStyle/>
          <a:p>
            <a:pPr indent="0" marL="0">
              <a:buNone/>
            </a:pPr>
            <a:r>
              <a:rPr lang="en-US" sz="1300" b="1" dirty="0">
                <a:solidFill>
                  <a:srgbClr val="C1121F"/>
                </a:solidFill>
                <a:latin typeface="Calibri" pitchFamily="34" charset="0"/>
                <a:ea typeface="Calibri" pitchFamily="34" charset="-122"/>
                <a:cs typeface="Calibri" pitchFamily="34" charset="-120"/>
              </a:rPr>
              <a:t>3. Collapse of Cultural Hierarchies</a:t>
            </a:r>
            <a:endParaRPr lang="en-US" sz="1300" dirty="0"/>
          </a:p>
        </p:txBody>
      </p:sp>
      <p:sp>
        <p:nvSpPr>
          <p:cNvPr id="13" name="Text 11"/>
          <p:cNvSpPr/>
          <p:nvPr/>
        </p:nvSpPr>
        <p:spPr>
          <a:xfrm>
            <a:off x="640080" y="3657600"/>
            <a:ext cx="8046720" cy="365760"/>
          </a:xfrm>
          <a:prstGeom prst="rect">
            <a:avLst/>
          </a:prstGeom>
          <a:noFill/>
          <a:ln/>
        </p:spPr>
        <p:txBody>
          <a:bodyPr wrap="square" rtlCol="0" anchor="ctr"/>
          <a:lstStyle/>
          <a:p>
            <a:pPr indent="0" marL="0">
              <a:buNone/>
            </a:pPr>
            <a:r>
              <a:rPr lang="en-US" sz="1100" dirty="0">
                <a:solidFill>
                  <a:srgbClr val="2C3E50"/>
                </a:solidFill>
                <a:latin typeface="Calibri" pitchFamily="34" charset="0"/>
                <a:ea typeface="Calibri" pitchFamily="34" charset="-122"/>
                <a:cs typeface="Calibri" pitchFamily="34" charset="-120"/>
              </a:rPr>
              <a:t>From assimilation models to multiculturalism and horizontal relations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1F4B"/>
          </a:solidFill>
          <a:ln/>
        </p:spPr>
      </p:sp>
      <p:sp>
        <p:nvSpPr>
          <p:cNvPr id="3" name="Text 1"/>
          <p:cNvSpPr/>
          <p:nvPr/>
        </p:nvSpPr>
        <p:spPr>
          <a:xfrm>
            <a:off x="457200" y="137160"/>
            <a:ext cx="8229600" cy="41148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Argument 1: The Homeostatic System of Nation-States</a:t>
            </a:r>
            <a:endParaRPr lang="en-US" sz="2800" dirty="0"/>
          </a:p>
        </p:txBody>
      </p:sp>
      <p:sp>
        <p:nvSpPr>
          <p:cNvPr id="4" name="Text 2"/>
          <p:cNvSpPr/>
          <p:nvPr/>
        </p:nvSpPr>
        <p:spPr>
          <a:xfrm>
            <a:off x="457200" y="868680"/>
            <a:ext cx="8229600" cy="228600"/>
          </a:xfrm>
          <a:prstGeom prst="rect">
            <a:avLst/>
          </a:prstGeom>
          <a:noFill/>
          <a:ln/>
        </p:spPr>
        <p:txBody>
          <a:bodyPr wrap="square" rtlCol="0" anchor="ctr"/>
          <a:lstStyle/>
          <a:p>
            <a:pPr indent="0" marL="0">
              <a:buNone/>
            </a:pPr>
            <a:r>
              <a:rPr lang="en-US" sz="1200" b="1" dirty="0">
                <a:solidFill>
                  <a:srgbClr val="C1121F"/>
                </a:solidFill>
                <a:latin typeface="Calibri" pitchFamily="34" charset="0"/>
                <a:ea typeface="Calibri" pitchFamily="34" charset="-122"/>
                <a:cs typeface="Calibri" pitchFamily="34" charset="-120"/>
              </a:rPr>
              <a:t>Core Thesis:</a:t>
            </a:r>
            <a:endParaRPr lang="en-US" sz="1200" dirty="0"/>
          </a:p>
        </p:txBody>
      </p:sp>
      <p:sp>
        <p:nvSpPr>
          <p:cNvPr id="5" name="Shape 3"/>
          <p:cNvSpPr/>
          <p:nvPr/>
        </p:nvSpPr>
        <p:spPr>
          <a:xfrm>
            <a:off x="457200" y="1143000"/>
            <a:ext cx="8229600" cy="640080"/>
          </a:xfrm>
          <a:prstGeom prst="rect">
            <a:avLst/>
          </a:prstGeom>
          <a:solidFill>
            <a:srgbClr val="E8EEF7"/>
          </a:solidFill>
          <a:ln w="25400">
            <a:solidFill>
              <a:srgbClr val="C1121F"/>
            </a:solidFill>
            <a:prstDash val="solid"/>
          </a:ln>
        </p:spPr>
      </p:sp>
      <p:sp>
        <p:nvSpPr>
          <p:cNvPr id="6" name="Text 4"/>
          <p:cNvSpPr/>
          <p:nvPr/>
        </p:nvSpPr>
        <p:spPr>
          <a:xfrm>
            <a:off x="640080" y="1234440"/>
            <a:ext cx="7863840" cy="457200"/>
          </a:xfrm>
          <a:prstGeom prst="rect">
            <a:avLst/>
          </a:prstGeom>
          <a:noFill/>
          <a:ln/>
        </p:spPr>
        <p:txBody>
          <a:bodyPr wrap="square" rtlCol="0" anchor="ctr"/>
          <a:lstStyle/>
          <a:p>
            <a:pPr indent="0" marL="0">
              <a:buNone/>
            </a:pPr>
            <a:r>
              <a:rPr lang="en-US" sz="1100" dirty="0">
                <a:solidFill>
                  <a:srgbClr val="2C3E50"/>
                </a:solidFill>
                <a:latin typeface="Calibri" pitchFamily="34" charset="0"/>
                <a:ea typeface="Calibri" pitchFamily="34" charset="-122"/>
                <a:cs typeface="Calibri" pitchFamily="34" charset="-120"/>
              </a:rPr>
              <a:t>In the 'solid' phase of modernity, nation-states functioned as 'self-balancing systems' with culture serving as the homeostatic device to maintain system stability and continuity.</a:t>
            </a:r>
            <a:endParaRPr lang="en-US" sz="1100" dirty="0"/>
          </a:p>
        </p:txBody>
      </p:sp>
      <p:sp>
        <p:nvSpPr>
          <p:cNvPr id="7" name="Text 5"/>
          <p:cNvSpPr/>
          <p:nvPr/>
        </p:nvSpPr>
        <p:spPr>
          <a:xfrm>
            <a:off x="457200" y="1874520"/>
            <a:ext cx="8229600" cy="228600"/>
          </a:xfrm>
          <a:prstGeom prst="rect">
            <a:avLst/>
          </a:prstGeom>
          <a:noFill/>
          <a:ln/>
        </p:spPr>
        <p:txBody>
          <a:bodyPr wrap="square" rtlCol="0" anchor="ctr"/>
          <a:lstStyle/>
          <a:p>
            <a:pPr indent="0" marL="0">
              <a:buNone/>
            </a:pPr>
            <a:r>
              <a:rPr lang="en-US" sz="1100" b="1" dirty="0">
                <a:solidFill>
                  <a:srgbClr val="C1121F"/>
                </a:solidFill>
                <a:latin typeface="Calibri" pitchFamily="34" charset="0"/>
                <a:ea typeface="Calibri" pitchFamily="34" charset="-122"/>
                <a:cs typeface="Calibri" pitchFamily="34" charset="-120"/>
              </a:rPr>
              <a:t>Supporting Evidence &amp; Logic:</a:t>
            </a:r>
            <a:endParaRPr lang="en-US" sz="1100" dirty="0"/>
          </a:p>
        </p:txBody>
      </p:sp>
      <p:sp>
        <p:nvSpPr>
          <p:cNvPr id="8" name="Text 6"/>
          <p:cNvSpPr/>
          <p:nvPr/>
        </p:nvSpPr>
        <p:spPr>
          <a:xfrm>
            <a:off x="640080" y="2148840"/>
            <a:ext cx="7863840" cy="228600"/>
          </a:xfrm>
          <a:prstGeom prst="rect">
            <a:avLst/>
          </a:prstGeom>
          <a:noFill/>
          <a:ln/>
        </p:spPr>
        <p:txBody>
          <a:bodyPr wrap="square" rtlCol="0" anchor="ctr"/>
          <a:lstStyle/>
          <a:p>
            <a:pPr indent="0" marL="0">
              <a:buNone/>
            </a:pPr>
            <a:r>
              <a:rPr lang="en-US" sz="1000" dirty="0">
                <a:solidFill>
                  <a:srgbClr val="2C3E50"/>
                </a:solidFill>
                <a:latin typeface="Calibri" pitchFamily="34" charset="0"/>
                <a:ea typeface="Calibri" pitchFamily="34" charset="-122"/>
                <a:cs typeface="Calibri" pitchFamily="34" charset="-120"/>
              </a:rPr>
              <a:t>• Well-functioning homeostatic devices were ESSENTIAL for survival of long-lasting systems</a:t>
            </a:r>
            <a:endParaRPr lang="en-US" sz="1000" dirty="0"/>
          </a:p>
        </p:txBody>
      </p:sp>
      <p:sp>
        <p:nvSpPr>
          <p:cNvPr id="9" name="Text 7"/>
          <p:cNvSpPr/>
          <p:nvPr/>
        </p:nvSpPr>
        <p:spPr>
          <a:xfrm>
            <a:off x="640080" y="2423160"/>
            <a:ext cx="7863840" cy="228600"/>
          </a:xfrm>
          <a:prstGeom prst="rect">
            <a:avLst/>
          </a:prstGeom>
          <a:noFill/>
          <a:ln/>
        </p:spPr>
        <p:txBody>
          <a:bodyPr wrap="square" rtlCol="0" anchor="ctr"/>
          <a:lstStyle/>
          <a:p>
            <a:pPr indent="0" marL="0">
              <a:buNone/>
            </a:pPr>
            <a:r>
              <a:rPr lang="en-US" sz="1000" dirty="0">
                <a:solidFill>
                  <a:srgbClr val="2C3E50"/>
                </a:solidFill>
                <a:latin typeface="Calibri" pitchFamily="34" charset="0"/>
                <a:ea typeface="Calibri" pitchFamily="34" charset="-122"/>
                <a:cs typeface="Calibri" pitchFamily="34" charset="-120"/>
              </a:rPr>
              <a:t>• Nations evaluated cultural elements based on their 'functionality' – their stabilizing effects</a:t>
            </a:r>
            <a:endParaRPr lang="en-US" sz="1000" dirty="0"/>
          </a:p>
        </p:txBody>
      </p:sp>
      <p:sp>
        <p:nvSpPr>
          <p:cNvPr id="10" name="Text 8"/>
          <p:cNvSpPr/>
          <p:nvPr/>
        </p:nvSpPr>
        <p:spPr>
          <a:xfrm>
            <a:off x="640080" y="2697480"/>
            <a:ext cx="7863840" cy="228600"/>
          </a:xfrm>
          <a:prstGeom prst="rect">
            <a:avLst/>
          </a:prstGeom>
          <a:noFill/>
          <a:ln/>
        </p:spPr>
        <p:txBody>
          <a:bodyPr wrap="square" rtlCol="0" anchor="ctr"/>
          <a:lstStyle/>
          <a:p>
            <a:pPr indent="0" marL="0">
              <a:buNone/>
            </a:pPr>
            <a:r>
              <a:rPr lang="en-US" sz="1000" dirty="0">
                <a:solidFill>
                  <a:srgbClr val="2C3E50"/>
                </a:solidFill>
                <a:latin typeface="Calibri" pitchFamily="34" charset="0"/>
                <a:ea typeface="Calibri" pitchFamily="34" charset="-122"/>
                <a:cs typeface="Calibri" pitchFamily="34" charset="-120"/>
              </a:rPr>
              <a:t>• As long as states aspired to monotonous self-recreation, the homeostatic vision of culture remained unchallenged</a:t>
            </a:r>
            <a:endParaRPr lang="en-US" sz="1000" dirty="0"/>
          </a:p>
        </p:txBody>
      </p:sp>
      <p:sp>
        <p:nvSpPr>
          <p:cNvPr id="11" name="Text 9"/>
          <p:cNvSpPr/>
          <p:nvPr/>
        </p:nvSpPr>
        <p:spPr>
          <a:xfrm>
            <a:off x="640080" y="2971800"/>
            <a:ext cx="7863840" cy="228600"/>
          </a:xfrm>
          <a:prstGeom prst="rect">
            <a:avLst/>
          </a:prstGeom>
          <a:noFill/>
          <a:ln/>
        </p:spPr>
        <p:txBody>
          <a:bodyPr wrap="square" rtlCol="0" anchor="ctr"/>
          <a:lstStyle/>
          <a:p>
            <a:pPr indent="0" marL="0">
              <a:buNone/>
            </a:pPr>
            <a:r>
              <a:rPr lang="en-US" sz="1000" dirty="0">
                <a:solidFill>
                  <a:srgbClr val="2C3E50"/>
                </a:solidFill>
                <a:latin typeface="Calibri" pitchFamily="34" charset="0"/>
                <a:ea typeface="Calibri" pitchFamily="34" charset="-122"/>
                <a:cs typeface="Calibri" pitchFamily="34" charset="-120"/>
              </a:rPr>
              <a:t>• Culture's role: maintain boundaries, ensure assimilation, create unified national identity</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1F4B"/>
          </a:solidFill>
          <a:ln/>
        </p:spPr>
      </p:sp>
      <p:sp>
        <p:nvSpPr>
          <p:cNvPr id="3" name="Text 1"/>
          <p:cNvSpPr/>
          <p:nvPr/>
        </p:nvSpPr>
        <p:spPr>
          <a:xfrm>
            <a:off x="457200" y="137160"/>
            <a:ext cx="8229600" cy="41148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Argument 1: Direct Evidence from Bauman</a:t>
            </a:r>
            <a:endParaRPr lang="en-US" sz="2800" dirty="0"/>
          </a:p>
        </p:txBody>
      </p:sp>
      <p:sp>
        <p:nvSpPr>
          <p:cNvPr id="4" name="Text 2"/>
          <p:cNvSpPr/>
          <p:nvPr/>
        </p:nvSpPr>
        <p:spPr>
          <a:xfrm>
            <a:off x="457200" y="868680"/>
            <a:ext cx="8229600" cy="182880"/>
          </a:xfrm>
          <a:prstGeom prst="rect">
            <a:avLst/>
          </a:prstGeom>
          <a:noFill/>
          <a:ln/>
        </p:spPr>
        <p:txBody>
          <a:bodyPr wrap="square" rtlCol="0" anchor="ctr"/>
          <a:lstStyle/>
          <a:p>
            <a:pPr indent="0" marL="0">
              <a:buNone/>
            </a:pPr>
            <a:r>
              <a:rPr lang="en-US" sz="1100" b="1" dirty="0">
                <a:solidFill>
                  <a:srgbClr val="C1121F"/>
                </a:solidFill>
                <a:latin typeface="Calibri" pitchFamily="34" charset="0"/>
                <a:ea typeface="Calibri" pitchFamily="34" charset="-122"/>
                <a:cs typeface="Calibri" pitchFamily="34" charset="-120"/>
              </a:rPr>
              <a:t>Key Quote 1 – The Homeostatic Function:</a:t>
            </a:r>
            <a:endParaRPr lang="en-US" sz="1100" dirty="0"/>
          </a:p>
        </p:txBody>
      </p:sp>
      <p:sp>
        <p:nvSpPr>
          <p:cNvPr id="5" name="Shape 3"/>
          <p:cNvSpPr/>
          <p:nvPr/>
        </p:nvSpPr>
        <p:spPr>
          <a:xfrm>
            <a:off x="457200" y="1097280"/>
            <a:ext cx="8229600" cy="1051560"/>
          </a:xfrm>
          <a:prstGeom prst="rect">
            <a:avLst/>
          </a:prstGeom>
          <a:solidFill>
            <a:srgbClr val="E8EEF7"/>
          </a:solidFill>
          <a:ln w="12700">
            <a:solidFill>
              <a:srgbClr val="C1121F"/>
            </a:solidFill>
            <a:prstDash val="solid"/>
          </a:ln>
        </p:spPr>
      </p:sp>
      <p:sp>
        <p:nvSpPr>
          <p:cNvPr id="6" name="Text 4"/>
          <p:cNvSpPr/>
          <p:nvPr/>
        </p:nvSpPr>
        <p:spPr>
          <a:xfrm>
            <a:off x="640080" y="1188720"/>
            <a:ext cx="7863840" cy="868680"/>
          </a:xfrm>
          <a:prstGeom prst="rect">
            <a:avLst/>
          </a:prstGeom>
          <a:noFill/>
          <a:ln/>
        </p:spPr>
        <p:txBody>
          <a:bodyPr wrap="square" rtlCol="0" anchor="ctr"/>
          <a:lstStyle/>
          <a:p>
            <a:pPr indent="0" marL="0">
              <a:buNone/>
            </a:pPr>
            <a:r>
              <a:rPr lang="en-US" sz="950" i="1" dirty="0">
                <a:solidFill>
                  <a:srgbClr val="2C3E50"/>
                </a:solidFill>
                <a:latin typeface="Calibri" pitchFamily="34" charset="0"/>
                <a:ea typeface="Calibri" pitchFamily="34" charset="-122"/>
                <a:cs typeface="Calibri" pitchFamily="34" charset="-120"/>
              </a:rPr>
              <a:t>"Since well functioning homeostatic devices (devices which make any deflection from the chosen system model difficult, or even impossible, and which restore its interrupted routines) are essential for the survival of long-lasting and immutable systems, the impulse to define and judge all elements or aspects of society in terms of their homeostatic qualities and effects was the natural tendency of those societies."</a:t>
            </a:r>
            <a:endParaRPr lang="en-US" sz="950" dirty="0"/>
          </a:p>
        </p:txBody>
      </p:sp>
      <p:sp>
        <p:nvSpPr>
          <p:cNvPr id="7" name="Text 5"/>
          <p:cNvSpPr/>
          <p:nvPr/>
        </p:nvSpPr>
        <p:spPr>
          <a:xfrm>
            <a:off x="457200" y="2286000"/>
            <a:ext cx="8229600" cy="182880"/>
          </a:xfrm>
          <a:prstGeom prst="rect">
            <a:avLst/>
          </a:prstGeom>
          <a:noFill/>
          <a:ln/>
        </p:spPr>
        <p:txBody>
          <a:bodyPr wrap="square" rtlCol="0" anchor="ctr"/>
          <a:lstStyle/>
          <a:p>
            <a:pPr indent="0" marL="0">
              <a:buNone/>
            </a:pPr>
            <a:r>
              <a:rPr lang="en-US" sz="1100" b="1" dirty="0">
                <a:solidFill>
                  <a:srgbClr val="C1121F"/>
                </a:solidFill>
                <a:latin typeface="Calibri" pitchFamily="34" charset="0"/>
                <a:ea typeface="Calibri" pitchFamily="34" charset="-122"/>
                <a:cs typeface="Calibri" pitchFamily="34" charset="-120"/>
              </a:rPr>
              <a:t>Key Quote 2 – The Transition:</a:t>
            </a:r>
            <a:endParaRPr lang="en-US" sz="1100" dirty="0"/>
          </a:p>
        </p:txBody>
      </p:sp>
      <p:sp>
        <p:nvSpPr>
          <p:cNvPr id="8" name="Shape 6"/>
          <p:cNvSpPr/>
          <p:nvPr/>
        </p:nvSpPr>
        <p:spPr>
          <a:xfrm>
            <a:off x="457200" y="2514600"/>
            <a:ext cx="8229600" cy="1188720"/>
          </a:xfrm>
          <a:prstGeom prst="rect">
            <a:avLst/>
          </a:prstGeom>
          <a:solidFill>
            <a:srgbClr val="E8EEF7"/>
          </a:solidFill>
          <a:ln w="12700">
            <a:solidFill>
              <a:srgbClr val="C1121F"/>
            </a:solidFill>
            <a:prstDash val="solid"/>
          </a:ln>
        </p:spPr>
      </p:sp>
      <p:sp>
        <p:nvSpPr>
          <p:cNvPr id="9" name="Text 7"/>
          <p:cNvSpPr/>
          <p:nvPr/>
        </p:nvSpPr>
        <p:spPr>
          <a:xfrm>
            <a:off x="640080" y="2606040"/>
            <a:ext cx="7863840" cy="1005840"/>
          </a:xfrm>
          <a:prstGeom prst="rect">
            <a:avLst/>
          </a:prstGeom>
          <a:noFill/>
          <a:ln/>
        </p:spPr>
        <p:txBody>
          <a:bodyPr wrap="square" rtlCol="0" anchor="ctr"/>
          <a:lstStyle/>
          <a:p>
            <a:pPr indent="0" marL="0">
              <a:buNone/>
            </a:pPr>
            <a:r>
              <a:rPr lang="en-US" sz="950" i="1" dirty="0">
                <a:solidFill>
                  <a:srgbClr val="2C3E50"/>
                </a:solidFill>
                <a:latin typeface="Calibri" pitchFamily="34" charset="0"/>
                <a:ea typeface="Calibri" pitchFamily="34" charset="-122"/>
                <a:cs typeface="Calibri" pitchFamily="34" charset="-120"/>
              </a:rPr>
              <a:t>"For as long as aspirations for a system's monotonous self-recreation lived on (but no longer), the homeostatic vision of culture remained immune to criticism. But aspirations began to weaken, and eventually, under the pressure of globalization, had to be abandoned altogether – reluctantly at first, but soon without major doubts, and indeed willingly."</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1F4B"/>
          </a:solidFill>
          <a:ln/>
        </p:spPr>
      </p:sp>
      <p:sp>
        <p:nvSpPr>
          <p:cNvPr id="3" name="Text 1"/>
          <p:cNvSpPr/>
          <p:nvPr/>
        </p:nvSpPr>
        <p:spPr>
          <a:xfrm>
            <a:off x="457200" y="137160"/>
            <a:ext cx="8229600" cy="41148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Argument 2: Three Phases of Global Migration</a:t>
            </a:r>
            <a:endParaRPr lang="en-US" sz="2800" dirty="0"/>
          </a:p>
        </p:txBody>
      </p:sp>
      <p:sp>
        <p:nvSpPr>
          <p:cNvPr id="4" name="Text 2"/>
          <p:cNvSpPr/>
          <p:nvPr/>
        </p:nvSpPr>
        <p:spPr>
          <a:xfrm>
            <a:off x="457200" y="868680"/>
            <a:ext cx="8229600" cy="320040"/>
          </a:xfrm>
          <a:prstGeom prst="rect">
            <a:avLst/>
          </a:prstGeom>
          <a:noFill/>
          <a:ln/>
        </p:spPr>
        <p:txBody>
          <a:bodyPr wrap="square" rtlCol="0" anchor="ctr"/>
          <a:lstStyle/>
          <a:p>
            <a:pPr indent="0" marL="0">
              <a:buNone/>
            </a:pPr>
            <a:r>
              <a:rPr lang="en-US" sz="1100" i="1" dirty="0">
                <a:solidFill>
                  <a:srgbClr val="6C757D"/>
                </a:solidFill>
                <a:latin typeface="Calibri" pitchFamily="34" charset="0"/>
                <a:ea typeface="Calibri" pitchFamily="34" charset="-122"/>
                <a:cs typeface="Calibri" pitchFamily="34" charset="-120"/>
              </a:rPr>
              <a:t>Bauman traces how migration patterns reveal the shifting relationship between culture, nation, and identity:</a:t>
            </a:r>
            <a:endParaRPr lang="en-US" sz="1100" dirty="0"/>
          </a:p>
        </p:txBody>
      </p:sp>
      <p:sp>
        <p:nvSpPr>
          <p:cNvPr id="5" name="Shape 3"/>
          <p:cNvSpPr/>
          <p:nvPr/>
        </p:nvSpPr>
        <p:spPr>
          <a:xfrm>
            <a:off x="457200" y="1325880"/>
            <a:ext cx="8229600" cy="822960"/>
          </a:xfrm>
          <a:prstGeom prst="rect">
            <a:avLst/>
          </a:prstGeom>
          <a:solidFill>
            <a:srgbClr val="F8F9FA"/>
          </a:solidFill>
          <a:ln w="12700">
            <a:solidFill>
              <a:srgbClr val="6C757D"/>
            </a:solidFill>
            <a:prstDash val="solid"/>
          </a:ln>
        </p:spPr>
      </p:sp>
      <p:sp>
        <p:nvSpPr>
          <p:cNvPr id="6" name="Text 4"/>
          <p:cNvSpPr/>
          <p:nvPr/>
        </p:nvSpPr>
        <p:spPr>
          <a:xfrm>
            <a:off x="640080" y="1371600"/>
            <a:ext cx="7863840" cy="228600"/>
          </a:xfrm>
          <a:prstGeom prst="rect">
            <a:avLst/>
          </a:prstGeom>
          <a:noFill/>
          <a:ln/>
        </p:spPr>
        <p:txBody>
          <a:bodyPr wrap="square" rtlCol="0" anchor="ctr"/>
          <a:lstStyle/>
          <a:p>
            <a:pPr indent="0" marL="0">
              <a:buNone/>
            </a:pPr>
            <a:r>
              <a:rPr lang="en-US" sz="1100" b="1" dirty="0">
                <a:solidFill>
                  <a:srgbClr val="C1121F"/>
                </a:solidFill>
                <a:latin typeface="Calibri" pitchFamily="34" charset="0"/>
                <a:ea typeface="Calibri" pitchFamily="34" charset="-122"/>
                <a:cs typeface="Calibri" pitchFamily="34" charset="-120"/>
              </a:rPr>
              <a:t>PHASE 1: Colonial Emigration</a:t>
            </a:r>
            <a:endParaRPr lang="en-US" sz="1100" dirty="0"/>
          </a:p>
        </p:txBody>
      </p:sp>
      <p:sp>
        <p:nvSpPr>
          <p:cNvPr id="7" name="Text 5"/>
          <p:cNvSpPr/>
          <p:nvPr/>
        </p:nvSpPr>
        <p:spPr>
          <a:xfrm>
            <a:off x="640080" y="1645920"/>
            <a:ext cx="7863840" cy="411480"/>
          </a:xfrm>
          <a:prstGeom prst="rect">
            <a:avLst/>
          </a:prstGeom>
          <a:noFill/>
          <a:ln/>
        </p:spPr>
        <p:txBody>
          <a:bodyPr wrap="square" rtlCol="0" anchor="ctr"/>
          <a:lstStyle/>
          <a:p>
            <a:pPr indent="0" marL="0">
              <a:buNone/>
            </a:pPr>
            <a:r>
              <a:rPr lang="en-US" sz="950" dirty="0">
                <a:solidFill>
                  <a:srgbClr val="2C3E50"/>
                </a:solidFill>
                <a:latin typeface="Calibri" pitchFamily="34" charset="0"/>
                <a:ea typeface="Calibri" pitchFamily="34" charset="-122"/>
                <a:cs typeface="Calibri" pitchFamily="34" charset="-120"/>
              </a:rPr>
              <a:t>~60 million Europeans to 'empty lands'; imposed European culture as civilizing mission</a:t>
            </a:r>
            <a:endParaRPr lang="en-US" sz="950" dirty="0"/>
          </a:p>
        </p:txBody>
      </p:sp>
      <p:sp>
        <p:nvSpPr>
          <p:cNvPr id="8" name="Shape 6"/>
          <p:cNvSpPr/>
          <p:nvPr/>
        </p:nvSpPr>
        <p:spPr>
          <a:xfrm>
            <a:off x="457200" y="2286000"/>
            <a:ext cx="8229600" cy="822960"/>
          </a:xfrm>
          <a:prstGeom prst="rect">
            <a:avLst/>
          </a:prstGeom>
          <a:solidFill>
            <a:srgbClr val="F8F9FA"/>
          </a:solidFill>
          <a:ln w="12700">
            <a:solidFill>
              <a:srgbClr val="6C757D"/>
            </a:solidFill>
            <a:prstDash val="solid"/>
          </a:ln>
        </p:spPr>
      </p:sp>
      <p:sp>
        <p:nvSpPr>
          <p:cNvPr id="9" name="Text 7"/>
          <p:cNvSpPr/>
          <p:nvPr/>
        </p:nvSpPr>
        <p:spPr>
          <a:xfrm>
            <a:off x="640080" y="2331720"/>
            <a:ext cx="7863840" cy="228600"/>
          </a:xfrm>
          <a:prstGeom prst="rect">
            <a:avLst/>
          </a:prstGeom>
          <a:noFill/>
          <a:ln/>
        </p:spPr>
        <p:txBody>
          <a:bodyPr wrap="square" rtlCol="0" anchor="ctr"/>
          <a:lstStyle/>
          <a:p>
            <a:pPr indent="0" marL="0">
              <a:buNone/>
            </a:pPr>
            <a:r>
              <a:rPr lang="en-US" sz="1100" b="1" dirty="0">
                <a:solidFill>
                  <a:srgbClr val="C1121F"/>
                </a:solidFill>
                <a:latin typeface="Calibri" pitchFamily="34" charset="0"/>
                <a:ea typeface="Calibri" pitchFamily="34" charset="-122"/>
                <a:cs typeface="Calibri" pitchFamily="34" charset="-120"/>
              </a:rPr>
              <a:t>PHASE 2: Post-Colonial Immigration</a:t>
            </a:r>
            <a:endParaRPr lang="en-US" sz="1100" dirty="0"/>
          </a:p>
        </p:txBody>
      </p:sp>
      <p:sp>
        <p:nvSpPr>
          <p:cNvPr id="10" name="Text 8"/>
          <p:cNvSpPr/>
          <p:nvPr/>
        </p:nvSpPr>
        <p:spPr>
          <a:xfrm>
            <a:off x="640080" y="2606040"/>
            <a:ext cx="7863840" cy="411480"/>
          </a:xfrm>
          <a:prstGeom prst="rect">
            <a:avLst/>
          </a:prstGeom>
          <a:noFill/>
          <a:ln/>
        </p:spPr>
        <p:txBody>
          <a:bodyPr wrap="square" rtlCol="0" anchor="ctr"/>
          <a:lstStyle/>
          <a:p>
            <a:pPr indent="0" marL="0">
              <a:buNone/>
            </a:pPr>
            <a:r>
              <a:rPr lang="en-US" sz="950" dirty="0">
                <a:solidFill>
                  <a:srgbClr val="2C3E50"/>
                </a:solidFill>
                <a:latin typeface="Calibri" pitchFamily="34" charset="0"/>
                <a:ea typeface="Calibri" pitchFamily="34" charset="-122"/>
                <a:cs typeface="Calibri" pitchFamily="34" charset="-120"/>
              </a:rPr>
              <a:t>Native populations return to colonizers' homeland; forced assimilation model applied</a:t>
            </a:r>
            <a:endParaRPr lang="en-US" sz="950" dirty="0"/>
          </a:p>
        </p:txBody>
      </p:sp>
      <p:sp>
        <p:nvSpPr>
          <p:cNvPr id="11" name="Shape 9"/>
          <p:cNvSpPr/>
          <p:nvPr/>
        </p:nvSpPr>
        <p:spPr>
          <a:xfrm>
            <a:off x="457200" y="3246120"/>
            <a:ext cx="8229600" cy="822960"/>
          </a:xfrm>
          <a:prstGeom prst="rect">
            <a:avLst/>
          </a:prstGeom>
          <a:solidFill>
            <a:srgbClr val="F8F9FA"/>
          </a:solidFill>
          <a:ln w="12700">
            <a:solidFill>
              <a:srgbClr val="6C757D"/>
            </a:solidFill>
            <a:prstDash val="solid"/>
          </a:ln>
        </p:spPr>
      </p:sp>
      <p:sp>
        <p:nvSpPr>
          <p:cNvPr id="12" name="Text 10"/>
          <p:cNvSpPr/>
          <p:nvPr/>
        </p:nvSpPr>
        <p:spPr>
          <a:xfrm>
            <a:off x="640080" y="3291840"/>
            <a:ext cx="7863840" cy="228600"/>
          </a:xfrm>
          <a:prstGeom prst="rect">
            <a:avLst/>
          </a:prstGeom>
          <a:noFill/>
          <a:ln/>
        </p:spPr>
        <p:txBody>
          <a:bodyPr wrap="square" rtlCol="0" anchor="ctr"/>
          <a:lstStyle/>
          <a:p>
            <a:pPr indent="0" marL="0">
              <a:buNone/>
            </a:pPr>
            <a:r>
              <a:rPr lang="en-US" sz="1100" b="1" dirty="0">
                <a:solidFill>
                  <a:srgbClr val="C1121F"/>
                </a:solidFill>
                <a:latin typeface="Calibri" pitchFamily="34" charset="0"/>
                <a:ea typeface="Calibri" pitchFamily="34" charset="-122"/>
                <a:cs typeface="Calibri" pitchFamily="34" charset="-120"/>
              </a:rPr>
              <a:t>PHASE 3: Global Diasporas (NOW)</a:t>
            </a:r>
            <a:endParaRPr lang="en-US" sz="1100" dirty="0"/>
          </a:p>
        </p:txBody>
      </p:sp>
      <p:sp>
        <p:nvSpPr>
          <p:cNvPr id="13" name="Text 11"/>
          <p:cNvSpPr/>
          <p:nvPr/>
        </p:nvSpPr>
        <p:spPr>
          <a:xfrm>
            <a:off x="640080" y="3566160"/>
            <a:ext cx="7863840" cy="411480"/>
          </a:xfrm>
          <a:prstGeom prst="rect">
            <a:avLst/>
          </a:prstGeom>
          <a:noFill/>
          <a:ln/>
        </p:spPr>
        <p:txBody>
          <a:bodyPr wrap="square" rtlCol="0" anchor="ctr"/>
          <a:lstStyle/>
          <a:p>
            <a:pPr indent="0" marL="0">
              <a:buNone/>
            </a:pPr>
            <a:r>
              <a:rPr lang="en-US" sz="950" dirty="0">
                <a:solidFill>
                  <a:srgbClr val="2C3E50"/>
                </a:solidFill>
                <a:latin typeface="Calibri" pitchFamily="34" charset="0"/>
                <a:ea typeface="Calibri" pitchFamily="34" charset="-122"/>
                <a:cs typeface="Calibri" pitchFamily="34" charset="-120"/>
              </a:rPr>
              <a:t>Infinite archipelago of settlements; dual/multiple loyalties; no single assimilation model</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1F4B"/>
          </a:solidFill>
          <a:ln/>
        </p:spPr>
      </p:sp>
      <p:sp>
        <p:nvSpPr>
          <p:cNvPr id="3" name="Text 1"/>
          <p:cNvSpPr/>
          <p:nvPr/>
        </p:nvSpPr>
        <p:spPr>
          <a:xfrm>
            <a:off x="457200" y="137160"/>
            <a:ext cx="8229600" cy="41148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Argument 2: Evidence – The Transformation of Migration</a:t>
            </a:r>
            <a:endParaRPr lang="en-US" sz="2800" dirty="0"/>
          </a:p>
        </p:txBody>
      </p:sp>
      <p:sp>
        <p:nvSpPr>
          <p:cNvPr id="4" name="Text 2"/>
          <p:cNvSpPr/>
          <p:nvPr/>
        </p:nvSpPr>
        <p:spPr>
          <a:xfrm>
            <a:off x="457200" y="868680"/>
            <a:ext cx="8229600" cy="182880"/>
          </a:xfrm>
          <a:prstGeom prst="rect">
            <a:avLst/>
          </a:prstGeom>
          <a:noFill/>
          <a:ln/>
        </p:spPr>
        <p:txBody>
          <a:bodyPr wrap="square" rtlCol="0" anchor="ctr"/>
          <a:lstStyle/>
          <a:p>
            <a:pPr indent="0" marL="0">
              <a:buNone/>
            </a:pPr>
            <a:r>
              <a:rPr lang="en-US" sz="1100" b="1" dirty="0">
                <a:solidFill>
                  <a:srgbClr val="C1121F"/>
                </a:solidFill>
                <a:latin typeface="Calibri" pitchFamily="34" charset="0"/>
                <a:ea typeface="Calibri" pitchFamily="34" charset="-122"/>
                <a:cs typeface="Calibri" pitchFamily="34" charset="-120"/>
              </a:rPr>
              <a:t>Key Quote – The Character of Each Phase:</a:t>
            </a:r>
            <a:endParaRPr lang="en-US" sz="1100" dirty="0"/>
          </a:p>
        </p:txBody>
      </p:sp>
      <p:sp>
        <p:nvSpPr>
          <p:cNvPr id="5" name="Shape 3"/>
          <p:cNvSpPr/>
          <p:nvPr/>
        </p:nvSpPr>
        <p:spPr>
          <a:xfrm>
            <a:off x="457200" y="1097280"/>
            <a:ext cx="8229600" cy="777240"/>
          </a:xfrm>
          <a:prstGeom prst="rect">
            <a:avLst/>
          </a:prstGeom>
          <a:solidFill>
            <a:srgbClr val="E8EEF7"/>
          </a:solidFill>
          <a:ln w="12700">
            <a:solidFill>
              <a:srgbClr val="C1121F"/>
            </a:solidFill>
            <a:prstDash val="solid"/>
          </a:ln>
        </p:spPr>
      </p:sp>
      <p:sp>
        <p:nvSpPr>
          <p:cNvPr id="6" name="Text 4"/>
          <p:cNvSpPr/>
          <p:nvPr/>
        </p:nvSpPr>
        <p:spPr>
          <a:xfrm>
            <a:off x="640080" y="1188720"/>
            <a:ext cx="7863840" cy="594360"/>
          </a:xfrm>
          <a:prstGeom prst="rect">
            <a:avLst/>
          </a:prstGeom>
          <a:noFill/>
          <a:ln/>
        </p:spPr>
        <p:txBody>
          <a:bodyPr wrap="square" rtlCol="0" anchor="ctr"/>
          <a:lstStyle/>
          <a:p>
            <a:pPr indent="0" marL="0">
              <a:buNone/>
            </a:pPr>
            <a:r>
              <a:rPr lang="en-US" sz="950" i="1" dirty="0">
                <a:solidFill>
                  <a:srgbClr val="2C3E50"/>
                </a:solidFill>
                <a:latin typeface="Calibri" pitchFamily="34" charset="0"/>
                <a:ea typeface="Calibri" pitchFamily="34" charset="-122"/>
                <a:cs typeface="Calibri" pitchFamily="34" charset="-120"/>
              </a:rPr>
              <a:t>"The third phase of modern migration, currently in full flow and gathering momentum despite frenetic attempts to hold it back, introduces the age of diasporas: an infinite archipelago of ethnic, religious and linguistic settlements, heedless of the pathways marked out and paved by the imperial/colonial episode..."</a:t>
            </a:r>
            <a:endParaRPr lang="en-US" sz="950" dirty="0"/>
          </a:p>
        </p:txBody>
      </p:sp>
      <p:sp>
        <p:nvSpPr>
          <p:cNvPr id="7" name="Text 5"/>
          <p:cNvSpPr/>
          <p:nvPr/>
        </p:nvSpPr>
        <p:spPr>
          <a:xfrm>
            <a:off x="457200" y="2011680"/>
            <a:ext cx="8229600" cy="182880"/>
          </a:xfrm>
          <a:prstGeom prst="rect">
            <a:avLst/>
          </a:prstGeom>
          <a:noFill/>
          <a:ln/>
        </p:spPr>
        <p:txBody>
          <a:bodyPr wrap="square" rtlCol="0" anchor="ctr"/>
          <a:lstStyle/>
          <a:p>
            <a:pPr indent="0" marL="0">
              <a:buNone/>
            </a:pPr>
            <a:r>
              <a:rPr lang="en-US" sz="1100" b="1" dirty="0">
                <a:solidFill>
                  <a:srgbClr val="C1121F"/>
                </a:solidFill>
                <a:latin typeface="Calibri" pitchFamily="34" charset="0"/>
                <a:ea typeface="Calibri" pitchFamily="34" charset="-122"/>
                <a:cs typeface="Calibri" pitchFamily="34" charset="-120"/>
              </a:rPr>
              <a:t>Critical Implication:</a:t>
            </a:r>
            <a:endParaRPr lang="en-US" sz="1100" dirty="0"/>
          </a:p>
        </p:txBody>
      </p:sp>
      <p:sp>
        <p:nvSpPr>
          <p:cNvPr id="8" name="Text 6"/>
          <p:cNvSpPr/>
          <p:nvPr/>
        </p:nvSpPr>
        <p:spPr>
          <a:xfrm>
            <a:off x="640080" y="2286000"/>
            <a:ext cx="7863840" cy="640080"/>
          </a:xfrm>
          <a:prstGeom prst="rect">
            <a:avLst/>
          </a:prstGeom>
          <a:noFill/>
          <a:ln/>
        </p:spPr>
        <p:txBody>
          <a:bodyPr wrap="square" rtlCol="0" anchor="ctr"/>
          <a:lstStyle/>
          <a:p>
            <a:pPr indent="0" marL="0">
              <a:buNone/>
            </a:pPr>
            <a:r>
              <a:rPr lang="en-US" sz="1000" dirty="0">
                <a:solidFill>
                  <a:srgbClr val="2C3E50"/>
                </a:solidFill>
                <a:latin typeface="Calibri" pitchFamily="34" charset="0"/>
                <a:ea typeface="Calibri" pitchFamily="34" charset="-122"/>
                <a:cs typeface="Calibri" pitchFamily="34" charset="-120"/>
              </a:rPr>
              <a:t>The latest phase of migration poses a question mark over the incipient and unbreakable bond between identity and nationality. For the FIRST TIME in modern history, the 'art of living with difference' has become an everyday problem – and this is now permanent, not transitory.</a:t>
            </a:r>
            <a:endParaRPr lang="en-US" sz="1000" dirty="0"/>
          </a:p>
        </p:txBody>
      </p:sp>
      <p:sp>
        <p:nvSpPr>
          <p:cNvPr id="9" name="Text 7"/>
          <p:cNvSpPr/>
          <p:nvPr/>
        </p:nvSpPr>
        <p:spPr>
          <a:xfrm>
            <a:off x="640080" y="3017520"/>
            <a:ext cx="7863840" cy="457200"/>
          </a:xfrm>
          <a:prstGeom prst="rect">
            <a:avLst/>
          </a:prstGeom>
          <a:noFill/>
          <a:ln/>
        </p:spPr>
        <p:txBody>
          <a:bodyPr wrap="square" rtlCol="0" anchor="ctr"/>
          <a:lstStyle/>
          <a:p>
            <a:pPr indent="0" marL="0">
              <a:buNone/>
            </a:pPr>
            <a:r>
              <a:rPr lang="en-US" sz="1000" b="1" dirty="0">
                <a:solidFill>
                  <a:srgbClr val="C1121F"/>
                </a:solidFill>
                <a:latin typeface="Calibri" pitchFamily="34" charset="0"/>
                <a:ea typeface="Calibri" pitchFamily="34" charset="-122"/>
                <a:cs typeface="Calibri" pitchFamily="34" charset="-120"/>
              </a:rPr>
              <a:t>This fundamentally undermines the nation-state's capacity to maintain cultural homogeneity and national identity through assimilation.</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1F4B"/>
          </a:solidFill>
          <a:ln/>
        </p:spPr>
      </p:sp>
      <p:sp>
        <p:nvSpPr>
          <p:cNvPr id="3" name="Text 1"/>
          <p:cNvSpPr/>
          <p:nvPr/>
        </p:nvSpPr>
        <p:spPr>
          <a:xfrm>
            <a:off x="457200" y="137160"/>
            <a:ext cx="8229600" cy="41148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Argument 3: The Collapse of Cultural Hierarchies</a:t>
            </a:r>
            <a:endParaRPr lang="en-US" sz="2800" dirty="0"/>
          </a:p>
        </p:txBody>
      </p:sp>
      <p:sp>
        <p:nvSpPr>
          <p:cNvPr id="4" name="Text 2"/>
          <p:cNvSpPr/>
          <p:nvPr/>
        </p:nvSpPr>
        <p:spPr>
          <a:xfrm>
            <a:off x="457200" y="868680"/>
            <a:ext cx="8229600" cy="182880"/>
          </a:xfrm>
          <a:prstGeom prst="rect">
            <a:avLst/>
          </a:prstGeom>
          <a:noFill/>
          <a:ln/>
        </p:spPr>
        <p:txBody>
          <a:bodyPr wrap="square" rtlCol="0" anchor="ctr"/>
          <a:lstStyle/>
          <a:p>
            <a:pPr indent="0" marL="0">
              <a:buNone/>
            </a:pPr>
            <a:r>
              <a:rPr lang="en-US" sz="1200" b="1" dirty="0">
                <a:solidFill>
                  <a:srgbClr val="C1121F"/>
                </a:solidFill>
                <a:latin typeface="Calibri" pitchFamily="34" charset="0"/>
                <a:ea typeface="Calibri" pitchFamily="34" charset="-122"/>
                <a:cs typeface="Calibri" pitchFamily="34" charset="-120"/>
              </a:rPr>
              <a:t>The Shift in Cultural Logic:</a:t>
            </a:r>
            <a:endParaRPr lang="en-US" sz="1200" dirty="0"/>
          </a:p>
        </p:txBody>
      </p:sp>
      <p:sp>
        <p:nvSpPr>
          <p:cNvPr id="5" name="Shape 3"/>
          <p:cNvSpPr/>
          <p:nvPr/>
        </p:nvSpPr>
        <p:spPr>
          <a:xfrm>
            <a:off x="457200" y="1143000"/>
            <a:ext cx="4023360" cy="2606040"/>
          </a:xfrm>
          <a:prstGeom prst="rect">
            <a:avLst/>
          </a:prstGeom>
          <a:solidFill>
            <a:srgbClr val="FFE8E8"/>
          </a:solidFill>
          <a:ln w="25400">
            <a:solidFill>
              <a:srgbClr val="C1121F"/>
            </a:solidFill>
            <a:prstDash val="solid"/>
          </a:ln>
        </p:spPr>
      </p:sp>
      <p:sp>
        <p:nvSpPr>
          <p:cNvPr id="6" name="Text 4"/>
          <p:cNvSpPr/>
          <p:nvPr/>
        </p:nvSpPr>
        <p:spPr>
          <a:xfrm>
            <a:off x="640080" y="1234440"/>
            <a:ext cx="3657600" cy="182880"/>
          </a:xfrm>
          <a:prstGeom prst="rect">
            <a:avLst/>
          </a:prstGeom>
          <a:noFill/>
          <a:ln/>
        </p:spPr>
        <p:txBody>
          <a:bodyPr wrap="square" rtlCol="0" anchor="ctr"/>
          <a:lstStyle/>
          <a:p>
            <a:pPr indent="0" marL="0">
              <a:buNone/>
            </a:pPr>
            <a:r>
              <a:rPr lang="en-US" sz="1100" b="1" dirty="0">
                <a:solidFill>
                  <a:srgbClr val="C1121F"/>
                </a:solidFill>
                <a:latin typeface="Calibri" pitchFamily="34" charset="0"/>
                <a:ea typeface="Calibri" pitchFamily="34" charset="-122"/>
                <a:cs typeface="Calibri" pitchFamily="34" charset="-120"/>
              </a:rPr>
              <a:t>OLD MODEL</a:t>
            </a:r>
            <a:endParaRPr lang="en-US" sz="1100" dirty="0"/>
          </a:p>
        </p:txBody>
      </p:sp>
      <p:sp>
        <p:nvSpPr>
          <p:cNvPr id="7" name="Text 5"/>
          <p:cNvSpPr/>
          <p:nvPr/>
        </p:nvSpPr>
        <p:spPr>
          <a:xfrm>
            <a:off x="640080" y="1463040"/>
            <a:ext cx="3657600" cy="2148840"/>
          </a:xfrm>
          <a:prstGeom prst="rect">
            <a:avLst/>
          </a:prstGeom>
          <a:noFill/>
          <a:ln/>
        </p:spPr>
        <p:txBody>
          <a:bodyPr wrap="square" rtlCol="0" anchor="ctr"/>
          <a:lstStyle/>
          <a:p>
            <a:pPr indent="0" marL="0">
              <a:buNone/>
            </a:pPr>
            <a:r>
              <a:rPr lang="en-US" sz="1000" dirty="0">
                <a:solidFill>
                  <a:srgbClr val="2C3E50"/>
                </a:solidFill>
                <a:latin typeface="Calibri" pitchFamily="34" charset="0"/>
                <a:ea typeface="Calibri" pitchFamily="34" charset="-122"/>
                <a:cs typeface="Calibri" pitchFamily="34" charset="-120"/>
              </a:rPr>
              <a:t>• Vertical hierarchy
</a:t>
            </a:r>
            <a:endParaRPr lang="en-US" sz="1000" dirty="0"/>
          </a:p>
          <a:p>
            <a:pPr indent="0" marL="0">
              <a:buNone/>
            </a:pPr>
            <a:r>
              <a:rPr lang="en-US" sz="1000" dirty="0">
                <a:solidFill>
                  <a:srgbClr val="2C3E50"/>
                </a:solidFill>
                <a:latin typeface="Calibri" pitchFamily="34" charset="0"/>
                <a:ea typeface="Calibri" pitchFamily="34" charset="-122"/>
                <a:cs typeface="Calibri" pitchFamily="34" charset="-120"/>
              </a:rPr>
              <a:t>• Assimilation = progress
</a:t>
            </a:r>
            <a:endParaRPr lang="en-US" sz="1000" dirty="0"/>
          </a:p>
          <a:p>
            <a:pPr indent="0" marL="0">
              <a:buNone/>
            </a:pPr>
            <a:r>
              <a:rPr lang="en-US" sz="1000" dirty="0">
                <a:solidFill>
                  <a:srgbClr val="2C3E50"/>
                </a:solidFill>
                <a:latin typeface="Calibri" pitchFamily="34" charset="0"/>
                <a:ea typeface="Calibri" pitchFamily="34" charset="-122"/>
                <a:cs typeface="Calibri" pitchFamily="34" charset="-120"/>
              </a:rPr>
              <a:t>• Single evolutionary path
</a:t>
            </a:r>
            <a:endParaRPr lang="en-US" sz="1000" dirty="0"/>
          </a:p>
          <a:p>
            <a:pPr indent="0" marL="0">
              <a:buNone/>
            </a:pPr>
            <a:r>
              <a:rPr lang="en-US" sz="1000" dirty="0">
                <a:solidFill>
                  <a:srgbClr val="2C3E50"/>
                </a:solidFill>
                <a:latin typeface="Calibri" pitchFamily="34" charset="0"/>
                <a:ea typeface="Calibri" pitchFamily="34" charset="-122"/>
                <a:cs typeface="Calibri" pitchFamily="34" charset="-120"/>
              </a:rPr>
              <a:t>• One superior culture
</a:t>
            </a:r>
            <a:endParaRPr lang="en-US" sz="1000" dirty="0"/>
          </a:p>
          <a:p>
            <a:pPr indent="0" marL="0">
              <a:buNone/>
            </a:pPr>
            <a:r>
              <a:rPr lang="en-US" sz="1000" dirty="0">
                <a:solidFill>
                  <a:srgbClr val="2C3E50"/>
                </a:solidFill>
                <a:latin typeface="Calibri" pitchFamily="34" charset="0"/>
                <a:ea typeface="Calibri" pitchFamily="34" charset="-122"/>
                <a:cs typeface="Calibri" pitchFamily="34" charset="-120"/>
              </a:rPr>
              <a:t>• Clear center-periphery
</a:t>
            </a:r>
            <a:endParaRPr lang="en-US" sz="1000" dirty="0"/>
          </a:p>
          <a:p>
            <a:pPr indent="0" marL="0">
              <a:buNone/>
            </a:pPr>
            <a:r>
              <a:rPr lang="en-US" sz="1000" dirty="0">
                <a:solidFill>
                  <a:srgbClr val="2C3E50"/>
                </a:solidFill>
                <a:latin typeface="Calibri" pitchFamily="34" charset="0"/>
                <a:ea typeface="Calibri" pitchFamily="34" charset="-122"/>
                <a:cs typeface="Calibri" pitchFamily="34" charset="-120"/>
              </a:rPr>
              <a:t>• European standard</a:t>
            </a:r>
            <a:endParaRPr lang="en-US" sz="1000" dirty="0"/>
          </a:p>
        </p:txBody>
      </p:sp>
      <p:sp>
        <p:nvSpPr>
          <p:cNvPr id="8" name="Shape 6"/>
          <p:cNvSpPr/>
          <p:nvPr/>
        </p:nvSpPr>
        <p:spPr>
          <a:xfrm>
            <a:off x="4663440" y="1143000"/>
            <a:ext cx="4023360" cy="2606040"/>
          </a:xfrm>
          <a:prstGeom prst="rect">
            <a:avLst/>
          </a:prstGeom>
          <a:solidFill>
            <a:srgbClr val="E8F5E8"/>
          </a:solidFill>
          <a:ln w="25400">
            <a:solidFill>
              <a:srgbClr val="4CAF50"/>
            </a:solidFill>
            <a:prstDash val="solid"/>
          </a:ln>
        </p:spPr>
      </p:sp>
      <p:sp>
        <p:nvSpPr>
          <p:cNvPr id="9" name="Text 7"/>
          <p:cNvSpPr/>
          <p:nvPr/>
        </p:nvSpPr>
        <p:spPr>
          <a:xfrm>
            <a:off x="4846320" y="1234440"/>
            <a:ext cx="3657600" cy="182880"/>
          </a:xfrm>
          <a:prstGeom prst="rect">
            <a:avLst/>
          </a:prstGeom>
          <a:noFill/>
          <a:ln/>
        </p:spPr>
        <p:txBody>
          <a:bodyPr wrap="square" rtlCol="0" anchor="ctr"/>
          <a:lstStyle/>
          <a:p>
            <a:pPr indent="0" marL="0">
              <a:buNone/>
            </a:pPr>
            <a:r>
              <a:rPr lang="en-US" sz="1100" b="1" dirty="0">
                <a:solidFill>
                  <a:srgbClr val="2E7D32"/>
                </a:solidFill>
                <a:latin typeface="Calibri" pitchFamily="34" charset="0"/>
                <a:ea typeface="Calibri" pitchFamily="34" charset="-122"/>
                <a:cs typeface="Calibri" pitchFamily="34" charset="-120"/>
              </a:rPr>
              <a:t>NEW MODEL</a:t>
            </a:r>
            <a:endParaRPr lang="en-US" sz="1100" dirty="0"/>
          </a:p>
        </p:txBody>
      </p:sp>
      <p:sp>
        <p:nvSpPr>
          <p:cNvPr id="10" name="Text 8"/>
          <p:cNvSpPr/>
          <p:nvPr/>
        </p:nvSpPr>
        <p:spPr>
          <a:xfrm>
            <a:off x="4846320" y="1463040"/>
            <a:ext cx="3657600" cy="2148840"/>
          </a:xfrm>
          <a:prstGeom prst="rect">
            <a:avLst/>
          </a:prstGeom>
          <a:noFill/>
          <a:ln/>
        </p:spPr>
        <p:txBody>
          <a:bodyPr wrap="square" rtlCol="0" anchor="ctr"/>
          <a:lstStyle/>
          <a:p>
            <a:pPr indent="0" marL="0">
              <a:buNone/>
            </a:pPr>
            <a:r>
              <a:rPr lang="en-US" sz="1000" dirty="0">
                <a:solidFill>
                  <a:srgbClr val="2C3E50"/>
                </a:solidFill>
                <a:latin typeface="Calibri" pitchFamily="34" charset="0"/>
                <a:ea typeface="Calibri" pitchFamily="34" charset="-122"/>
                <a:cs typeface="Calibri" pitchFamily="34" charset="-120"/>
              </a:rPr>
              <a:t>• Horizontal equality
</a:t>
            </a:r>
            <a:endParaRPr lang="en-US" sz="1000" dirty="0"/>
          </a:p>
          <a:p>
            <a:pPr indent="0" marL="0">
              <a:buNone/>
            </a:pPr>
            <a:r>
              <a:rPr lang="en-US" sz="1000" dirty="0">
                <a:solidFill>
                  <a:srgbClr val="2C3E50"/>
                </a:solidFill>
                <a:latin typeface="Calibri" pitchFamily="34" charset="0"/>
                <a:ea typeface="Calibri" pitchFamily="34" charset="-122"/>
                <a:cs typeface="Calibri" pitchFamily="34" charset="-120"/>
              </a:rPr>
              <a:t>• Difference as valid
</a:t>
            </a:r>
            <a:endParaRPr lang="en-US" sz="1000" dirty="0"/>
          </a:p>
          <a:p>
            <a:pPr indent="0" marL="0">
              <a:buNone/>
            </a:pPr>
            <a:r>
              <a:rPr lang="en-US" sz="1000" dirty="0">
                <a:solidFill>
                  <a:srgbClr val="2C3E50"/>
                </a:solidFill>
                <a:latin typeface="Calibri" pitchFamily="34" charset="0"/>
                <a:ea typeface="Calibri" pitchFamily="34" charset="-122"/>
                <a:cs typeface="Calibri" pitchFamily="34" charset="-120"/>
              </a:rPr>
              <a:t>• Multiple pathways
</a:t>
            </a:r>
            <a:endParaRPr lang="en-US" sz="1000" dirty="0"/>
          </a:p>
          <a:p>
            <a:pPr indent="0" marL="0">
              <a:buNone/>
            </a:pPr>
            <a:r>
              <a:rPr lang="en-US" sz="1000" dirty="0">
                <a:solidFill>
                  <a:srgbClr val="2C3E50"/>
                </a:solidFill>
                <a:latin typeface="Calibri" pitchFamily="34" charset="0"/>
                <a:ea typeface="Calibri" pitchFamily="34" charset="-122"/>
                <a:cs typeface="Calibri" pitchFamily="34" charset="-120"/>
              </a:rPr>
              <a:t>• All cultures equal
</a:t>
            </a:r>
            <a:endParaRPr lang="en-US" sz="1000" dirty="0"/>
          </a:p>
          <a:p>
            <a:pPr indent="0" marL="0">
              <a:buNone/>
            </a:pPr>
            <a:r>
              <a:rPr lang="en-US" sz="1000" dirty="0">
                <a:solidFill>
                  <a:srgbClr val="2C3E50"/>
                </a:solidFill>
                <a:latin typeface="Calibri" pitchFamily="34" charset="0"/>
                <a:ea typeface="Calibri" pitchFamily="34" charset="-122"/>
                <a:cs typeface="Calibri" pitchFamily="34" charset="-120"/>
              </a:rPr>
              <a:t>• Floating in suspension
</a:t>
            </a:r>
            <a:endParaRPr lang="en-US" sz="1000" dirty="0"/>
          </a:p>
          <a:p>
            <a:pPr indent="0" marL="0">
              <a:buNone/>
            </a:pPr>
            <a:r>
              <a:rPr lang="en-US" sz="1000" dirty="0">
                <a:solidFill>
                  <a:srgbClr val="2C3E50"/>
                </a:solidFill>
                <a:latin typeface="Calibri" pitchFamily="34" charset="0"/>
                <a:ea typeface="Calibri" pitchFamily="34" charset="-122"/>
                <a:cs typeface="Calibri" pitchFamily="34" charset="-120"/>
              </a:rPr>
              <a:t>• No predetermined goal</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1F4B"/>
          </a:solidFill>
          <a:ln/>
        </p:spPr>
      </p:sp>
      <p:sp>
        <p:nvSpPr>
          <p:cNvPr id="3" name="Text 1"/>
          <p:cNvSpPr/>
          <p:nvPr/>
        </p:nvSpPr>
        <p:spPr>
          <a:xfrm>
            <a:off x="457200" y="137160"/>
            <a:ext cx="8229600" cy="41148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Argument 3: Direct Evidence – The Horizontal Model</a:t>
            </a:r>
            <a:endParaRPr lang="en-US" sz="2800" dirty="0"/>
          </a:p>
        </p:txBody>
      </p:sp>
      <p:sp>
        <p:nvSpPr>
          <p:cNvPr id="4" name="Text 2"/>
          <p:cNvSpPr/>
          <p:nvPr/>
        </p:nvSpPr>
        <p:spPr>
          <a:xfrm>
            <a:off x="457200" y="868680"/>
            <a:ext cx="8229600" cy="182880"/>
          </a:xfrm>
          <a:prstGeom prst="rect">
            <a:avLst/>
          </a:prstGeom>
          <a:noFill/>
          <a:ln/>
        </p:spPr>
        <p:txBody>
          <a:bodyPr wrap="square" rtlCol="0" anchor="ctr"/>
          <a:lstStyle/>
          <a:p>
            <a:pPr indent="0" marL="0">
              <a:buNone/>
            </a:pPr>
            <a:r>
              <a:rPr lang="en-US" sz="1100" b="1" dirty="0">
                <a:solidFill>
                  <a:srgbClr val="C1121F"/>
                </a:solidFill>
                <a:latin typeface="Calibri" pitchFamily="34" charset="0"/>
                <a:ea typeface="Calibri" pitchFamily="34" charset="-122"/>
                <a:cs typeface="Calibri" pitchFamily="34" charset="-120"/>
              </a:rPr>
              <a:t>Quote 1 – Breaking Down Hierarchies:</a:t>
            </a:r>
            <a:endParaRPr lang="en-US" sz="1100" dirty="0"/>
          </a:p>
        </p:txBody>
      </p:sp>
      <p:sp>
        <p:nvSpPr>
          <p:cNvPr id="5" name="Shape 3"/>
          <p:cNvSpPr/>
          <p:nvPr/>
        </p:nvSpPr>
        <p:spPr>
          <a:xfrm>
            <a:off x="457200" y="1097280"/>
            <a:ext cx="8229600" cy="914400"/>
          </a:xfrm>
          <a:prstGeom prst="rect">
            <a:avLst/>
          </a:prstGeom>
          <a:solidFill>
            <a:srgbClr val="E8EEF7"/>
          </a:solidFill>
          <a:ln w="12700">
            <a:solidFill>
              <a:srgbClr val="C1121F"/>
            </a:solidFill>
            <a:prstDash val="solid"/>
          </a:ln>
        </p:spPr>
      </p:sp>
      <p:sp>
        <p:nvSpPr>
          <p:cNvPr id="6" name="Text 4"/>
          <p:cNvSpPr/>
          <p:nvPr/>
        </p:nvSpPr>
        <p:spPr>
          <a:xfrm>
            <a:off x="640080" y="1188720"/>
            <a:ext cx="7863840" cy="731520"/>
          </a:xfrm>
          <a:prstGeom prst="rect">
            <a:avLst/>
          </a:prstGeom>
          <a:noFill/>
          <a:ln/>
        </p:spPr>
        <p:txBody>
          <a:bodyPr wrap="square" rtlCol="0" anchor="ctr"/>
          <a:lstStyle/>
          <a:p>
            <a:pPr indent="0" marL="0">
              <a:buNone/>
            </a:pPr>
            <a:r>
              <a:rPr lang="en-US" sz="950" i="1" dirty="0">
                <a:solidFill>
                  <a:srgbClr val="2C3E50"/>
                </a:solidFill>
                <a:latin typeface="Calibri" pitchFamily="34" charset="0"/>
                <a:ea typeface="Calibri" pitchFamily="34" charset="-122"/>
                <a:cs typeface="Calibri" pitchFamily="34" charset="-120"/>
              </a:rPr>
              <a:t>"The new interpretation breaks down the hierarchy of cultures inherited from the past, and tears apart the model of assimilation as a naturally 'progressive' cultural evolution heading inexorably towards a predetermined model goal. Axiologically speaking, cultural relations are no longer vertical but horizontal: no culture can demand or be entitled to subservience, humility or submission on the part of any other."</a:t>
            </a:r>
            <a:endParaRPr lang="en-US" sz="950" dirty="0"/>
          </a:p>
        </p:txBody>
      </p:sp>
      <p:sp>
        <p:nvSpPr>
          <p:cNvPr id="7" name="Text 5"/>
          <p:cNvSpPr/>
          <p:nvPr/>
        </p:nvSpPr>
        <p:spPr>
          <a:xfrm>
            <a:off x="457200" y="2148840"/>
            <a:ext cx="8229600" cy="182880"/>
          </a:xfrm>
          <a:prstGeom prst="rect">
            <a:avLst/>
          </a:prstGeom>
          <a:noFill/>
          <a:ln/>
        </p:spPr>
        <p:txBody>
          <a:bodyPr wrap="square" rtlCol="0" anchor="ctr"/>
          <a:lstStyle/>
          <a:p>
            <a:pPr indent="0" marL="0">
              <a:buNone/>
            </a:pPr>
            <a:r>
              <a:rPr lang="en-US" sz="1100" b="1" dirty="0">
                <a:solidFill>
                  <a:srgbClr val="C1121F"/>
                </a:solidFill>
                <a:latin typeface="Calibri" pitchFamily="34" charset="0"/>
                <a:ea typeface="Calibri" pitchFamily="34" charset="-122"/>
                <a:cs typeface="Calibri" pitchFamily="34" charset="-120"/>
              </a:rPr>
              <a:t>Quote 2 – The Floating Suspension:</a:t>
            </a:r>
            <a:endParaRPr lang="en-US" sz="1100" dirty="0"/>
          </a:p>
        </p:txBody>
      </p:sp>
      <p:sp>
        <p:nvSpPr>
          <p:cNvPr id="8" name="Shape 6"/>
          <p:cNvSpPr/>
          <p:nvPr/>
        </p:nvSpPr>
        <p:spPr>
          <a:xfrm>
            <a:off x="457200" y="2377440"/>
            <a:ext cx="8229600" cy="1097280"/>
          </a:xfrm>
          <a:prstGeom prst="rect">
            <a:avLst/>
          </a:prstGeom>
          <a:solidFill>
            <a:srgbClr val="E8EEF7"/>
          </a:solidFill>
          <a:ln w="12700">
            <a:solidFill>
              <a:srgbClr val="C1121F"/>
            </a:solidFill>
            <a:prstDash val="solid"/>
          </a:ln>
        </p:spPr>
      </p:sp>
      <p:sp>
        <p:nvSpPr>
          <p:cNvPr id="9" name="Text 7"/>
          <p:cNvSpPr/>
          <p:nvPr/>
        </p:nvSpPr>
        <p:spPr>
          <a:xfrm>
            <a:off x="640080" y="2468880"/>
            <a:ext cx="7863840" cy="914400"/>
          </a:xfrm>
          <a:prstGeom prst="rect">
            <a:avLst/>
          </a:prstGeom>
          <a:noFill/>
          <a:ln/>
        </p:spPr>
        <p:txBody>
          <a:bodyPr wrap="square" rtlCol="0" anchor="ctr"/>
          <a:lstStyle/>
          <a:p>
            <a:pPr indent="0" marL="0">
              <a:buNone/>
            </a:pPr>
            <a:r>
              <a:rPr lang="en-US" sz="950" i="1" dirty="0">
                <a:solidFill>
                  <a:srgbClr val="2C3E50"/>
                </a:solidFill>
                <a:latin typeface="Calibri" pitchFamily="34" charset="0"/>
                <a:ea typeface="Calibri" pitchFamily="34" charset="-122"/>
                <a:cs typeface="Calibri" pitchFamily="34" charset="-120"/>
              </a:rPr>
              <a:t>"Ways of life today drift in varied and not necessarily coordinated directions; they come into contact and separate...they do all this (to paraphrase Simmel's memorable phrase) floating in a suspension of cultures, all of a similar, or of a wholly identical specific gravity. Supposedly stable and unquestionable hierarchies...are today replaced by contentions for the permission to be different."</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1F4B"/>
          </a:solidFill>
          <a:ln/>
        </p:spPr>
      </p:sp>
      <p:sp>
        <p:nvSpPr>
          <p:cNvPr id="3" name="Text 1"/>
          <p:cNvSpPr/>
          <p:nvPr/>
        </p:nvSpPr>
        <p:spPr>
          <a:xfrm>
            <a:off x="457200" y="137160"/>
            <a:ext cx="8229600" cy="41148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Argument 4: The Permanent Problem of 'Living with Difference'</a:t>
            </a:r>
            <a:endParaRPr lang="en-US" sz="2800" dirty="0"/>
          </a:p>
        </p:txBody>
      </p:sp>
      <p:sp>
        <p:nvSpPr>
          <p:cNvPr id="4" name="Text 2"/>
          <p:cNvSpPr/>
          <p:nvPr/>
        </p:nvSpPr>
        <p:spPr>
          <a:xfrm>
            <a:off x="457200" y="868680"/>
            <a:ext cx="8229600" cy="228600"/>
          </a:xfrm>
          <a:prstGeom prst="rect">
            <a:avLst/>
          </a:prstGeom>
          <a:noFill/>
          <a:ln/>
        </p:spPr>
        <p:txBody>
          <a:bodyPr wrap="square" rtlCol="0" anchor="ctr"/>
          <a:lstStyle/>
          <a:p>
            <a:pPr indent="0" marL="0">
              <a:buNone/>
            </a:pPr>
            <a:r>
              <a:rPr lang="en-US" sz="1200" b="1" dirty="0">
                <a:solidFill>
                  <a:srgbClr val="C1121F"/>
                </a:solidFill>
                <a:latin typeface="Calibri" pitchFamily="34" charset="0"/>
                <a:ea typeface="Calibri" pitchFamily="34" charset="-122"/>
                <a:cs typeface="Calibri" pitchFamily="34" charset="-120"/>
              </a:rPr>
              <a:t>The Unprecedented Situation:</a:t>
            </a:r>
            <a:endParaRPr lang="en-US" sz="1200" dirty="0"/>
          </a:p>
        </p:txBody>
      </p:sp>
      <p:sp>
        <p:nvSpPr>
          <p:cNvPr id="5" name="Text 3"/>
          <p:cNvSpPr/>
          <p:nvPr/>
        </p:nvSpPr>
        <p:spPr>
          <a:xfrm>
            <a:off x="457200" y="1143000"/>
            <a:ext cx="8229600" cy="320040"/>
          </a:xfrm>
          <a:prstGeom prst="rect">
            <a:avLst/>
          </a:prstGeom>
          <a:noFill/>
          <a:ln/>
        </p:spPr>
        <p:txBody>
          <a:bodyPr wrap="square" rtlCol="0" anchor="ctr"/>
          <a:lstStyle/>
          <a:p>
            <a:pPr indent="0" marL="0">
              <a:buNone/>
            </a:pPr>
            <a:r>
              <a:rPr lang="en-US" sz="1100" i="1" dirty="0">
                <a:solidFill>
                  <a:srgbClr val="6C757D"/>
                </a:solidFill>
                <a:latin typeface="Calibri" pitchFamily="34" charset="0"/>
                <a:ea typeface="Calibri" pitchFamily="34" charset="-122"/>
                <a:cs typeface="Calibri" pitchFamily="34" charset="-120"/>
              </a:rPr>
              <a:t>For the FIRST TIME in modern history, cultural difference is NOT transitory or exceptional, but permanent and ubiquitous.</a:t>
            </a:r>
            <a:endParaRPr lang="en-US" sz="1100" dirty="0"/>
          </a:p>
        </p:txBody>
      </p:sp>
      <p:sp>
        <p:nvSpPr>
          <p:cNvPr id="6" name="Shape 4"/>
          <p:cNvSpPr/>
          <p:nvPr/>
        </p:nvSpPr>
        <p:spPr>
          <a:xfrm>
            <a:off x="457200" y="1645920"/>
            <a:ext cx="320040" cy="320040"/>
          </a:xfrm>
          <a:prstGeom prst="ellipse">
            <a:avLst/>
          </a:prstGeom>
          <a:solidFill>
            <a:srgbClr val="C1121F"/>
          </a:solidFill>
          <a:ln/>
        </p:spPr>
      </p:sp>
      <p:sp>
        <p:nvSpPr>
          <p:cNvPr id="7" name="Text 5"/>
          <p:cNvSpPr/>
          <p:nvPr/>
        </p:nvSpPr>
        <p:spPr>
          <a:xfrm>
            <a:off x="457200" y="1645920"/>
            <a:ext cx="320040" cy="3200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914400" y="1645920"/>
            <a:ext cx="3200400" cy="164592"/>
          </a:xfrm>
          <a:prstGeom prst="rect">
            <a:avLst/>
          </a:prstGeom>
          <a:noFill/>
          <a:ln/>
        </p:spPr>
        <p:txBody>
          <a:bodyPr wrap="square" rtlCol="0" anchor="ctr"/>
          <a:lstStyle/>
          <a:p>
            <a:pPr indent="0" marL="0">
              <a:buNone/>
            </a:pPr>
            <a:r>
              <a:rPr lang="en-US" sz="1100" b="1" dirty="0">
                <a:solidFill>
                  <a:srgbClr val="C1121F"/>
                </a:solidFill>
                <a:latin typeface="Calibri" pitchFamily="34" charset="0"/>
                <a:ea typeface="Calibri" pitchFamily="34" charset="-122"/>
                <a:cs typeface="Calibri" pitchFamily="34" charset="-120"/>
              </a:rPr>
              <a:t>Psychological Challenge</a:t>
            </a:r>
            <a:endParaRPr lang="en-US" sz="1100" dirty="0"/>
          </a:p>
        </p:txBody>
      </p:sp>
      <p:sp>
        <p:nvSpPr>
          <p:cNvPr id="9" name="Text 7"/>
          <p:cNvSpPr/>
          <p:nvPr/>
        </p:nvSpPr>
        <p:spPr>
          <a:xfrm>
            <a:off x="914400" y="1847088"/>
            <a:ext cx="7772400" cy="320040"/>
          </a:xfrm>
          <a:prstGeom prst="rect">
            <a:avLst/>
          </a:prstGeom>
          <a:noFill/>
          <a:ln/>
        </p:spPr>
        <p:txBody>
          <a:bodyPr wrap="square" rtlCol="0" anchor="ctr"/>
          <a:lstStyle/>
          <a:p>
            <a:pPr indent="0" marL="0">
              <a:buNone/>
            </a:pPr>
            <a:r>
              <a:rPr lang="en-US" sz="1000" dirty="0">
                <a:solidFill>
                  <a:srgbClr val="2C3E50"/>
                </a:solidFill>
                <a:latin typeface="Calibri" pitchFamily="34" charset="0"/>
                <a:ea typeface="Calibri" pitchFamily="34" charset="-122"/>
                <a:cs typeface="Calibri" pitchFamily="34" charset="-120"/>
              </a:rPr>
              <a:t>People must continuously negotiate identity in conditions of permanent difference</a:t>
            </a:r>
            <a:endParaRPr lang="en-US" sz="1000" dirty="0"/>
          </a:p>
        </p:txBody>
      </p:sp>
      <p:sp>
        <p:nvSpPr>
          <p:cNvPr id="10" name="Shape 8"/>
          <p:cNvSpPr/>
          <p:nvPr/>
        </p:nvSpPr>
        <p:spPr>
          <a:xfrm>
            <a:off x="457200" y="2331720"/>
            <a:ext cx="320040" cy="320040"/>
          </a:xfrm>
          <a:prstGeom prst="ellipse">
            <a:avLst/>
          </a:prstGeom>
          <a:solidFill>
            <a:srgbClr val="C1121F"/>
          </a:solidFill>
          <a:ln/>
        </p:spPr>
      </p:sp>
      <p:sp>
        <p:nvSpPr>
          <p:cNvPr id="11" name="Text 9"/>
          <p:cNvSpPr/>
          <p:nvPr/>
        </p:nvSpPr>
        <p:spPr>
          <a:xfrm>
            <a:off x="457200" y="2331720"/>
            <a:ext cx="320040" cy="3200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914400" y="2331720"/>
            <a:ext cx="3200400" cy="164592"/>
          </a:xfrm>
          <a:prstGeom prst="rect">
            <a:avLst/>
          </a:prstGeom>
          <a:noFill/>
          <a:ln/>
        </p:spPr>
        <p:txBody>
          <a:bodyPr wrap="square" rtlCol="0" anchor="ctr"/>
          <a:lstStyle/>
          <a:p>
            <a:pPr indent="0" marL="0">
              <a:buNone/>
            </a:pPr>
            <a:r>
              <a:rPr lang="en-US" sz="1100" b="1" dirty="0">
                <a:solidFill>
                  <a:srgbClr val="C1121F"/>
                </a:solidFill>
                <a:latin typeface="Calibri" pitchFamily="34" charset="0"/>
                <a:ea typeface="Calibri" pitchFamily="34" charset="-122"/>
                <a:cs typeface="Calibri" pitchFamily="34" charset="-120"/>
              </a:rPr>
              <a:t>Political Challenge</a:t>
            </a:r>
            <a:endParaRPr lang="en-US" sz="1100" dirty="0"/>
          </a:p>
        </p:txBody>
      </p:sp>
      <p:sp>
        <p:nvSpPr>
          <p:cNvPr id="13" name="Text 11"/>
          <p:cNvSpPr/>
          <p:nvPr/>
        </p:nvSpPr>
        <p:spPr>
          <a:xfrm>
            <a:off x="914400" y="2532888"/>
            <a:ext cx="7772400" cy="320040"/>
          </a:xfrm>
          <a:prstGeom prst="rect">
            <a:avLst/>
          </a:prstGeom>
          <a:noFill/>
          <a:ln/>
        </p:spPr>
        <p:txBody>
          <a:bodyPr wrap="square" rtlCol="0" anchor="ctr"/>
          <a:lstStyle/>
          <a:p>
            <a:pPr indent="0" marL="0">
              <a:buNone/>
            </a:pPr>
            <a:r>
              <a:rPr lang="en-US" sz="1000" dirty="0">
                <a:solidFill>
                  <a:srgbClr val="2C3E50"/>
                </a:solidFill>
                <a:latin typeface="Calibri" pitchFamily="34" charset="0"/>
                <a:ea typeface="Calibri" pitchFamily="34" charset="-122"/>
                <a:cs typeface="Calibri" pitchFamily="34" charset="-120"/>
              </a:rPr>
              <a:t>States cannot enforce assimilation or maintain cultural homogeneity</a:t>
            </a:r>
            <a:endParaRPr lang="en-US" sz="1000" dirty="0"/>
          </a:p>
        </p:txBody>
      </p:sp>
      <p:sp>
        <p:nvSpPr>
          <p:cNvPr id="14" name="Shape 12"/>
          <p:cNvSpPr/>
          <p:nvPr/>
        </p:nvSpPr>
        <p:spPr>
          <a:xfrm>
            <a:off x="457200" y="3017520"/>
            <a:ext cx="320040" cy="320040"/>
          </a:xfrm>
          <a:prstGeom prst="ellipse">
            <a:avLst/>
          </a:prstGeom>
          <a:solidFill>
            <a:srgbClr val="C1121F"/>
          </a:solidFill>
          <a:ln/>
        </p:spPr>
      </p:sp>
      <p:sp>
        <p:nvSpPr>
          <p:cNvPr id="15" name="Text 13"/>
          <p:cNvSpPr/>
          <p:nvPr/>
        </p:nvSpPr>
        <p:spPr>
          <a:xfrm>
            <a:off x="457200" y="3017520"/>
            <a:ext cx="320040" cy="3200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Text 14"/>
          <p:cNvSpPr/>
          <p:nvPr/>
        </p:nvSpPr>
        <p:spPr>
          <a:xfrm>
            <a:off x="914400" y="3017520"/>
            <a:ext cx="3200400" cy="164592"/>
          </a:xfrm>
          <a:prstGeom prst="rect">
            <a:avLst/>
          </a:prstGeom>
          <a:noFill/>
          <a:ln/>
        </p:spPr>
        <p:txBody>
          <a:bodyPr wrap="square" rtlCol="0" anchor="ctr"/>
          <a:lstStyle/>
          <a:p>
            <a:pPr indent="0" marL="0">
              <a:buNone/>
            </a:pPr>
            <a:r>
              <a:rPr lang="en-US" sz="1100" b="1" dirty="0">
                <a:solidFill>
                  <a:srgbClr val="C1121F"/>
                </a:solidFill>
                <a:latin typeface="Calibri" pitchFamily="34" charset="0"/>
                <a:ea typeface="Calibri" pitchFamily="34" charset="-122"/>
                <a:cs typeface="Calibri" pitchFamily="34" charset="-120"/>
              </a:rPr>
              <a:t>Ontological Challenge</a:t>
            </a:r>
            <a:endParaRPr lang="en-US" sz="1100" dirty="0"/>
          </a:p>
        </p:txBody>
      </p:sp>
      <p:sp>
        <p:nvSpPr>
          <p:cNvPr id="17" name="Text 15"/>
          <p:cNvSpPr/>
          <p:nvPr/>
        </p:nvSpPr>
        <p:spPr>
          <a:xfrm>
            <a:off x="914400" y="3218688"/>
            <a:ext cx="7772400" cy="320040"/>
          </a:xfrm>
          <a:prstGeom prst="rect">
            <a:avLst/>
          </a:prstGeom>
          <a:noFill/>
          <a:ln/>
        </p:spPr>
        <p:txBody>
          <a:bodyPr wrap="square" rtlCol="0" anchor="ctr"/>
          <a:lstStyle/>
          <a:p>
            <a:pPr indent="0" marL="0">
              <a:buNone/>
            </a:pPr>
            <a:r>
              <a:rPr lang="en-US" sz="1000" dirty="0">
                <a:solidFill>
                  <a:srgbClr val="2C3E50"/>
                </a:solidFill>
                <a:latin typeface="Calibri" pitchFamily="34" charset="0"/>
                <a:ea typeface="Calibri" pitchFamily="34" charset="-122"/>
                <a:cs typeface="Calibri" pitchFamily="34" charset="-120"/>
              </a:rPr>
              <a:t>The very concept of 'home', 'belonging', and 'nationality' becomes unclear</a:t>
            </a:r>
            <a:endParaRPr lang="en-US" sz="1000" dirty="0"/>
          </a:p>
        </p:txBody>
      </p:sp>
      <p:sp>
        <p:nvSpPr>
          <p:cNvPr id="18" name="Text 16"/>
          <p:cNvSpPr/>
          <p:nvPr/>
        </p:nvSpPr>
        <p:spPr>
          <a:xfrm>
            <a:off x="457200" y="4480560"/>
            <a:ext cx="8229600" cy="320040"/>
          </a:xfrm>
          <a:prstGeom prst="rect">
            <a:avLst/>
          </a:prstGeom>
          <a:noFill/>
          <a:ln/>
        </p:spPr>
        <p:txBody>
          <a:bodyPr wrap="square" rtlCol="0" anchor="ctr"/>
          <a:lstStyle/>
          <a:p>
            <a:pPr indent="0" marL="0">
              <a:buNone/>
            </a:pPr>
            <a:r>
              <a:rPr lang="en-US" sz="1000" i="1" dirty="0">
                <a:solidFill>
                  <a:srgbClr val="6C757D"/>
                </a:solidFill>
                <a:latin typeface="Calibri" pitchFamily="34" charset="0"/>
                <a:ea typeface="Calibri" pitchFamily="34" charset="-122"/>
                <a:cs typeface="Calibri" pitchFamily="34" charset="-120"/>
              </a:rPr>
              <a:t>Jonathan Rutherford's key question: 'Where do we belong when we live in a neighbourhood like this one?'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1F4B"/>
          </a:solidFill>
          <a:ln/>
        </p:spPr>
      </p:sp>
      <p:sp>
        <p:nvSpPr>
          <p:cNvPr id="3" name="Text 1"/>
          <p:cNvSpPr/>
          <p:nvPr/>
        </p:nvSpPr>
        <p:spPr>
          <a:xfrm>
            <a:off x="457200" y="137160"/>
            <a:ext cx="8229600" cy="41148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Argument 4: Evidence – The Rutherford Example</a:t>
            </a:r>
            <a:endParaRPr lang="en-US" sz="2800" dirty="0"/>
          </a:p>
        </p:txBody>
      </p:sp>
      <p:sp>
        <p:nvSpPr>
          <p:cNvPr id="4" name="Text 2"/>
          <p:cNvSpPr/>
          <p:nvPr/>
        </p:nvSpPr>
        <p:spPr>
          <a:xfrm>
            <a:off x="457200" y="868680"/>
            <a:ext cx="8229600" cy="182880"/>
          </a:xfrm>
          <a:prstGeom prst="rect">
            <a:avLst/>
          </a:prstGeom>
          <a:noFill/>
          <a:ln/>
        </p:spPr>
        <p:txBody>
          <a:bodyPr wrap="square" rtlCol="0" anchor="ctr"/>
          <a:lstStyle/>
          <a:p>
            <a:pPr indent="0" marL="0">
              <a:buNone/>
            </a:pPr>
            <a:r>
              <a:rPr lang="en-US" sz="1100" b="1" dirty="0">
                <a:solidFill>
                  <a:srgbClr val="C1121F"/>
                </a:solidFill>
                <a:latin typeface="Calibri" pitchFamily="34" charset="0"/>
                <a:ea typeface="Calibri" pitchFamily="34" charset="-122"/>
                <a:cs typeface="Calibri" pitchFamily="34" charset="-120"/>
              </a:rPr>
              <a:t>Quote – Living in Diaspora Without Boundaries:</a:t>
            </a:r>
            <a:endParaRPr lang="en-US" sz="1100" dirty="0"/>
          </a:p>
        </p:txBody>
      </p:sp>
      <p:sp>
        <p:nvSpPr>
          <p:cNvPr id="5" name="Shape 3"/>
          <p:cNvSpPr/>
          <p:nvPr/>
        </p:nvSpPr>
        <p:spPr>
          <a:xfrm>
            <a:off x="457200" y="1097280"/>
            <a:ext cx="8229600" cy="1188720"/>
          </a:xfrm>
          <a:prstGeom prst="rect">
            <a:avLst/>
          </a:prstGeom>
          <a:solidFill>
            <a:srgbClr val="E8EEF7"/>
          </a:solidFill>
          <a:ln w="12700">
            <a:solidFill>
              <a:srgbClr val="C1121F"/>
            </a:solidFill>
            <a:prstDash val="solid"/>
          </a:ln>
        </p:spPr>
      </p:sp>
      <p:sp>
        <p:nvSpPr>
          <p:cNvPr id="6" name="Text 4"/>
          <p:cNvSpPr/>
          <p:nvPr/>
        </p:nvSpPr>
        <p:spPr>
          <a:xfrm>
            <a:off x="640080" y="1188720"/>
            <a:ext cx="7863840" cy="1005840"/>
          </a:xfrm>
          <a:prstGeom prst="rect">
            <a:avLst/>
          </a:prstGeom>
          <a:noFill/>
          <a:ln/>
        </p:spPr>
        <p:txBody>
          <a:bodyPr wrap="square" rtlCol="0" anchor="ctr"/>
          <a:lstStyle/>
          <a:p>
            <a:pPr indent="0" marL="0">
              <a:buNone/>
            </a:pPr>
            <a:r>
              <a:rPr lang="en-US" sz="950" i="1" dirty="0">
                <a:solidFill>
                  <a:srgbClr val="2C3E50"/>
                </a:solidFill>
                <a:latin typeface="Calibri" pitchFamily="34" charset="0"/>
                <a:ea typeface="Calibri" pitchFamily="34" charset="-122"/>
                <a:cs typeface="Calibri" pitchFamily="34" charset="-120"/>
              </a:rPr>
              <a:t>"The residents of the London street...belong to a neighbourhood of communities widely different from one another in terms of their culture, language and customs...It is a neighbourhood of meandering, spongy and porous boundaries, in which it is difficult to ascertain who legally belongs and who is a stranger, who is at home, and who is an intruder. Where do we belong when we live in a neighbourhood like this one?"</a:t>
            </a:r>
            <a:endParaRPr lang="en-US" sz="950" dirty="0"/>
          </a:p>
        </p:txBody>
      </p:sp>
      <p:sp>
        <p:nvSpPr>
          <p:cNvPr id="7" name="Text 5"/>
          <p:cNvSpPr/>
          <p:nvPr/>
        </p:nvSpPr>
        <p:spPr>
          <a:xfrm>
            <a:off x="457200" y="2423160"/>
            <a:ext cx="8229600" cy="182880"/>
          </a:xfrm>
          <a:prstGeom prst="rect">
            <a:avLst/>
          </a:prstGeom>
          <a:noFill/>
          <a:ln/>
        </p:spPr>
        <p:txBody>
          <a:bodyPr wrap="square" rtlCol="0" anchor="ctr"/>
          <a:lstStyle/>
          <a:p>
            <a:pPr indent="0" marL="0">
              <a:buNone/>
            </a:pPr>
            <a:r>
              <a:rPr lang="en-US" sz="1100" b="1" dirty="0">
                <a:solidFill>
                  <a:srgbClr val="C1121F"/>
                </a:solidFill>
                <a:latin typeface="Calibri" pitchFamily="34" charset="0"/>
                <a:ea typeface="Calibri" pitchFamily="34" charset="-122"/>
                <a:cs typeface="Calibri" pitchFamily="34" charset="-120"/>
              </a:rPr>
              <a:t>The Permanent Condition:</a:t>
            </a:r>
            <a:endParaRPr lang="en-US" sz="1100" dirty="0"/>
          </a:p>
        </p:txBody>
      </p:sp>
      <p:sp>
        <p:nvSpPr>
          <p:cNvPr id="8" name="Shape 6"/>
          <p:cNvSpPr/>
          <p:nvPr/>
        </p:nvSpPr>
        <p:spPr>
          <a:xfrm>
            <a:off x="457200" y="2651760"/>
            <a:ext cx="8229600" cy="1371600"/>
          </a:xfrm>
          <a:prstGeom prst="rect">
            <a:avLst/>
          </a:prstGeom>
          <a:solidFill>
            <a:srgbClr val="E8EEF7"/>
          </a:solidFill>
          <a:ln w="12700">
            <a:solidFill>
              <a:srgbClr val="C1121F"/>
            </a:solidFill>
            <a:prstDash val="solid"/>
          </a:ln>
        </p:spPr>
      </p:sp>
      <p:sp>
        <p:nvSpPr>
          <p:cNvPr id="9" name="Text 7"/>
          <p:cNvSpPr/>
          <p:nvPr/>
        </p:nvSpPr>
        <p:spPr>
          <a:xfrm>
            <a:off x="640080" y="2743200"/>
            <a:ext cx="7863840" cy="1188720"/>
          </a:xfrm>
          <a:prstGeom prst="rect">
            <a:avLst/>
          </a:prstGeom>
          <a:noFill/>
          <a:ln/>
        </p:spPr>
        <p:txBody>
          <a:bodyPr wrap="square" rtlCol="0" anchor="ctr"/>
          <a:lstStyle/>
          <a:p>
            <a:pPr indent="0" marL="0">
              <a:buNone/>
            </a:pPr>
            <a:r>
              <a:rPr lang="en-US" sz="950" i="1" dirty="0">
                <a:solidFill>
                  <a:srgbClr val="2C3E50"/>
                </a:solidFill>
                <a:latin typeface="Calibri" pitchFamily="34" charset="0"/>
                <a:ea typeface="Calibri" pitchFamily="34" charset="-122"/>
                <a:cs typeface="Calibri" pitchFamily="34" charset="-120"/>
              </a:rPr>
              <a:t>"The lives of many, perhaps the majority of us Europeans are lived today in diaspora...For the first time the 'art of living with difference' has become an everyday problem. This problem could materialize only at a point when the differences between people had ceased to be perceived merely as transitory irritants. Unlike in the past, the reality of living in close proximity with strangers seems to be here to stay..."</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1F4B"/>
          </a:solidFill>
          <a:ln/>
        </p:spPr>
      </p:sp>
      <p:sp>
        <p:nvSpPr>
          <p:cNvPr id="3" name="Text 1"/>
          <p:cNvSpPr/>
          <p:nvPr/>
        </p:nvSpPr>
        <p:spPr>
          <a:xfrm>
            <a:off x="457200" y="137160"/>
            <a:ext cx="8229600" cy="41148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Argument 5: Global Power &amp; the 'Divide and Rule' Strategy</a:t>
            </a:r>
            <a:endParaRPr lang="en-US" sz="2800" dirty="0"/>
          </a:p>
        </p:txBody>
      </p:sp>
      <p:sp>
        <p:nvSpPr>
          <p:cNvPr id="4" name="Text 2"/>
          <p:cNvSpPr/>
          <p:nvPr/>
        </p:nvSpPr>
        <p:spPr>
          <a:xfrm>
            <a:off x="457200" y="868680"/>
            <a:ext cx="8229600" cy="365760"/>
          </a:xfrm>
          <a:prstGeom prst="rect">
            <a:avLst/>
          </a:prstGeom>
          <a:noFill/>
          <a:ln/>
        </p:spPr>
        <p:txBody>
          <a:bodyPr wrap="square" rtlCol="0" anchor="ctr"/>
          <a:lstStyle/>
          <a:p>
            <a:pPr indent="0" marL="0">
              <a:buNone/>
            </a:pPr>
            <a:r>
              <a:rPr lang="en-US" sz="1100" i="1" dirty="0">
                <a:solidFill>
                  <a:srgbClr val="6C757D"/>
                </a:solidFill>
                <a:latin typeface="Calibri" pitchFamily="34" charset="0"/>
                <a:ea typeface="Calibri" pitchFamily="34" charset="-122"/>
                <a:cs typeface="Calibri" pitchFamily="34" charset="-120"/>
              </a:rPr>
              <a:t>Bauman argues that cultural fragmentation and ethnic tensions are NOT accidental by-products, but STRATEGIC outcomes benefiting global elites.</a:t>
            </a:r>
            <a:endParaRPr lang="en-US" sz="1100" dirty="0"/>
          </a:p>
        </p:txBody>
      </p:sp>
      <p:sp>
        <p:nvSpPr>
          <p:cNvPr id="5" name="Text 3"/>
          <p:cNvSpPr/>
          <p:nvPr/>
        </p:nvSpPr>
        <p:spPr>
          <a:xfrm>
            <a:off x="457200" y="1325880"/>
            <a:ext cx="8229600" cy="182880"/>
          </a:xfrm>
          <a:prstGeom prst="rect">
            <a:avLst/>
          </a:prstGeom>
          <a:noFill/>
          <a:ln/>
        </p:spPr>
        <p:txBody>
          <a:bodyPr wrap="square" rtlCol="0" anchor="ctr"/>
          <a:lstStyle/>
          <a:p>
            <a:pPr indent="0" marL="0">
              <a:buNone/>
            </a:pPr>
            <a:r>
              <a:rPr lang="en-US" sz="1100" b="1" dirty="0">
                <a:solidFill>
                  <a:srgbClr val="C1121F"/>
                </a:solidFill>
                <a:latin typeface="Calibri" pitchFamily="34" charset="0"/>
                <a:ea typeface="Calibri" pitchFamily="34" charset="-122"/>
                <a:cs typeface="Calibri" pitchFamily="34" charset="-120"/>
              </a:rPr>
              <a:t>How 'Divide and Rule' Works:</a:t>
            </a:r>
            <a:endParaRPr lang="en-US" sz="1100" dirty="0"/>
          </a:p>
        </p:txBody>
      </p:sp>
      <p:sp>
        <p:nvSpPr>
          <p:cNvPr id="6" name="Shape 4"/>
          <p:cNvSpPr/>
          <p:nvPr/>
        </p:nvSpPr>
        <p:spPr>
          <a:xfrm>
            <a:off x="457200" y="1554480"/>
            <a:ext cx="8229600" cy="3108960"/>
          </a:xfrm>
          <a:prstGeom prst="rect">
            <a:avLst/>
          </a:prstGeom>
          <a:solidFill>
            <a:srgbClr val="F8F9FA"/>
          </a:solidFill>
          <a:ln w="12700">
            <a:solidFill>
              <a:srgbClr val="6C757D"/>
            </a:solidFill>
            <a:prstDash val="solid"/>
          </a:ln>
        </p:spPr>
      </p:sp>
      <p:sp>
        <p:nvSpPr>
          <p:cNvPr id="7" name="Text 5"/>
          <p:cNvSpPr/>
          <p:nvPr/>
        </p:nvSpPr>
        <p:spPr>
          <a:xfrm>
            <a:off x="640080" y="1691640"/>
            <a:ext cx="7863840" cy="256032"/>
          </a:xfrm>
          <a:prstGeom prst="rect">
            <a:avLst/>
          </a:prstGeom>
          <a:noFill/>
          <a:ln/>
        </p:spPr>
        <p:txBody>
          <a:bodyPr wrap="square" rtlCol="0" anchor="ctr"/>
          <a:lstStyle/>
          <a:p>
            <a:pPr indent="0" marL="0">
              <a:buNone/>
            </a:pPr>
            <a:r>
              <a:rPr lang="en-US" sz="950" dirty="0">
                <a:solidFill>
                  <a:srgbClr val="2C3E50"/>
                </a:solidFill>
                <a:latin typeface="Calibri" pitchFamily="34" charset="0"/>
                <a:ea typeface="Calibri" pitchFamily="34" charset="-122"/>
                <a:cs typeface="Calibri" pitchFamily="34" charset="-120"/>
              </a:rPr>
              <a:t>1. FRAGMENTATION: Keep diverse grievances and resentments SEPARATE and competing</a:t>
            </a:r>
            <a:endParaRPr lang="en-US" sz="950" dirty="0"/>
          </a:p>
        </p:txBody>
      </p:sp>
      <p:sp>
        <p:nvSpPr>
          <p:cNvPr id="8" name="Text 6"/>
          <p:cNvSpPr/>
          <p:nvPr/>
        </p:nvSpPr>
        <p:spPr>
          <a:xfrm>
            <a:off x="640080" y="1984248"/>
            <a:ext cx="7863840" cy="256032"/>
          </a:xfrm>
          <a:prstGeom prst="rect">
            <a:avLst/>
          </a:prstGeom>
          <a:noFill/>
          <a:ln/>
        </p:spPr>
        <p:txBody>
          <a:bodyPr wrap="square" rtlCol="0" anchor="ctr"/>
          <a:lstStyle/>
          <a:p>
            <a:pPr indent="0" marL="0">
              <a:buNone/>
            </a:pPr>
            <a:r>
              <a:rPr lang="en-US" sz="950" dirty="0">
                <a:solidFill>
                  <a:srgbClr val="2C3E50"/>
                </a:solidFill>
                <a:latin typeface="Calibri" pitchFamily="34" charset="0"/>
                <a:ea typeface="Calibri" pitchFamily="34" charset="-122"/>
                <a:cs typeface="Calibri" pitchFamily="34" charset="-120"/>
              </a:rPr>
              <a:t>2. DISTRACTION: Direct public attention toward ethnic/religious conflicts rather than economic inequality</a:t>
            </a:r>
            <a:endParaRPr lang="en-US" sz="950" dirty="0"/>
          </a:p>
        </p:txBody>
      </p:sp>
      <p:sp>
        <p:nvSpPr>
          <p:cNvPr id="9" name="Text 7"/>
          <p:cNvSpPr/>
          <p:nvPr/>
        </p:nvSpPr>
        <p:spPr>
          <a:xfrm>
            <a:off x="640080" y="2276856"/>
            <a:ext cx="7863840" cy="256032"/>
          </a:xfrm>
          <a:prstGeom prst="rect">
            <a:avLst/>
          </a:prstGeom>
          <a:noFill/>
          <a:ln/>
        </p:spPr>
        <p:txBody>
          <a:bodyPr wrap="square" rtlCol="0" anchor="ctr"/>
          <a:lstStyle/>
          <a:p>
            <a:pPr indent="0" marL="0">
              <a:buNone/>
            </a:pPr>
            <a:r>
              <a:rPr lang="en-US" sz="950" dirty="0">
                <a:solidFill>
                  <a:srgbClr val="2C3E50"/>
                </a:solidFill>
                <a:latin typeface="Calibri" pitchFamily="34" charset="0"/>
                <a:ea typeface="Calibri" pitchFamily="34" charset="-122"/>
                <a:cs typeface="Calibri" pitchFamily="34" charset="-120"/>
              </a:rPr>
              <a:t>3. POWERLESSNESS: When poor fight poor, the rich face no unified opposition</a:t>
            </a:r>
            <a:endParaRPr lang="en-US" sz="950" dirty="0"/>
          </a:p>
        </p:txBody>
      </p:sp>
      <p:sp>
        <p:nvSpPr>
          <p:cNvPr id="10" name="Text 8"/>
          <p:cNvSpPr/>
          <p:nvPr/>
        </p:nvSpPr>
        <p:spPr>
          <a:xfrm>
            <a:off x="640080" y="2569464"/>
            <a:ext cx="7863840" cy="256032"/>
          </a:xfrm>
          <a:prstGeom prst="rect">
            <a:avLst/>
          </a:prstGeom>
          <a:noFill/>
          <a:ln/>
        </p:spPr>
        <p:txBody>
          <a:bodyPr wrap="square" rtlCol="0" anchor="ctr"/>
          <a:lstStyle/>
          <a:p>
            <a:pPr indent="0" marL="0">
              <a:buNone/>
            </a:pPr>
            <a:r>
              <a:rPr lang="en-US" sz="950" dirty="0">
                <a:solidFill>
                  <a:srgbClr val="2C3E50"/>
                </a:solidFill>
                <a:latin typeface="Calibri" pitchFamily="34" charset="0"/>
                <a:ea typeface="Calibri" pitchFamily="34" charset="-122"/>
                <a:cs typeface="Calibri" pitchFamily="34" charset="-120"/>
              </a:rPr>
              <a:t>4. DISTANCE: Global elite operate in 'space of flows' – detached from territorial consequences</a:t>
            </a:r>
            <a:endParaRPr lang="en-US" sz="950" dirty="0"/>
          </a:p>
        </p:txBody>
      </p:sp>
      <p:sp>
        <p:nvSpPr>
          <p:cNvPr id="11" name="Text 9"/>
          <p:cNvSpPr/>
          <p:nvPr/>
        </p:nvSpPr>
        <p:spPr>
          <a:xfrm>
            <a:off x="640080" y="2862072"/>
            <a:ext cx="7863840" cy="256032"/>
          </a:xfrm>
          <a:prstGeom prst="rect">
            <a:avLst/>
          </a:prstGeom>
          <a:noFill/>
          <a:ln/>
        </p:spPr>
        <p:txBody>
          <a:bodyPr wrap="square" rtlCol="0" anchor="ctr"/>
          <a:lstStyle/>
          <a:p>
            <a:pPr indent="0" marL="0">
              <a:buNone/>
            </a:pPr>
            <a:r>
              <a:rPr lang="en-US" sz="950" dirty="0">
                <a:solidFill>
                  <a:srgbClr val="2C3E50"/>
                </a:solidFill>
                <a:latin typeface="Calibri" pitchFamily="34" charset="0"/>
                <a:ea typeface="Calibri" pitchFamily="34" charset="-122"/>
                <a:cs typeface="Calibri" pitchFamily="34" charset="-120"/>
              </a:rPr>
              <a:t>5. MANIPULATION: Media creates pseudo-events to keep populations distracted from structural causes</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1F4B"/>
          </a:solidFill>
          <a:ln/>
        </p:spPr>
      </p:sp>
      <p:sp>
        <p:nvSpPr>
          <p:cNvPr id="3" name="Text 1"/>
          <p:cNvSpPr/>
          <p:nvPr/>
        </p:nvSpPr>
        <p:spPr>
          <a:xfrm>
            <a:off x="457200" y="137160"/>
            <a:ext cx="8229600" cy="41148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Argument 5: Evidence – The Rorty Quote on Elite Strategy</a:t>
            </a:r>
            <a:endParaRPr lang="en-US" sz="2800" dirty="0"/>
          </a:p>
        </p:txBody>
      </p:sp>
      <p:sp>
        <p:nvSpPr>
          <p:cNvPr id="4" name="Text 2"/>
          <p:cNvSpPr/>
          <p:nvPr/>
        </p:nvSpPr>
        <p:spPr>
          <a:xfrm>
            <a:off x="457200" y="868680"/>
            <a:ext cx="8229600" cy="182880"/>
          </a:xfrm>
          <a:prstGeom prst="rect">
            <a:avLst/>
          </a:prstGeom>
          <a:noFill/>
          <a:ln/>
        </p:spPr>
        <p:txBody>
          <a:bodyPr wrap="square" rtlCol="0" anchor="ctr"/>
          <a:lstStyle/>
          <a:p>
            <a:pPr indent="0" marL="0">
              <a:buNone/>
            </a:pPr>
            <a:r>
              <a:rPr lang="en-US" sz="1100" b="1" dirty="0">
                <a:solidFill>
                  <a:srgbClr val="C1121F"/>
                </a:solidFill>
                <a:latin typeface="Calibri" pitchFamily="34" charset="0"/>
                <a:ea typeface="Calibri" pitchFamily="34" charset="-122"/>
                <a:cs typeface="Calibri" pitchFamily="34" charset="-120"/>
              </a:rPr>
              <a:t>Key Quote – Elite Interests in Distraction:</a:t>
            </a:r>
            <a:endParaRPr lang="en-US" sz="1100" dirty="0"/>
          </a:p>
        </p:txBody>
      </p:sp>
      <p:sp>
        <p:nvSpPr>
          <p:cNvPr id="5" name="Shape 3"/>
          <p:cNvSpPr/>
          <p:nvPr/>
        </p:nvSpPr>
        <p:spPr>
          <a:xfrm>
            <a:off x="457200" y="1097280"/>
            <a:ext cx="8229600" cy="1188720"/>
          </a:xfrm>
          <a:prstGeom prst="rect">
            <a:avLst/>
          </a:prstGeom>
          <a:solidFill>
            <a:srgbClr val="E8EEF7"/>
          </a:solidFill>
          <a:ln w="12700">
            <a:solidFill>
              <a:srgbClr val="C1121F"/>
            </a:solidFill>
            <a:prstDash val="solid"/>
          </a:ln>
        </p:spPr>
      </p:sp>
      <p:sp>
        <p:nvSpPr>
          <p:cNvPr id="6" name="Text 4"/>
          <p:cNvSpPr/>
          <p:nvPr/>
        </p:nvSpPr>
        <p:spPr>
          <a:xfrm>
            <a:off x="640080" y="1188720"/>
            <a:ext cx="7863840" cy="1005840"/>
          </a:xfrm>
          <a:prstGeom prst="rect">
            <a:avLst/>
          </a:prstGeom>
          <a:noFill/>
          <a:ln/>
        </p:spPr>
        <p:txBody>
          <a:bodyPr wrap="square" rtlCol="0" anchor="ctr"/>
          <a:lstStyle/>
          <a:p>
            <a:pPr indent="0" marL="0">
              <a:buNone/>
            </a:pPr>
            <a:r>
              <a:rPr lang="en-US" sz="950" i="1" dirty="0">
                <a:solidFill>
                  <a:srgbClr val="2C3E50"/>
                </a:solidFill>
                <a:latin typeface="Calibri" pitchFamily="34" charset="0"/>
                <a:ea typeface="Calibri" pitchFamily="34" charset="-122"/>
                <a:cs typeface="Calibri" pitchFamily="34" charset="-120"/>
              </a:rPr>
              <a:t>"The aim will be to keep the minds of the proles elsewhere – to keep the bottom 75 percent of Americans and the bottom 95 percent of the world's population busy with ethnic and religious hostilities, and with debates about sexual mores. If the proles can be distracted from their own despair by media-created pseudo-events, including the occasional brief and bloody wars, the super rich will have little to fear." (Richard Rorty)</a:t>
            </a:r>
            <a:endParaRPr lang="en-US" sz="950" dirty="0"/>
          </a:p>
        </p:txBody>
      </p:sp>
      <p:sp>
        <p:nvSpPr>
          <p:cNvPr id="7" name="Text 5"/>
          <p:cNvSpPr/>
          <p:nvPr/>
        </p:nvSpPr>
        <p:spPr>
          <a:xfrm>
            <a:off x="457200" y="2423160"/>
            <a:ext cx="8229600" cy="182880"/>
          </a:xfrm>
          <a:prstGeom prst="rect">
            <a:avLst/>
          </a:prstGeom>
          <a:noFill/>
          <a:ln/>
        </p:spPr>
        <p:txBody>
          <a:bodyPr wrap="square" rtlCol="0" anchor="ctr"/>
          <a:lstStyle/>
          <a:p>
            <a:pPr indent="0" marL="0">
              <a:buNone/>
            </a:pPr>
            <a:r>
              <a:rPr lang="en-US" sz="1100" b="1" dirty="0">
                <a:solidFill>
                  <a:srgbClr val="C1121F"/>
                </a:solidFill>
                <a:latin typeface="Calibri" pitchFamily="34" charset="0"/>
                <a:ea typeface="Calibri" pitchFamily="34" charset="-122"/>
                <a:cs typeface="Calibri" pitchFamily="34" charset="-120"/>
              </a:rPr>
              <a:t>Bauman's Analysis:</a:t>
            </a:r>
            <a:endParaRPr lang="en-US" sz="1100" dirty="0"/>
          </a:p>
        </p:txBody>
      </p:sp>
      <p:sp>
        <p:nvSpPr>
          <p:cNvPr id="8" name="Text 6"/>
          <p:cNvSpPr/>
          <p:nvPr/>
        </p:nvSpPr>
        <p:spPr>
          <a:xfrm>
            <a:off x="640080" y="2697480"/>
            <a:ext cx="7863840" cy="1371600"/>
          </a:xfrm>
          <a:prstGeom prst="rect">
            <a:avLst/>
          </a:prstGeom>
          <a:noFill/>
          <a:ln/>
        </p:spPr>
        <p:txBody>
          <a:bodyPr wrap="square" rtlCol="0" anchor="ctr"/>
          <a:lstStyle/>
          <a:p>
            <a:pPr indent="0" marL="0">
              <a:buNone/>
            </a:pPr>
            <a:r>
              <a:rPr lang="en-US" sz="1000" dirty="0">
                <a:solidFill>
                  <a:srgbClr val="2C3E50"/>
                </a:solidFill>
                <a:latin typeface="Calibri" pitchFamily="34" charset="0"/>
                <a:ea typeface="Calibri" pitchFamily="34" charset="-122"/>
                <a:cs typeface="Calibri" pitchFamily="34" charset="-120"/>
              </a:rPr>
              <a:t>• When the poor lock horns with the poor, the rich have reason to rejoice
</a:t>
            </a:r>
            <a:endParaRPr lang="en-US" sz="1000" dirty="0"/>
          </a:p>
          <a:p>
            <a:pPr indent="0" marL="0">
              <a:buNone/>
            </a:pPr>
            <a:r>
              <a:rPr lang="en-US" sz="1000" dirty="0">
                <a:solidFill>
                  <a:srgbClr val="2C3E50"/>
                </a:solidFill>
                <a:latin typeface="Calibri" pitchFamily="34" charset="0"/>
                <a:ea typeface="Calibri" pitchFamily="34" charset="-122"/>
                <a:cs typeface="Calibri" pitchFamily="34" charset="-120"/>
              </a:rPr>
              <a:t>• Global powers operate in 'space of flows' – they can escape territorial accountability
</a:t>
            </a:r>
            <a:endParaRPr lang="en-US" sz="1000" dirty="0"/>
          </a:p>
          <a:p>
            <a:pPr indent="0" marL="0">
              <a:buNone/>
            </a:pPr>
            <a:r>
              <a:rPr lang="en-US" sz="1000" dirty="0">
                <a:solidFill>
                  <a:srgbClr val="2C3E50"/>
                </a:solidFill>
                <a:latin typeface="Calibri" pitchFamily="34" charset="0"/>
                <a:ea typeface="Calibri" pitchFamily="34" charset="-122"/>
                <a:cs typeface="Calibri" pitchFamily="34" charset="-120"/>
              </a:rPr>
              <a:t>• They depend on 'space of localities' (the natives) remaining fragmented and quarrelsome
</a:t>
            </a:r>
            <a:endParaRPr lang="en-US" sz="1000" dirty="0"/>
          </a:p>
          <a:p>
            <a:pPr indent="0" marL="0">
              <a:buNone/>
            </a:pPr>
            <a:r>
              <a:rPr lang="en-US" sz="1000" dirty="0">
                <a:solidFill>
                  <a:srgbClr val="2C3E50"/>
                </a:solidFill>
                <a:latin typeface="Calibri" pitchFamily="34" charset="0"/>
                <a:ea typeface="Calibri" pitchFamily="34" charset="-122"/>
                <a:cs typeface="Calibri" pitchFamily="34" charset="-120"/>
              </a:rPr>
              <a:t>• Managers of global order need 'an inexhaustible abundance of local unrest'</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1F4B"/>
          </a:solidFill>
          <a:ln/>
        </p:spPr>
      </p:sp>
      <p:sp>
        <p:nvSpPr>
          <p:cNvPr id="3" name="Text 1"/>
          <p:cNvSpPr/>
          <p:nvPr/>
        </p:nvSpPr>
        <p:spPr>
          <a:xfrm>
            <a:off x="457200" y="137160"/>
            <a:ext cx="8229600" cy="41148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Argument 5: Evidence – 'Space of Flows' vs 'Space of Localities'</a:t>
            </a:r>
            <a:endParaRPr lang="en-US" sz="2800" dirty="0"/>
          </a:p>
        </p:txBody>
      </p:sp>
      <p:sp>
        <p:nvSpPr>
          <p:cNvPr id="4" name="Text 2"/>
          <p:cNvSpPr/>
          <p:nvPr/>
        </p:nvSpPr>
        <p:spPr>
          <a:xfrm>
            <a:off x="457200" y="868680"/>
            <a:ext cx="8229600" cy="274320"/>
          </a:xfrm>
          <a:prstGeom prst="rect">
            <a:avLst/>
          </a:prstGeom>
          <a:noFill/>
          <a:ln/>
        </p:spPr>
        <p:txBody>
          <a:bodyPr wrap="square" rtlCol="0" anchor="ctr"/>
          <a:lstStyle/>
          <a:p>
            <a:pPr indent="0" marL="0">
              <a:buNone/>
            </a:pPr>
            <a:r>
              <a:rPr lang="en-US" sz="1100" i="1" dirty="0">
                <a:solidFill>
                  <a:srgbClr val="6C757D"/>
                </a:solidFill>
                <a:latin typeface="Calibri" pitchFamily="34" charset="0"/>
                <a:ea typeface="Calibri" pitchFamily="34" charset="-122"/>
                <a:cs typeface="Calibri" pitchFamily="34" charset="-120"/>
              </a:rPr>
              <a:t>The Fundamental Asymmetry in Contemporary Global Power:</a:t>
            </a:r>
            <a:endParaRPr lang="en-US" sz="1100" dirty="0"/>
          </a:p>
        </p:txBody>
      </p:sp>
      <p:sp>
        <p:nvSpPr>
          <p:cNvPr id="5" name="Shape 3"/>
          <p:cNvSpPr/>
          <p:nvPr/>
        </p:nvSpPr>
        <p:spPr>
          <a:xfrm>
            <a:off x="457200" y="1280160"/>
            <a:ext cx="4023360" cy="3200400"/>
          </a:xfrm>
          <a:prstGeom prst="rect">
            <a:avLst/>
          </a:prstGeom>
          <a:solidFill>
            <a:srgbClr val="FCE4EC"/>
          </a:solidFill>
          <a:ln w="25400">
            <a:solidFill>
              <a:srgbClr val="C1121F"/>
            </a:solidFill>
            <a:prstDash val="solid"/>
          </a:ln>
        </p:spPr>
      </p:sp>
      <p:sp>
        <p:nvSpPr>
          <p:cNvPr id="6" name="Text 4"/>
          <p:cNvSpPr/>
          <p:nvPr/>
        </p:nvSpPr>
        <p:spPr>
          <a:xfrm>
            <a:off x="640080" y="1417320"/>
            <a:ext cx="3657600" cy="228600"/>
          </a:xfrm>
          <a:prstGeom prst="rect">
            <a:avLst/>
          </a:prstGeom>
          <a:noFill/>
          <a:ln/>
        </p:spPr>
        <p:txBody>
          <a:bodyPr wrap="square" rtlCol="0" anchor="ctr"/>
          <a:lstStyle/>
          <a:p>
            <a:pPr indent="0" marL="0">
              <a:buNone/>
            </a:pPr>
            <a:r>
              <a:rPr lang="en-US" sz="1200" b="1" dirty="0">
                <a:solidFill>
                  <a:srgbClr val="C1121F"/>
                </a:solidFill>
                <a:latin typeface="Calibri" pitchFamily="34" charset="0"/>
                <a:ea typeface="Calibri" pitchFamily="34" charset="-122"/>
                <a:cs typeface="Calibri" pitchFamily="34" charset="-120"/>
              </a:rPr>
              <a:t>SPACE OF FLOWS</a:t>
            </a:r>
            <a:endParaRPr lang="en-US" sz="1200" dirty="0"/>
          </a:p>
        </p:txBody>
      </p:sp>
      <p:sp>
        <p:nvSpPr>
          <p:cNvPr id="7" name="Text 5"/>
          <p:cNvSpPr/>
          <p:nvPr/>
        </p:nvSpPr>
        <p:spPr>
          <a:xfrm>
            <a:off x="640080" y="1737360"/>
            <a:ext cx="3657600" cy="2468880"/>
          </a:xfrm>
          <a:prstGeom prst="rect">
            <a:avLst/>
          </a:prstGeom>
          <a:noFill/>
          <a:ln/>
        </p:spPr>
        <p:txBody>
          <a:bodyPr wrap="square" rtlCol="0" anchor="ctr"/>
          <a:lstStyle/>
          <a:p>
            <a:pPr indent="0" marL="0">
              <a:buNone/>
            </a:pPr>
            <a:r>
              <a:rPr lang="en-US" sz="1000" dirty="0">
                <a:solidFill>
                  <a:srgbClr val="2C3E50"/>
                </a:solidFill>
                <a:latin typeface="Calibri" pitchFamily="34" charset="0"/>
                <a:ea typeface="Calibri" pitchFamily="34" charset="-122"/>
                <a:cs typeface="Calibri" pitchFamily="34" charset="-120"/>
              </a:rPr>
              <a:t>• Global elites
</a:t>
            </a:r>
            <a:endParaRPr lang="en-US" sz="1000" dirty="0"/>
          </a:p>
          <a:p>
            <a:pPr indent="0" marL="0">
              <a:buNone/>
            </a:pPr>
            <a:r>
              <a:rPr lang="en-US" sz="1000" dirty="0">
                <a:solidFill>
                  <a:srgbClr val="2C3E50"/>
                </a:solidFill>
                <a:latin typeface="Calibri" pitchFamily="34" charset="0"/>
                <a:ea typeface="Calibri" pitchFamily="34" charset="-122"/>
                <a:cs typeface="Calibri" pitchFamily="34" charset="-120"/>
              </a:rPr>
              <a:t>• Capital flows
</a:t>
            </a:r>
            <a:endParaRPr lang="en-US" sz="1000" dirty="0"/>
          </a:p>
          <a:p>
            <a:pPr indent="0" marL="0">
              <a:buNone/>
            </a:pPr>
            <a:r>
              <a:rPr lang="en-US" sz="1000" dirty="0">
                <a:solidFill>
                  <a:srgbClr val="2C3E50"/>
                </a:solidFill>
                <a:latin typeface="Calibri" pitchFamily="34" charset="0"/>
                <a:ea typeface="Calibri" pitchFamily="34" charset="-122"/>
                <a:cs typeface="Calibri" pitchFamily="34" charset="-120"/>
              </a:rPr>
              <a:t>• Mobile &amp; flexible
</a:t>
            </a:r>
            <a:endParaRPr lang="en-US" sz="1000" dirty="0"/>
          </a:p>
          <a:p>
            <a:pPr indent="0" marL="0">
              <a:buNone/>
            </a:pPr>
            <a:r>
              <a:rPr lang="en-US" sz="1000" dirty="0">
                <a:solidFill>
                  <a:srgbClr val="2C3E50"/>
                </a:solidFill>
                <a:latin typeface="Calibri" pitchFamily="34" charset="0"/>
                <a:ea typeface="Calibri" pitchFamily="34" charset="-122"/>
                <a:cs typeface="Calibri" pitchFamily="34" charset="-120"/>
              </a:rPr>
              <a:t>• Can escape consequences
</a:t>
            </a:r>
            <a:endParaRPr lang="en-US" sz="1000" dirty="0"/>
          </a:p>
          <a:p>
            <a:pPr indent="0" marL="0">
              <a:buNone/>
            </a:pPr>
            <a:r>
              <a:rPr lang="en-US" sz="1000" dirty="0">
                <a:solidFill>
                  <a:srgbClr val="2C3E50"/>
                </a:solidFill>
                <a:latin typeface="Calibri" pitchFamily="34" charset="0"/>
                <a:ea typeface="Calibri" pitchFamily="34" charset="-122"/>
                <a:cs typeface="Calibri" pitchFamily="34" charset="-120"/>
              </a:rPr>
              <a:t>• Benefit from fragmentation</a:t>
            </a:r>
            <a:endParaRPr lang="en-US" sz="1000" dirty="0"/>
          </a:p>
        </p:txBody>
      </p:sp>
      <p:sp>
        <p:nvSpPr>
          <p:cNvPr id="8" name="Shape 6"/>
          <p:cNvSpPr/>
          <p:nvPr/>
        </p:nvSpPr>
        <p:spPr>
          <a:xfrm>
            <a:off x="4663440" y="1280160"/>
            <a:ext cx="4023360" cy="3200400"/>
          </a:xfrm>
          <a:prstGeom prst="rect">
            <a:avLst/>
          </a:prstGeom>
          <a:solidFill>
            <a:srgbClr val="E8F5E8"/>
          </a:solidFill>
          <a:ln w="25400">
            <a:solidFill>
              <a:srgbClr val="2E7D32"/>
            </a:solidFill>
            <a:prstDash val="solid"/>
          </a:ln>
        </p:spPr>
      </p:sp>
      <p:sp>
        <p:nvSpPr>
          <p:cNvPr id="9" name="Text 7"/>
          <p:cNvSpPr/>
          <p:nvPr/>
        </p:nvSpPr>
        <p:spPr>
          <a:xfrm>
            <a:off x="4846320" y="1417320"/>
            <a:ext cx="3657600" cy="228600"/>
          </a:xfrm>
          <a:prstGeom prst="rect">
            <a:avLst/>
          </a:prstGeom>
          <a:noFill/>
          <a:ln/>
        </p:spPr>
        <p:txBody>
          <a:bodyPr wrap="square" rtlCol="0" anchor="ctr"/>
          <a:lstStyle/>
          <a:p>
            <a:pPr indent="0" marL="0">
              <a:buNone/>
            </a:pPr>
            <a:r>
              <a:rPr lang="en-US" sz="1200" b="1" dirty="0">
                <a:solidFill>
                  <a:srgbClr val="2E7D32"/>
                </a:solidFill>
                <a:latin typeface="Calibri" pitchFamily="34" charset="0"/>
                <a:ea typeface="Calibri" pitchFamily="34" charset="-122"/>
                <a:cs typeface="Calibri" pitchFamily="34" charset="-120"/>
              </a:rPr>
              <a:t>SPACE OF LOCALITIES</a:t>
            </a:r>
            <a:endParaRPr lang="en-US" sz="1200" dirty="0"/>
          </a:p>
        </p:txBody>
      </p:sp>
      <p:sp>
        <p:nvSpPr>
          <p:cNvPr id="10" name="Text 8"/>
          <p:cNvSpPr/>
          <p:nvPr/>
        </p:nvSpPr>
        <p:spPr>
          <a:xfrm>
            <a:off x="4846320" y="1737360"/>
            <a:ext cx="3657600" cy="2468880"/>
          </a:xfrm>
          <a:prstGeom prst="rect">
            <a:avLst/>
          </a:prstGeom>
          <a:noFill/>
          <a:ln/>
        </p:spPr>
        <p:txBody>
          <a:bodyPr wrap="square" rtlCol="0" anchor="ctr"/>
          <a:lstStyle/>
          <a:p>
            <a:pPr indent="0" marL="0">
              <a:buNone/>
            </a:pPr>
            <a:r>
              <a:rPr lang="en-US" sz="1000" dirty="0">
                <a:solidFill>
                  <a:srgbClr val="2C3E50"/>
                </a:solidFill>
                <a:latin typeface="Calibri" pitchFamily="34" charset="0"/>
                <a:ea typeface="Calibri" pitchFamily="34" charset="-122"/>
                <a:cs typeface="Calibri" pitchFamily="34" charset="-120"/>
              </a:rPr>
              <a:t>• Ordinary people/workers
</a:t>
            </a:r>
            <a:endParaRPr lang="en-US" sz="1000" dirty="0"/>
          </a:p>
          <a:p>
            <a:pPr indent="0" marL="0">
              <a:buNone/>
            </a:pPr>
            <a:r>
              <a:rPr lang="en-US" sz="1000" dirty="0">
                <a:solidFill>
                  <a:srgbClr val="2C3E50"/>
                </a:solidFill>
                <a:latin typeface="Calibri" pitchFamily="34" charset="0"/>
                <a:ea typeface="Calibri" pitchFamily="34" charset="-122"/>
                <a:cs typeface="Calibri" pitchFamily="34" charset="-120"/>
              </a:rPr>
              <a:t>• Territorially fixed
</a:t>
            </a:r>
            <a:endParaRPr lang="en-US" sz="1000" dirty="0"/>
          </a:p>
          <a:p>
            <a:pPr indent="0" marL="0">
              <a:buNone/>
            </a:pPr>
            <a:r>
              <a:rPr lang="en-US" sz="1000" dirty="0">
                <a:solidFill>
                  <a:srgbClr val="2C3E50"/>
                </a:solidFill>
                <a:latin typeface="Calibri" pitchFamily="34" charset="0"/>
                <a:ea typeface="Calibri" pitchFamily="34" charset="-122"/>
                <a:cs typeface="Calibri" pitchFamily="34" charset="-120"/>
              </a:rPr>
              <a:t>• Cannot escape
</a:t>
            </a:r>
            <a:endParaRPr lang="en-US" sz="1000" dirty="0"/>
          </a:p>
          <a:p>
            <a:pPr indent="0" marL="0">
              <a:buNone/>
            </a:pPr>
            <a:r>
              <a:rPr lang="en-US" sz="1000" dirty="0">
                <a:solidFill>
                  <a:srgbClr val="2C3E50"/>
                </a:solidFill>
                <a:latin typeface="Calibri" pitchFamily="34" charset="0"/>
                <a:ea typeface="Calibri" pitchFamily="34" charset="-122"/>
                <a:cs typeface="Calibri" pitchFamily="34" charset="-120"/>
              </a:rPr>
              <a:t>• Bear consequences locally
</a:t>
            </a:r>
            <a:endParaRPr lang="en-US" sz="1000" dirty="0"/>
          </a:p>
          <a:p>
            <a:pPr indent="0" marL="0">
              <a:buNone/>
            </a:pPr>
            <a:r>
              <a:rPr lang="en-US" sz="1000" dirty="0">
                <a:solidFill>
                  <a:srgbClr val="2C3E50"/>
                </a:solidFill>
                <a:latin typeface="Calibri" pitchFamily="34" charset="0"/>
                <a:ea typeface="Calibri" pitchFamily="34" charset="-122"/>
                <a:cs typeface="Calibri" pitchFamily="34" charset="-120"/>
              </a:rPr>
              <a:t>• Kept fragmented &amp; divided</a:t>
            </a:r>
            <a:endParaRPr lang="en-US" sz="1000" dirty="0"/>
          </a:p>
        </p:txBody>
      </p:sp>
      <p:sp>
        <p:nvSpPr>
          <p:cNvPr id="11" name="Text 9"/>
          <p:cNvSpPr/>
          <p:nvPr/>
        </p:nvSpPr>
        <p:spPr>
          <a:xfrm>
            <a:off x="457200" y="4572000"/>
            <a:ext cx="8229600" cy="320040"/>
          </a:xfrm>
          <a:prstGeom prst="rect">
            <a:avLst/>
          </a:prstGeom>
          <a:noFill/>
          <a:ln/>
        </p:spPr>
        <p:txBody>
          <a:bodyPr wrap="square" rtlCol="0" anchor="ctr"/>
          <a:lstStyle/>
          <a:p>
            <a:pPr indent="0" marL="0">
              <a:buNone/>
            </a:pPr>
            <a:r>
              <a:rPr lang="en-US" sz="950" i="1" dirty="0">
                <a:solidFill>
                  <a:srgbClr val="6C757D"/>
                </a:solidFill>
                <a:latin typeface="Calibri" pitchFamily="34" charset="0"/>
                <a:ea typeface="Calibri" pitchFamily="34" charset="-122"/>
                <a:cs typeface="Calibri" pitchFamily="34" charset="-120"/>
              </a:rPr>
              <a:t>Quote: 'The ease of movement of the elite in the planetary 'space of flows'...depends to a great extent on the inability or unwillingness of the 'natives'...to act with solidarity.'</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1F4B"/>
          </a:solidFill>
          <a:ln/>
        </p:spPr>
      </p:sp>
      <p:sp>
        <p:nvSpPr>
          <p:cNvPr id="3" name="Text 1"/>
          <p:cNvSpPr/>
          <p:nvPr/>
        </p:nvSpPr>
        <p:spPr>
          <a:xfrm>
            <a:off x="457200" y="137160"/>
            <a:ext cx="8229600" cy="41148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Conclusion: The Paradox of Chapter 3</a:t>
            </a:r>
            <a:endParaRPr lang="en-US" sz="2800" dirty="0"/>
          </a:p>
        </p:txBody>
      </p:sp>
      <p:sp>
        <p:nvSpPr>
          <p:cNvPr id="4" name="Text 2"/>
          <p:cNvSpPr/>
          <p:nvPr/>
        </p:nvSpPr>
        <p:spPr>
          <a:xfrm>
            <a:off x="457200" y="868680"/>
            <a:ext cx="8229600" cy="228600"/>
          </a:xfrm>
          <a:prstGeom prst="rect">
            <a:avLst/>
          </a:prstGeom>
          <a:noFill/>
          <a:ln/>
        </p:spPr>
        <p:txBody>
          <a:bodyPr wrap="square" rtlCol="0" anchor="ctr"/>
          <a:lstStyle/>
          <a:p>
            <a:pPr indent="0" marL="0">
              <a:buNone/>
            </a:pPr>
            <a:r>
              <a:rPr lang="en-US" sz="1200" b="1" dirty="0">
                <a:solidFill>
                  <a:srgbClr val="C1121F"/>
                </a:solidFill>
                <a:latin typeface="Calibri" pitchFamily="34" charset="0"/>
                <a:ea typeface="Calibri" pitchFamily="34" charset="-122"/>
                <a:cs typeface="Calibri" pitchFamily="34" charset="-120"/>
              </a:rPr>
              <a:t>The Central Paradox:</a:t>
            </a:r>
            <a:endParaRPr lang="en-US" sz="1200" dirty="0"/>
          </a:p>
        </p:txBody>
      </p:sp>
      <p:sp>
        <p:nvSpPr>
          <p:cNvPr id="5" name="Shape 3"/>
          <p:cNvSpPr/>
          <p:nvPr/>
        </p:nvSpPr>
        <p:spPr>
          <a:xfrm>
            <a:off x="457200" y="1143000"/>
            <a:ext cx="8229600" cy="1097280"/>
          </a:xfrm>
          <a:prstGeom prst="rect">
            <a:avLst/>
          </a:prstGeom>
          <a:solidFill>
            <a:srgbClr val="E8EEF7"/>
          </a:solidFill>
          <a:ln w="25400">
            <a:solidFill>
              <a:srgbClr val="C1121F"/>
            </a:solidFill>
            <a:prstDash val="solid"/>
          </a:ln>
        </p:spPr>
      </p:sp>
      <p:sp>
        <p:nvSpPr>
          <p:cNvPr id="6" name="Text 4"/>
          <p:cNvSpPr/>
          <p:nvPr/>
        </p:nvSpPr>
        <p:spPr>
          <a:xfrm>
            <a:off x="640080" y="1234440"/>
            <a:ext cx="7863840" cy="914400"/>
          </a:xfrm>
          <a:prstGeom prst="rect">
            <a:avLst/>
          </a:prstGeom>
          <a:noFill/>
          <a:ln/>
        </p:spPr>
        <p:txBody>
          <a:bodyPr wrap="square" rtlCol="0" anchor="ctr"/>
          <a:lstStyle/>
          <a:p>
            <a:pPr indent="0" marL="0">
              <a:buNone/>
            </a:pPr>
            <a:r>
              <a:rPr lang="en-US" sz="1100" dirty="0">
                <a:solidFill>
                  <a:srgbClr val="2C3E50"/>
                </a:solidFill>
                <a:latin typeface="Calibri" pitchFamily="34" charset="0"/>
                <a:ea typeface="Calibri" pitchFamily="34" charset="-122"/>
                <a:cs typeface="Calibri" pitchFamily="34" charset="-120"/>
              </a:rPr>
              <a:t>While the official ideology celebrates cultural diversity and human rights (horizontal equality, tolerance, multiculturalism), the structural reality ENABLES continued domination through fragmentation. Cultural equality becomes complicit with economic inequality.</a:t>
            </a:r>
            <a:endParaRPr lang="en-US" sz="1100" dirty="0"/>
          </a:p>
        </p:txBody>
      </p:sp>
      <p:sp>
        <p:nvSpPr>
          <p:cNvPr id="7" name="Text 5"/>
          <p:cNvSpPr/>
          <p:nvPr/>
        </p:nvSpPr>
        <p:spPr>
          <a:xfrm>
            <a:off x="457200" y="2377440"/>
            <a:ext cx="8229600" cy="182880"/>
          </a:xfrm>
          <a:prstGeom prst="rect">
            <a:avLst/>
          </a:prstGeom>
          <a:noFill/>
          <a:ln/>
        </p:spPr>
        <p:txBody>
          <a:bodyPr wrap="square" rtlCol="0" anchor="ctr"/>
          <a:lstStyle/>
          <a:p>
            <a:pPr indent="0" marL="0">
              <a:buNone/>
            </a:pPr>
            <a:r>
              <a:rPr lang="en-US" sz="1100" b="1" dirty="0">
                <a:solidFill>
                  <a:srgbClr val="C1121F"/>
                </a:solidFill>
                <a:latin typeface="Calibri" pitchFamily="34" charset="0"/>
                <a:ea typeface="Calibri" pitchFamily="34" charset="-122"/>
                <a:cs typeface="Calibri" pitchFamily="34" charset="-120"/>
              </a:rPr>
              <a:t>Key Transformations:</a:t>
            </a:r>
            <a:endParaRPr lang="en-US" sz="1100" dirty="0"/>
          </a:p>
        </p:txBody>
      </p:sp>
      <p:sp>
        <p:nvSpPr>
          <p:cNvPr id="8" name="Text 6"/>
          <p:cNvSpPr/>
          <p:nvPr/>
        </p:nvSpPr>
        <p:spPr>
          <a:xfrm>
            <a:off x="640080" y="2606040"/>
            <a:ext cx="7863840" cy="201168"/>
          </a:xfrm>
          <a:prstGeom prst="rect">
            <a:avLst/>
          </a:prstGeom>
          <a:noFill/>
          <a:ln/>
        </p:spPr>
        <p:txBody>
          <a:bodyPr wrap="square" rtlCol="0" anchor="ctr"/>
          <a:lstStyle/>
          <a:p>
            <a:pPr indent="0" marL="0">
              <a:buNone/>
            </a:pPr>
            <a:r>
              <a:rPr lang="en-US" sz="1000" dirty="0">
                <a:solidFill>
                  <a:srgbClr val="2C3E50"/>
                </a:solidFill>
                <a:latin typeface="Calibri" pitchFamily="34" charset="0"/>
                <a:ea typeface="Calibri" pitchFamily="34" charset="-122"/>
                <a:cs typeface="Calibri" pitchFamily="34" charset="-120"/>
              </a:rPr>
              <a:t>▪ Nation-states lost capacity to maintain cultural homogeneity</a:t>
            </a:r>
            <a:endParaRPr lang="en-US" sz="1000" dirty="0"/>
          </a:p>
        </p:txBody>
      </p:sp>
      <p:sp>
        <p:nvSpPr>
          <p:cNvPr id="9" name="Text 7"/>
          <p:cNvSpPr/>
          <p:nvPr/>
        </p:nvSpPr>
        <p:spPr>
          <a:xfrm>
            <a:off x="640080" y="2862072"/>
            <a:ext cx="7863840" cy="201168"/>
          </a:xfrm>
          <a:prstGeom prst="rect">
            <a:avLst/>
          </a:prstGeom>
          <a:noFill/>
          <a:ln/>
        </p:spPr>
        <p:txBody>
          <a:bodyPr wrap="square" rtlCol="0" anchor="ctr"/>
          <a:lstStyle/>
          <a:p>
            <a:pPr indent="0" marL="0">
              <a:buNone/>
            </a:pPr>
            <a:r>
              <a:rPr lang="en-US" sz="1000" dirty="0">
                <a:solidFill>
                  <a:srgbClr val="2C3E50"/>
                </a:solidFill>
                <a:latin typeface="Calibri" pitchFamily="34" charset="0"/>
                <a:ea typeface="Calibri" pitchFamily="34" charset="-122"/>
                <a:cs typeface="Calibri" pitchFamily="34" charset="-120"/>
              </a:rPr>
              <a:t>▪ Three waves of migration created irreversible diasporic reality</a:t>
            </a:r>
            <a:endParaRPr lang="en-US" sz="1000" dirty="0"/>
          </a:p>
        </p:txBody>
      </p:sp>
      <p:sp>
        <p:nvSpPr>
          <p:cNvPr id="10" name="Text 8"/>
          <p:cNvSpPr/>
          <p:nvPr/>
        </p:nvSpPr>
        <p:spPr>
          <a:xfrm>
            <a:off x="640080" y="3118104"/>
            <a:ext cx="7863840" cy="201168"/>
          </a:xfrm>
          <a:prstGeom prst="rect">
            <a:avLst/>
          </a:prstGeom>
          <a:noFill/>
          <a:ln/>
        </p:spPr>
        <p:txBody>
          <a:bodyPr wrap="square" rtlCol="0" anchor="ctr"/>
          <a:lstStyle/>
          <a:p>
            <a:pPr indent="0" marL="0">
              <a:buNone/>
            </a:pPr>
            <a:r>
              <a:rPr lang="en-US" sz="1000" dirty="0">
                <a:solidFill>
                  <a:srgbClr val="2C3E50"/>
                </a:solidFill>
                <a:latin typeface="Calibri" pitchFamily="34" charset="0"/>
                <a:ea typeface="Calibri" pitchFamily="34" charset="-122"/>
                <a:cs typeface="Calibri" pitchFamily="34" charset="-120"/>
              </a:rPr>
              <a:t>▪ Cultural hierarchies collapsed but replaced with fragmentation</a:t>
            </a:r>
            <a:endParaRPr lang="en-US" sz="1000" dirty="0"/>
          </a:p>
        </p:txBody>
      </p:sp>
      <p:sp>
        <p:nvSpPr>
          <p:cNvPr id="11" name="Text 9"/>
          <p:cNvSpPr/>
          <p:nvPr/>
        </p:nvSpPr>
        <p:spPr>
          <a:xfrm>
            <a:off x="640080" y="3374136"/>
            <a:ext cx="7863840" cy="201168"/>
          </a:xfrm>
          <a:prstGeom prst="rect">
            <a:avLst/>
          </a:prstGeom>
          <a:noFill/>
          <a:ln/>
        </p:spPr>
        <p:txBody>
          <a:bodyPr wrap="square" rtlCol="0" anchor="ctr"/>
          <a:lstStyle/>
          <a:p>
            <a:pPr indent="0" marL="0">
              <a:buNone/>
            </a:pPr>
            <a:r>
              <a:rPr lang="en-US" sz="1000" dirty="0">
                <a:solidFill>
                  <a:srgbClr val="2C3E50"/>
                </a:solidFill>
                <a:latin typeface="Calibri" pitchFamily="34" charset="0"/>
                <a:ea typeface="Calibri" pitchFamily="34" charset="-122"/>
                <a:cs typeface="Calibri" pitchFamily="34" charset="-120"/>
              </a:rPr>
              <a:t>▪ Living with difference is now permanent, not exceptional</a:t>
            </a:r>
            <a:endParaRPr lang="en-US" sz="1000" dirty="0"/>
          </a:p>
        </p:txBody>
      </p:sp>
      <p:sp>
        <p:nvSpPr>
          <p:cNvPr id="12" name="Text 10"/>
          <p:cNvSpPr/>
          <p:nvPr/>
        </p:nvSpPr>
        <p:spPr>
          <a:xfrm>
            <a:off x="640080" y="3630168"/>
            <a:ext cx="7863840" cy="201168"/>
          </a:xfrm>
          <a:prstGeom prst="rect">
            <a:avLst/>
          </a:prstGeom>
          <a:noFill/>
          <a:ln/>
        </p:spPr>
        <p:txBody>
          <a:bodyPr wrap="square" rtlCol="0" anchor="ctr"/>
          <a:lstStyle/>
          <a:p>
            <a:pPr indent="0" marL="0">
              <a:buNone/>
            </a:pPr>
            <a:r>
              <a:rPr lang="en-US" sz="1000" dirty="0">
                <a:solidFill>
                  <a:srgbClr val="2C3E50"/>
                </a:solidFill>
                <a:latin typeface="Calibri" pitchFamily="34" charset="0"/>
                <a:ea typeface="Calibri" pitchFamily="34" charset="-122"/>
                <a:cs typeface="Calibri" pitchFamily="34" charset="-120"/>
              </a:rPr>
              <a:t>▪ Global elites strategically cultivate ethnic/religious divisions for power maintenance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Culture from Nation-Building to Globalization</dc:title>
  <dc:subject>PptxGenJS Presentation</dc:subject>
  <dc:creator>Zygmunt Bauman - Chapter 3 Analysis</dc:creator>
  <cp:lastModifiedBy>Zygmunt Bauman - Chapter 3 Analysis</cp:lastModifiedBy>
  <cp:revision>1</cp:revision>
  <dcterms:created xsi:type="dcterms:W3CDTF">2026-03-09T04:42:12Z</dcterms:created>
  <dcterms:modified xsi:type="dcterms:W3CDTF">2026-03-09T04:42:12Z</dcterms:modified>
</cp:coreProperties>
</file>