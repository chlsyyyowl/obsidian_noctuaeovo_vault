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2" r:id="rId5"/>
    <p:sldId id="270" r:id="rId6"/>
    <p:sldId id="271" r:id="rId7"/>
    <p:sldId id="272" r:id="rId8"/>
    <p:sldId id="259" r:id="rId9"/>
    <p:sldId id="260" r:id="rId10"/>
    <p:sldId id="261" r:id="rId11"/>
    <p:sldId id="273" r:id="rId12"/>
    <p:sldId id="264" r:id="rId13"/>
    <p:sldId id="265" r:id="rId14"/>
    <p:sldId id="274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77330"/>
  </p:normalViewPr>
  <p:slideViewPr>
    <p:cSldViewPr snapToGrid="0">
      <p:cViewPr varScale="1">
        <p:scale>
          <a:sx n="83" d="100"/>
          <a:sy n="83" d="100"/>
        </p:scale>
        <p:origin x="1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2EDFE-6C3D-7C44-BA26-1B84EEA768A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227BD-89AE-624F-968C-3B6D4E2A1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9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annie_Mae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Government-sponsored_enterprise" TargetMode="External"/><Relationship Id="rId4" Type="http://schemas.openxmlformats.org/officeDocument/2006/relationships/hyperlink" Target="https://en.wikipedia.org/wiki/Freddie_Mac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m/mbs.asp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investopedia.com/terms/a/asset-backedsecurity.asp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227BD-89AE-624F-968C-3B6D4E2A16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15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227BD-89AE-624F-968C-3B6D4E2A16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10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that this can happen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if the initial doubts of investors were totally unfounded, even if the value of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bank assets had not decreased in the first place. The decision by investors to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for their funds, and the fire sales this triggers, can make the bank insolvent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if it was fully solvent to start.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227BD-89AE-624F-968C-3B6D4E2A16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5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227BD-89AE-624F-968C-3B6D4E2A16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73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Ginnie Mae is similar to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Fannie Mae"/>
              </a:rPr>
              <a:t>Fannie Mae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(Federal National Mortgage Association) and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Freddie Mac"/>
              </a:rPr>
              <a:t>Freddie Mac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(Federal Home Loan Mortgage Corporation) with the difference being that Ginnie Mae is a wholly owned government corporation whereas Fannie Mae and Freddie Mac are "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Government-sponsored enterprise"/>
              </a:rPr>
              <a:t>government-sponsored enterprises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(GSEs), which are federally chartered corporations privately owned by shareholders.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227BD-89AE-624F-968C-3B6D4E2A16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34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Traditionally, the financial intermediaries that made loans or issued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mortgages kept them on their own balance sheet. This had obvious drawbacks. A local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bank, with local loans and mortgages on its books, was much exposed to the local eco-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nomic situation. When, for example, oil prices had come down sharply in the mid-1980s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Texas was in recession, many local banks went bankrupt. Had they had a more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diversified portfolio of mortgages, say mortgages from many parts of the country, these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banks might have avoided bankruptcy.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227BD-89AE-624F-968C-3B6D4E2A169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68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create a CDO, investment banks gather cash flow-generating assets—such as mortgages, bonds, and other types of debt—and repackage them into discrete classes or tranches based on the level of credit risk the investor assumes.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tranches of securities become the final investment products, bonds, whose names reflect their specific underlying assets. For example, mortgage-backed securities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(MBS)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comprise mortgage loans, and asset-backed securities (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ABS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contain corporate debt, auto loans, or credit card debt.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227BD-89AE-624F-968C-3B6D4E2A169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60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66762-B508-04AB-1146-C3C79407A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756D5-C1FC-FAE3-BEE5-D38E0CD3D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58929-859B-02AB-6E10-858EF35B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D83F1-74E1-758E-B67F-7E2E58A5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EC67-3071-F849-0433-2ADCC9E9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CFAC4-4639-5BB1-98AA-340014B6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45E79-E83F-7698-D23C-C0162A0A1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5D614-5503-9BCA-AB82-6D6E66E8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494E0-0493-9F41-B33F-655A6F95F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2A1E8-4272-40CB-4A2D-FE45BEC5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6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8C29-4B86-9144-DADD-C42153B0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EC886-483B-03BC-C5C3-96FD79D30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A3712-79FE-A3DD-E184-246C4D86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423C1-D713-70C6-F70A-65DDF49D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F0CF-8817-BF19-601F-92A8FA04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7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A3C1F-12FD-88D4-36C4-00149FE4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925B7-0CF0-A805-C5AF-6EEDAE3C0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36C5B-0A7B-6398-3E32-A615E2DB7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9EC48-AF60-ED64-8CAA-F2F125A4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6F6E9-2E48-E442-238F-9260FC385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DDA50-2A01-44E8-F8BE-D5CA78A8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2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649CE-1170-1E0E-49DF-9FC661C64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4CBB5-516F-0B8C-8F17-D15E43C4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4C99A-57ED-174F-54A2-EC8490E62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7B1CA-ECA6-A3A7-654D-F547FF86B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1CB7E-9A72-6866-1FA0-50D63B5DE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F9F0A-5576-F97E-A720-B80464B6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5C21E6-6D1C-FB96-156F-7DF0D0E5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0F66AB-1672-DD91-43C5-2B59C987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A44C-6347-6D79-C638-C86FF535F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90F890-6381-9488-16E5-58F53DF25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983478-9A5B-5402-6A5E-121D7DB0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98592-830D-9FCB-8BAF-6130062B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5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DFC43B-7B1A-3D1D-3067-FA3200F9A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EB6001-EE08-8C0B-5C5D-8DB61CAA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55D6F-8F50-177C-6D89-9CE18982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24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B46B-E6BE-8F13-035F-A244E0C27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FBCC-B910-252E-27F1-64E7E783F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D6426-AEA7-EF1B-BC92-639F4DE7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00ABF-C3DA-B339-76A0-D917D885C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78F72-7F6D-A161-CA78-592BC4935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DCE9B-373B-4BED-1EC5-ADDE817FB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9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7D62-4EC4-DF3C-901F-37DE74AC3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1C7FA-067E-7C55-6053-CB60DA693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85ED4-E69C-DAB9-0D9A-7267A946D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3EA16-B986-F095-4C76-7E0A529C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DC52E-10A2-D6A7-B38B-95FE613D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4AFF9-F5BD-8611-5427-D4772923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5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FC3D0-89E9-D25D-23EF-143B1C78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0595B-8199-9A09-FEBD-124CF4FD2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99C5B-36E5-3C60-BB56-D81FBCBF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30F20-ECBB-FEED-2D36-474BFCD2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FBC65-34B5-194F-6DDA-212CB3CD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94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00A4AF-A616-F0EC-3122-C3032C75D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26033-C030-D79F-AE56-AC2F0B4A3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B3BF0-F7B7-E24F-E005-FD28D826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3E566-6EBA-97A0-AFE4-A52F918F8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D8944-7D42-9C9F-EC92-C369FEC7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4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056450-0583-75C5-7D7B-76BF90D4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78EF5-6304-99EE-2867-484522C24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A6686-2155-A26B-4D3B-4E6779A51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C92FE-6A70-DC44-9F31-0944E975810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986AD-40F2-D660-1B10-827BCFB68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9FC90-C972-A401-1B8F-3AD441935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3563F-AC39-404F-9A07-F45996815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0DB0C-60D2-B684-CD37-2367EF3E91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Intermediate </a:t>
            </a:r>
            <a:r>
              <a:rPr lang="en-US" dirty="0" err="1"/>
              <a:t>Macroecomics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8B103-83B6-A952-3F22-94DF880C2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Yuki Tada</a:t>
            </a:r>
          </a:p>
        </p:txBody>
      </p:sp>
    </p:spTree>
    <p:extLst>
      <p:ext uri="{BB962C8B-B14F-4D97-AF65-F5344CB8AC3E}">
        <p14:creationId xmlns:p14="http://schemas.microsoft.com/office/powerpoint/2010/main" val="3935328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AA131-ED85-88FE-13FE-D2558B81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Banking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5AE78-33D6-6523-EAC7-9D1CB4489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Narrow banking: mostly with financial intermediaries, which are financial institutions that receive funds from some investors and then lend these funds to others.</a:t>
            </a:r>
          </a:p>
          <a:p>
            <a:r>
              <a:rPr lang="en-US" dirty="0"/>
              <a:t>Shadow banking: “non-banks,” for example mortgage companies, money market funds, hedge funds, and such.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749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31C2-C74A-64CF-5F8B-963B22ED8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of Banks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A358D-62A4-2DE6-F7EF-B8CC6B048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modern banking the banks does not only hold loans on the liability side but they could hold various </a:t>
            </a:r>
            <a:r>
              <a:rPr lang="en-US" b="1" i="1" dirty="0"/>
              <a:t>financial assets </a:t>
            </a:r>
          </a:p>
          <a:p>
            <a:pPr lvl="1"/>
            <a:r>
              <a:rPr lang="en-US" b="1" dirty="0"/>
              <a:t>reserves (central bank money),</a:t>
            </a:r>
          </a:p>
          <a:p>
            <a:pPr lvl="1"/>
            <a:r>
              <a:rPr lang="en-US" b="1" dirty="0"/>
              <a:t>loans to consumers, </a:t>
            </a:r>
          </a:p>
          <a:p>
            <a:pPr lvl="1"/>
            <a:r>
              <a:rPr lang="en-US" b="1" dirty="0"/>
              <a:t>Loans to firms, </a:t>
            </a:r>
          </a:p>
          <a:p>
            <a:pPr lvl="1"/>
            <a:r>
              <a:rPr lang="en-US" b="1" dirty="0"/>
              <a:t>loans to other banks, </a:t>
            </a:r>
          </a:p>
          <a:p>
            <a:pPr lvl="1"/>
            <a:r>
              <a:rPr lang="en-US" b="1" dirty="0"/>
              <a:t>mortgages, </a:t>
            </a:r>
          </a:p>
          <a:p>
            <a:pPr lvl="1"/>
            <a:r>
              <a:rPr lang="en-US" b="1" dirty="0"/>
              <a:t>government bonds, </a:t>
            </a:r>
          </a:p>
          <a:p>
            <a:pPr lvl="1"/>
            <a:r>
              <a:rPr lang="en-US" b="1" dirty="0"/>
              <a:t>or other forms of securities.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DACDCB-3AF8-A16A-42DA-EBB29AA05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3611336"/>
            <a:ext cx="42672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6227-582B-E60A-C346-4B6F2756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Banking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FA9ECD-7EF0-757A-652B-5ED7AEC17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8466" y="1920498"/>
            <a:ext cx="8367706" cy="408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6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5D16-6120-7DA0-1440-9AB2A2732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a housing to a Financial Crisis </a:t>
            </a:r>
          </a:p>
        </p:txBody>
      </p:sp>
      <p:pic>
        <p:nvPicPr>
          <p:cNvPr id="5" name="Content Placeholder 4" descr="A graph showing the price of a financial crisis&#10;&#10;AI-generated content may be incorrect.">
            <a:extLst>
              <a:ext uri="{FF2B5EF4-FFF2-40B4-BE49-F238E27FC236}">
                <a16:creationId xmlns:a16="http://schemas.microsoft.com/office/drawing/2014/main" id="{39C5A5F7-9C1E-0CE8-20F8-DF7E82755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101"/>
          <a:stretch>
            <a:fillRect/>
          </a:stretch>
        </p:blipFill>
        <p:spPr>
          <a:xfrm>
            <a:off x="1007435" y="1566743"/>
            <a:ext cx="10515600" cy="4926132"/>
          </a:xfrm>
        </p:spPr>
      </p:pic>
    </p:spTree>
    <p:extLst>
      <p:ext uri="{BB962C8B-B14F-4D97-AF65-F5344CB8AC3E}">
        <p14:creationId xmlns:p14="http://schemas.microsoft.com/office/powerpoint/2010/main" val="60146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017E-A221-DF92-0CDF-C38399E1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banking</a:t>
            </a:r>
          </a:p>
        </p:txBody>
      </p:sp>
      <p:pic>
        <p:nvPicPr>
          <p:cNvPr id="5" name="Content Placeholder 4" descr="A close-up of a document&#10;&#10;AI-generated content may be incorrect.">
            <a:extLst>
              <a:ext uri="{FF2B5EF4-FFF2-40B4-BE49-F238E27FC236}">
                <a16:creationId xmlns:a16="http://schemas.microsoft.com/office/drawing/2014/main" id="{BC9F2ADF-BEA6-AA29-5E02-4ACA2447F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1294" y="1690689"/>
            <a:ext cx="11139925" cy="4650648"/>
          </a:xfrm>
        </p:spPr>
      </p:pic>
    </p:spTree>
    <p:extLst>
      <p:ext uri="{BB962C8B-B14F-4D97-AF65-F5344CB8AC3E}">
        <p14:creationId xmlns:p14="http://schemas.microsoft.com/office/powerpoint/2010/main" val="3335825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4395-43E8-3385-2DE6-C66730AD1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a Housing Problem to a Financial Crisis</a:t>
            </a:r>
          </a:p>
        </p:txBody>
      </p:sp>
      <p:pic>
        <p:nvPicPr>
          <p:cNvPr id="5" name="Content Placeholder 4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88AB9300-F371-062E-503A-1E9E7F1BA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8077" y="2154263"/>
            <a:ext cx="11179287" cy="3688597"/>
          </a:xfrm>
        </p:spPr>
      </p:pic>
    </p:spTree>
    <p:extLst>
      <p:ext uri="{BB962C8B-B14F-4D97-AF65-F5344CB8AC3E}">
        <p14:creationId xmlns:p14="http://schemas.microsoft.com/office/powerpoint/2010/main" val="3596671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109B-0981-FC27-7CCF-A51E33EB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3B13-B20E-E7D6-C577-7B15DDA16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With capital 20 (capital ratio as 20%)</a:t>
            </a:r>
          </a:p>
          <a:p>
            <a:pPr lvl="1"/>
            <a:r>
              <a:rPr lang="en-US" dirty="0"/>
              <a:t>Suppose the expected rate of return on assets is 5%, and the expected rate of return on liabilities is 4%. </a:t>
            </a:r>
          </a:p>
          <a:p>
            <a:pPr lvl="1"/>
            <a:r>
              <a:rPr lang="en-US" dirty="0"/>
              <a:t>The expected profit of the bank: 100*0.05 - 80*0.04 = 1.8</a:t>
            </a:r>
          </a:p>
          <a:p>
            <a:pPr lvl="1"/>
            <a:r>
              <a:rPr lang="en-US" dirty="0"/>
              <a:t>Given that, capital as 20 (own funds) and the expected profit per unit of capital as 1.8/20 = 9%</a:t>
            </a:r>
          </a:p>
          <a:p>
            <a:r>
              <a:rPr lang="en-US" dirty="0"/>
              <a:t>Now capital goes down to 10 (capital ratio as 10%)	</a:t>
            </a:r>
          </a:p>
          <a:p>
            <a:pPr lvl="1"/>
            <a:r>
              <a:rPr lang="en-US" dirty="0"/>
              <a:t>Expected profit would be 1.4 and the and the expected profit per unit of capital as 1.4/10 =14%</a:t>
            </a:r>
          </a:p>
          <a:p>
            <a:r>
              <a:rPr lang="en-US" dirty="0"/>
              <a:t>Higher the risk higher the return</a:t>
            </a:r>
          </a:p>
          <a:p>
            <a:r>
              <a:rPr lang="en-US" dirty="0"/>
              <a:t>However, cannot continue taking the higher leverage at some point the value of leverage </a:t>
            </a:r>
            <a:r>
              <a:rPr lang="en-US" dirty="0" err="1"/>
              <a:t>outweight</a:t>
            </a:r>
            <a:r>
              <a:rPr lang="en-US" dirty="0"/>
              <a:t> the value of assert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85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C8A45-B129-4BF3-100D-79A78105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7F9FB-FF46-B21D-4148-BB4E718F8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Supporse</a:t>
            </a:r>
            <a:r>
              <a:rPr lang="en-US" dirty="0"/>
              <a:t> that banks now experience that the asset price declines. The Asset 100 </a:t>
            </a:r>
            <a:r>
              <a:rPr lang="en-US" dirty="0">
                <a:sym typeface="Wingdings" pitchFamily="2" charset="2"/>
              </a:rPr>
              <a:t> 90 and the capital goes down from 90-80 = 10 (20--&gt;10)</a:t>
            </a:r>
            <a:endParaRPr lang="en-US" dirty="0"/>
          </a:p>
          <a:p>
            <a:r>
              <a:rPr lang="en-US" dirty="0"/>
              <a:t>How to maintain a healthy balance sheet?</a:t>
            </a:r>
          </a:p>
          <a:p>
            <a:r>
              <a:rPr lang="en-US" dirty="0"/>
              <a:t>1. banks can ask other investors for the capital</a:t>
            </a:r>
          </a:p>
          <a:p>
            <a:r>
              <a:rPr lang="en-US" dirty="0"/>
              <a:t>2. Decrease the size of the balance sheet</a:t>
            </a:r>
          </a:p>
          <a:p>
            <a:pPr lvl="1"/>
            <a:r>
              <a:rPr lang="en-US" dirty="0"/>
              <a:t>call back some of the loans from 90 – 40 = 50 and use the 40 to decrease the liability 80 -40 = 40 (now capital ratio as 20%)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001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C7E4-7A05-9A9E-AEB3-65E4F970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Liquidity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E77C-BDA7-5F6A-DD9F-46AF5D1FF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see the banks reduced the lending which signals investors of the value of the asset of the bank which create asset price further declines. </a:t>
            </a:r>
          </a:p>
          <a:p>
            <a:pPr lvl="1"/>
            <a:r>
              <a:rPr lang="en-US" dirty="0"/>
              <a:t>Investors withdraw their fund out of bank </a:t>
            </a:r>
          </a:p>
          <a:p>
            <a:pPr lvl="1"/>
            <a:r>
              <a:rPr lang="en-US" dirty="0"/>
              <a:t>Bank faces a major problem in the shortage of liquidity needs to find the funds to repay the investors.</a:t>
            </a:r>
          </a:p>
          <a:p>
            <a:pPr lvl="1"/>
            <a:r>
              <a:rPr lang="en-US" dirty="0"/>
              <a:t>Despite selling the loans could be a solution but hard to asset the value </a:t>
            </a:r>
          </a:p>
          <a:p>
            <a:pPr lvl="1"/>
            <a:r>
              <a:rPr lang="en-US" dirty="0"/>
              <a:t>Such sales however only make matters worse for the bank. </a:t>
            </a:r>
          </a:p>
          <a:p>
            <a:pPr marL="457200" lvl="1" indent="0">
              <a:buNone/>
            </a:pP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the value of the assets further decreases</a:t>
            </a:r>
          </a:p>
        </p:txBody>
      </p:sp>
    </p:spTree>
    <p:extLst>
      <p:ext uri="{BB962C8B-B14F-4D97-AF65-F5344CB8AC3E}">
        <p14:creationId xmlns:p14="http://schemas.microsoft.com/office/powerpoint/2010/main" val="1242827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BD043-3B49-ECDD-8C7C-6095D417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Securitization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B4806E9-DC17-159A-1FE7-5400DCC5D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7211" y="2158072"/>
            <a:ext cx="10378528" cy="3235338"/>
          </a:xfrm>
        </p:spPr>
      </p:pic>
    </p:spTree>
    <p:extLst>
      <p:ext uri="{BB962C8B-B14F-4D97-AF65-F5344CB8AC3E}">
        <p14:creationId xmlns:p14="http://schemas.microsoft.com/office/powerpoint/2010/main" val="2258040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031D-AFA2-6D43-8131-DD5E91B0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Housing credit and mortgage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F2BF-2DE7-5FA7-0FCB-48C86D14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 the United States, the most common securitization trusts are sponsored by </a:t>
            </a:r>
            <a:r>
              <a:rPr lang="en-US" b="1" dirty="0"/>
              <a:t>Fannie Mae </a:t>
            </a:r>
            <a:r>
              <a:rPr lang="en-US" dirty="0"/>
              <a:t>and </a:t>
            </a:r>
            <a:r>
              <a:rPr lang="en-US" b="1" dirty="0"/>
              <a:t>Freddie Mac</a:t>
            </a:r>
            <a:r>
              <a:rPr lang="en-US" dirty="0"/>
              <a:t>, US government-sponsored enterprises. </a:t>
            </a:r>
          </a:p>
          <a:p>
            <a:pPr lvl="1"/>
            <a:r>
              <a:rPr lang="en-US" dirty="0"/>
              <a:t>Fannie Mae was established by the U.S. Congress in 1938 by amendments to the National Housing Act as part of Franklin Delano Roosevelt's New Deal. </a:t>
            </a:r>
          </a:p>
          <a:p>
            <a:r>
              <a:rPr lang="en-US" b="1" dirty="0"/>
              <a:t>Ginnie Mae</a:t>
            </a:r>
            <a:r>
              <a:rPr lang="en-US" dirty="0"/>
              <a:t>, a US government-sponsored enterprise backed by the full faith and credit of the US government, guarantees that its investors receive timely payments but buys limited numbers of mortgage notes. </a:t>
            </a:r>
          </a:p>
          <a:p>
            <a:r>
              <a:rPr lang="en-US" dirty="0"/>
              <a:t>These agencies are to provide local banks with federal money to finance home loans in an attempt to raise levels of home ownership and the availability of affordable housing</a:t>
            </a:r>
          </a:p>
        </p:txBody>
      </p:sp>
    </p:spTree>
    <p:extLst>
      <p:ext uri="{BB962C8B-B14F-4D97-AF65-F5344CB8AC3E}">
        <p14:creationId xmlns:p14="http://schemas.microsoft.com/office/powerpoint/2010/main" val="1234921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2467-FFEA-1448-8E90-0FE4E9431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0F010-D5C7-BDA9-B1A8-0D37B040B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Banks such investment banking are highly leveraged.</a:t>
            </a:r>
          </a:p>
          <a:p>
            <a:r>
              <a:rPr lang="en-US" dirty="0"/>
              <a:t>1 banks cannot realize the actual risk they are taking</a:t>
            </a:r>
          </a:p>
          <a:p>
            <a:r>
              <a:rPr lang="en-US" dirty="0"/>
              <a:t>2. Asset managers rewarded with a higher compensation which makes them to chase a higher return without fully taking the risk of bankruptcy into account. </a:t>
            </a:r>
          </a:p>
          <a:p>
            <a:r>
              <a:rPr lang="en-US" dirty="0"/>
              <a:t>3. financial innovation allows banks to speculate despite the rule to put the capital ratio above minimum 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712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AB082-9CC8-EA64-9F70-A6CFAA41A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Securitization and Wholesale funding</a:t>
            </a:r>
          </a:p>
        </p:txBody>
      </p:sp>
      <p:pic>
        <p:nvPicPr>
          <p:cNvPr id="5" name="Content Placeholder 4" descr="A close-up of a text&#10;&#10;AI-generated content may be incorrect.">
            <a:extLst>
              <a:ext uri="{FF2B5EF4-FFF2-40B4-BE49-F238E27FC236}">
                <a16:creationId xmlns:a16="http://schemas.microsoft.com/office/drawing/2014/main" id="{71332727-5559-F7B8-D464-EF632FC0C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138767"/>
            <a:ext cx="11006927" cy="3565880"/>
          </a:xfrm>
        </p:spPr>
      </p:pic>
    </p:spTree>
    <p:extLst>
      <p:ext uri="{BB962C8B-B14F-4D97-AF65-F5344CB8AC3E}">
        <p14:creationId xmlns:p14="http://schemas.microsoft.com/office/powerpoint/2010/main" val="1619900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EDDB-10F2-3C9D-B289-E2A88BBFF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Structured investment vehicles (SIVs).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9497E-B95E-33C4-B479-1FB375286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order to meet the capital ratio to meet to regulatory capital requirements, banks set create a separate vehicle. </a:t>
            </a:r>
          </a:p>
          <a:p>
            <a:pPr lvl="1"/>
            <a:r>
              <a:rPr lang="en-US" dirty="0"/>
              <a:t> The main reason was bank to be able to increase leverage.</a:t>
            </a:r>
          </a:p>
          <a:p>
            <a:pPr lvl="1"/>
            <a:endParaRPr lang="en-US" dirty="0"/>
          </a:p>
          <a:p>
            <a:r>
              <a:rPr lang="en-US" dirty="0"/>
              <a:t>On the liability side, SIVs borrowed from investors, typically in the form of short-term debt. </a:t>
            </a:r>
          </a:p>
          <a:p>
            <a:r>
              <a:rPr lang="en-US" dirty="0"/>
              <a:t>On the asset side, SIVs held various forms of securities. </a:t>
            </a:r>
          </a:p>
          <a:p>
            <a:r>
              <a:rPr lang="en-US" dirty="0"/>
              <a:t>To reassure the investors that they would get repaid, SIVs typically had a guarantee from the bank that had created them that, if needed, the bank would provide funds to the SIV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641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2434-EF5D-2A6D-611C-C3E6D8D5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029B5-E47E-712E-0D73-351448B8E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idea behind securitization. Securitization is the creation of securities based on a bundle of assets (e.g., a bundle of loans, or a bundle of mortgages). </a:t>
            </a:r>
          </a:p>
          <a:p>
            <a:r>
              <a:rPr lang="en-US" dirty="0"/>
              <a:t>For instance, a mortgage-based security (MBS) for short, is a title to the returns from an bundle of mortgages, with the number of underlying numerous mortgages. </a:t>
            </a:r>
          </a:p>
          <a:p>
            <a:r>
              <a:rPr lang="en-US" dirty="0"/>
              <a:t>By holding various mortgage, they can diversify the risk which is preferred also by the investors.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031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726C9-CE96-A0B4-7D3B-25A54F0E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Collateralized debt obligations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1613D-E79A-CC8E-3F26-93871A8A2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Securitization is the creation of securities based on a bundle of assets, such as mortgage-based securities (MBS).</a:t>
            </a:r>
          </a:p>
          <a:p>
            <a:r>
              <a:rPr lang="en-US" dirty="0"/>
              <a:t>Investment banks create those financial products tailor to the investor’s need and level of risk averse…</a:t>
            </a:r>
          </a:p>
          <a:p>
            <a:r>
              <a:rPr lang="en-US" b="1" dirty="0"/>
              <a:t>Senior securities</a:t>
            </a:r>
            <a:r>
              <a:rPr lang="en-US" dirty="0"/>
              <a:t> have first claims on the return from the bundle of assets</a:t>
            </a:r>
          </a:p>
          <a:p>
            <a:r>
              <a:rPr lang="en-US" b="1" dirty="0"/>
              <a:t>Junior securities </a:t>
            </a:r>
            <a:r>
              <a:rPr lang="en-US" dirty="0"/>
              <a:t>come after.</a:t>
            </a:r>
          </a:p>
          <a:p>
            <a:r>
              <a:rPr lang="en-US" dirty="0"/>
              <a:t>Example: collateralized debt obligations (CDOs)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747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428C-DEBF-FF75-D5F1-D0B85F72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Wholesale funding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8A84-0A30-4B34-A2BA-07A25AD6F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1990s and 2000s was the development of wholesale funding, they relied on borrowing from other banks or other investors, in the form of short-term debt, to finance the purchase of their assets, a process known as wholesale funding. </a:t>
            </a:r>
          </a:p>
          <a:p>
            <a:endParaRPr lang="en-US" dirty="0"/>
          </a:p>
          <a:p>
            <a:r>
              <a:rPr lang="en-US" dirty="0"/>
              <a:t>SIVs, the financial entities set up by banks, were entirely funded through such wholesale funding.</a:t>
            </a:r>
          </a:p>
          <a:p>
            <a:r>
              <a:rPr lang="en-US" dirty="0"/>
              <a:t>If investors are in doubt the value of the assets held by the banks or the SIVs, they asked for their funds back.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28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2950</TotalTime>
  <Words>1291</Words>
  <Application>Microsoft Macintosh PowerPoint</Application>
  <PresentationFormat>Widescreen</PresentationFormat>
  <Paragraphs>98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Intermediate Macroecomics</vt:lpstr>
      <vt:lpstr>Shadow Banking </vt:lpstr>
      <vt:lpstr>Asset of Banks </vt:lpstr>
      <vt:lpstr>Modern Banking </vt:lpstr>
      <vt:lpstr>From a housing to a Financial Crisis </vt:lpstr>
      <vt:lpstr>Modern banking</vt:lpstr>
      <vt:lpstr>From a Housing Problem to a Financial Crisis</vt:lpstr>
      <vt:lpstr>Leverage </vt:lpstr>
      <vt:lpstr>Leverage </vt:lpstr>
      <vt:lpstr>Liquidity </vt:lpstr>
      <vt:lpstr>Securitization</vt:lpstr>
      <vt:lpstr>Housing credit and mortgage </vt:lpstr>
      <vt:lpstr>Speculation </vt:lpstr>
      <vt:lpstr>Securitization and Wholesale funding</vt:lpstr>
      <vt:lpstr>Structured investment vehicles (SIVs). </vt:lpstr>
      <vt:lpstr>Securitization </vt:lpstr>
      <vt:lpstr>Collateralized debt obligations  </vt:lpstr>
      <vt:lpstr>Wholesale funding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Yuki Tada</dc:creator>
  <cp:lastModifiedBy>Yuki Tada</cp:lastModifiedBy>
  <cp:revision>3</cp:revision>
  <dcterms:created xsi:type="dcterms:W3CDTF">2025-11-02T15:44:38Z</dcterms:created>
  <dcterms:modified xsi:type="dcterms:W3CDTF">2025-11-04T16:55:44Z</dcterms:modified>
</cp:coreProperties>
</file>