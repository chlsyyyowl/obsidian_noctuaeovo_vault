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65" r:id="rId6"/>
    <p:sldId id="266" r:id="rId7"/>
    <p:sldId id="267" r:id="rId8"/>
    <p:sldId id="257" r:id="rId9"/>
    <p:sldId id="259" r:id="rId10"/>
    <p:sldId id="260" r:id="rId11"/>
    <p:sldId id="261" r:id="rId12"/>
    <p:sldId id="262" r:id="rId13"/>
    <p:sldId id="263" r:id="rId14"/>
    <p:sldId id="264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847"/>
  </p:normalViewPr>
  <p:slideViewPr>
    <p:cSldViewPr snapToGrid="0" snapToObjects="1">
      <p:cViewPr varScale="1">
        <p:scale>
          <a:sx n="111" d="100"/>
          <a:sy n="111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0D940-DBD0-E148-ADCC-A93D5D76223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509BE-A9C0-B64E-B568-F9A76F66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2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BD76-6BE2-5449-8A53-1925BC51D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1180B-F782-6949-8054-E861A72D5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9A540-908E-AF47-8677-080A5353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3A2B2-EF74-384D-B004-67C34BC71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304A-FA08-0745-95C4-AAED1A76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2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EB05-21DE-6743-8170-FC220D846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10E9-B10B-674C-9CB0-EBFDB2B51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B5F20-92AF-F240-88D9-DAFDDAD6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6AB60-9335-6540-BF64-FF6B4D9C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D5C87-067F-8E4F-BB56-599CA5C5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7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4F09-982D-4D41-A7B3-2450489E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97D90-29F1-3D48-AC58-9DAF72953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928FC-EE60-EF41-9223-29E52F0D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D830D-4599-0845-A06E-A53F09DB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73589-F023-0746-8C9C-3B39FEA7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7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F046-6D2C-C94B-A854-269A0DB0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FDC98-0FEF-2E46-A813-0E8B2AD01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076AF-E97D-4649-A9F2-FD58BB7DC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3E0A6-4472-9E43-B607-55A12317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E4338-445E-F44C-AD10-9FEED31F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9A3DF-4A35-B142-8176-627A6C25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4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D0F7-3DCE-3E41-BC07-737F7CCA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1681D-3F2E-6D41-AB75-9D676316A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8A5C3-1293-734C-9168-2A372E036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9CFE10-6061-9D49-9981-81044F047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BCA5C-C7C9-A14C-8823-116725C630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EA9B1-E83D-C14B-937D-28E07CEC3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52158-AA29-0B43-8416-74C8F9A4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4654D-E28A-264E-A030-336AF5F8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85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3C67-C722-184C-AC83-16D2F924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9C32F-C020-AF44-B015-192D27E2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2DC93-380E-A643-80D9-0931EA06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90A66-6F1F-5947-9BF5-7D21F683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FC733-1FA0-E346-AE88-59827428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436D9-F7FB-A049-A6CA-21850F3C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73141-94A6-914E-9C30-0B9732D3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9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6DCF-B90C-0049-8E04-F386412B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DC98-6D19-8249-AE2F-824C6741E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4461-BA4F-A58F-C193C9FFB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99F08-EF1E-114F-883F-0BA45053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99624-9102-6140-B34F-66009D4A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0F3F2-C7DD-E249-98D0-43C22879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0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2EA8-4AB6-984F-9557-DAA3AA23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EACB69-0DF7-3B47-A337-2E2E52C4E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0B1A5-B4B9-8E4B-853F-6F561B47D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DB5CA-0EDB-9E47-902E-C5E90C31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D155E-515F-F148-9530-705011CD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297BC-9B0B-9C45-B522-3202F3BB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5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DBC3-B89C-2B49-823F-E9188E63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0E22A-3E5D-1B43-9B29-1B989C093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70313-92D3-B240-B4A1-8FD19D539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9969-F135-E448-BDF9-1156E38F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E64C0-71BE-E440-B8D9-EAAA793D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8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975C4-057D-AF49-8271-B5B57F773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70B71-8ED1-DC4F-B5C7-11B0FD91E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611B8-4032-5949-B2DF-D025205C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C8E1A-6684-AC42-8AE5-7887DA37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A6433-DDB7-124C-850E-0A32D44D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99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ans image">
    <p:bg>
      <p:bgPr>
        <a:solidFill>
          <a:srgbClr val="E6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49551" y="2468893"/>
            <a:ext cx="7536104" cy="1143000"/>
          </a:xfrm>
        </p:spPr>
        <p:txBody>
          <a:bodyPr lIns="0" rIns="0" anchor="b">
            <a:norm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lang="fr-FR" sz="5333" b="1" kern="1200" cap="all" baseline="0" dirty="0" smtClean="0">
                <a:solidFill>
                  <a:schemeClr val="bg1"/>
                </a:solidFill>
                <a:latin typeface="Arial Bold"/>
                <a:ea typeface="+mn-ea"/>
                <a:cs typeface="Arial Bold"/>
              </a:defRPr>
            </a:lvl1pPr>
          </a:lstStyle>
          <a:p>
            <a:r>
              <a:rPr lang="fr-FR" dirty="0"/>
              <a:t>Titre présentation</a:t>
            </a:r>
          </a:p>
        </p:txBody>
      </p:sp>
      <p:sp>
        <p:nvSpPr>
          <p:cNvPr id="12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31371" y="3612723"/>
            <a:ext cx="7536183" cy="1085691"/>
          </a:xfrm>
        </p:spPr>
        <p:txBody>
          <a:bodyPr wrap="square" lIns="0" tIns="0" bIns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4267" kern="1200" cap="all" dirty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Sous-titre de la présentation</a:t>
            </a:r>
          </a:p>
        </p:txBody>
      </p:sp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31800" y="4872296"/>
            <a:ext cx="5615443" cy="246221"/>
          </a:xfrm>
        </p:spPr>
        <p:txBody>
          <a:bodyPr wrap="square" lIns="0" tIns="0" bIns="0">
            <a:noAutofit/>
          </a:bodyPr>
          <a:lstStyle>
            <a:lvl1pPr marL="0" algn="l" defTabSz="1219170" rtl="0" eaLnBrk="1" latinLnBrk="0" hangingPunct="1">
              <a:lnSpc>
                <a:spcPct val="130000"/>
              </a:lnSpc>
              <a:defRPr lang="fr-FR" sz="2667" kern="1200" smtClean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fld id="{70D40F0F-61AC-4266-9143-4508FB3F6C48}" type="datetime1">
              <a:rPr lang="fr-FR" smtClean="0"/>
              <a:t>29/09/2025</a:t>
            </a:fld>
            <a:endParaRPr lang="fr-FR" dirty="0"/>
          </a:p>
        </p:txBody>
      </p:sp>
      <p:pic>
        <p:nvPicPr>
          <p:cNvPr id="6" name="Image 5" descr="Sciences Po (logo). 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2" y="362459"/>
            <a:ext cx="2442041" cy="384000"/>
          </a:xfrm>
          <a:prstGeom prst="rect">
            <a:avLst/>
          </a:prstGeom>
        </p:spPr>
      </p:pic>
      <p:sp>
        <p:nvSpPr>
          <p:cNvPr id="7" name="ZoneTexte 6"/>
          <p:cNvSpPr txBox="1"/>
          <p:nvPr userDrawn="1"/>
        </p:nvSpPr>
        <p:spPr>
          <a:xfrm>
            <a:off x="2062800" y="-1017143"/>
            <a:ext cx="796888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400" b="0" i="0" dirty="0">
                <a:latin typeface="Arial Regular"/>
              </a:rPr>
              <a:t>DISPOSITION « PAGE TITRE POUR L’AFFICHAGE ECRAN »</a:t>
            </a:r>
          </a:p>
        </p:txBody>
      </p:sp>
    </p:spTree>
    <p:extLst>
      <p:ext uri="{BB962C8B-B14F-4D97-AF65-F5344CB8AC3E}">
        <p14:creationId xmlns:p14="http://schemas.microsoft.com/office/powerpoint/2010/main" val="110494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1CDA39-CFFC-9C4F-B9F2-597C77D6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25CAD-D0A5-7A48-BA12-1A49561A2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B171F-F639-7649-90AE-56236558C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9E8F8-EB34-914E-BDEE-62C9247BBA0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DC83D-3A2F-2944-84A6-747118197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7D51-F492-EB43-9CB5-ACBA3AE1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820C3-2BE1-F84A-9130-E6BCD19E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6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449551" y="2468893"/>
            <a:ext cx="10615846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000000"/>
                </a:highlight>
              </a:rPr>
              <a:t>Intermediate Macroeconomics</a:t>
            </a:r>
            <a:br>
              <a:rPr lang="en-US" dirty="0">
                <a:highlight>
                  <a:srgbClr val="000000"/>
                </a:highlight>
              </a:rPr>
            </a:br>
            <a:r>
              <a:rPr lang="en-US" dirty="0">
                <a:highlight>
                  <a:srgbClr val="000000"/>
                </a:highlight>
              </a:rPr>
              <a:t>Lesson 4</a:t>
            </a:r>
            <a:br>
              <a:rPr lang="en-US" dirty="0">
                <a:highlight>
                  <a:srgbClr val="000000"/>
                </a:highlight>
              </a:rPr>
            </a:br>
            <a:r>
              <a:rPr lang="en-US" dirty="0">
                <a:highlight>
                  <a:srgbClr val="000000"/>
                </a:highlight>
              </a:rPr>
              <a:t>Balanced Growth Path</a:t>
            </a: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2667" dirty="0" err="1">
                <a:highlight>
                  <a:srgbClr val="000000"/>
                </a:highlight>
              </a:rPr>
              <a:t>Fall</a:t>
            </a:r>
            <a:r>
              <a:rPr lang="fr-FR" sz="2667" dirty="0">
                <a:highlight>
                  <a:srgbClr val="000000"/>
                </a:highlight>
              </a:rPr>
              <a:t> 2025, LE HAVRE campus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>
                <a:highlight>
                  <a:srgbClr val="000000"/>
                </a:highlight>
              </a:rPr>
              <a:t>Yuki Tada</a:t>
            </a:r>
          </a:p>
        </p:txBody>
      </p:sp>
    </p:spTree>
    <p:extLst>
      <p:ext uri="{BB962C8B-B14F-4D97-AF65-F5344CB8AC3E}">
        <p14:creationId xmlns:p14="http://schemas.microsoft.com/office/powerpoint/2010/main" val="13474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E2D5-0387-40F0-8058-EECBB16A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Logarithm Rule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7B6C4-52C2-DC7A-E786-8680E3E32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If z = </a:t>
                </a:r>
                <a:r>
                  <a:rPr lang="en-US" dirty="0" err="1"/>
                  <a:t>xy</a:t>
                </a:r>
                <a:r>
                  <a:rPr lang="en-US" dirty="0"/>
                  <a:t>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Proof: Let ∆z be the increase in z when x increases by ∆x and y increases by ∆y. Then, by definition: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Divide both sides by z.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7B6C4-52C2-DC7A-E786-8680E3E32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20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CE9E78-A05D-AB2B-0E26-EF7CA26A7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6527"/>
                <a:ext cx="10515600" cy="532043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Proof: consider the product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both x and y are small </a:t>
                </a:r>
                <a:r>
                  <a:rPr lang="en-US" dirty="0" err="1"/>
                  <a:t>numer</a:t>
                </a:r>
                <a:r>
                  <a:rPr lang="en-US" dirty="0"/>
                  <a:t> then,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would be small too</a:t>
                </a:r>
              </a:p>
              <a:p>
                <a:pPr marL="0" indent="0">
                  <a:buNone/>
                </a:pPr>
                <a:r>
                  <a:rPr lang="en-US" dirty="0"/>
                  <a:t>Thus,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Divide both side of this </a:t>
                </a:r>
                <a:r>
                  <a:rPr lang="en-US" dirty="0" err="1"/>
                  <a:t>approximiation</a:t>
                </a:r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gives the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CE9E78-A05D-AB2B-0E26-EF7CA26A7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6527"/>
                <a:ext cx="10515600" cy="5320436"/>
              </a:xfrm>
              <a:blipFill>
                <a:blip r:embed="rId2"/>
                <a:stretch>
                  <a:fillRect l="-1206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13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BC75-F736-0AFD-35A8-A65EC12A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CAC4C-C681-F668-4D6C-5F782113A7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=1+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=(1+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CAC4C-C681-F668-4D6C-5F782113A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75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EAFF-89EA-5E40-A23F-BEB2D33C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Balance of Growth Rate at Steady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2E483889-8178-3749-A40A-54DC22BE9CE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92246339"/>
                  </p:ext>
                </p:extLst>
              </p:nvPr>
            </p:nvGraphicFramePr>
            <p:xfrm>
              <a:off x="533400" y="1690688"/>
              <a:ext cx="4404361" cy="307991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03259">
                      <a:extLst>
                        <a:ext uri="{9D8B030D-6E8A-4147-A177-3AD203B41FA5}">
                          <a16:colId xmlns:a16="http://schemas.microsoft.com/office/drawing/2014/main" val="2808064558"/>
                        </a:ext>
                      </a:extLst>
                    </a:gridCol>
                    <a:gridCol w="450276">
                      <a:extLst>
                        <a:ext uri="{9D8B030D-6E8A-4147-A177-3AD203B41FA5}">
                          <a16:colId xmlns:a16="http://schemas.microsoft.com/office/drawing/2014/main" val="775454659"/>
                        </a:ext>
                      </a:extLst>
                    </a:gridCol>
                    <a:gridCol w="1350826">
                      <a:extLst>
                        <a:ext uri="{9D8B030D-6E8A-4147-A177-3AD203B41FA5}">
                          <a16:colId xmlns:a16="http://schemas.microsoft.com/office/drawing/2014/main" val="2160214981"/>
                        </a:ext>
                      </a:extLst>
                    </a:gridCol>
                  </a:tblGrid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Variable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Growth Rate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6798395"/>
                      </a:ext>
                    </a:extLst>
                  </a:tr>
                  <a:tr h="40288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Capital per effective worker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𝑘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8212362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Output per effective worker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55307095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labor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1214962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capital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1786480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output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2679084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Capital per worker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2199049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Output per worker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56428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2E483889-8178-3749-A40A-54DC22BE9CE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92246339"/>
                  </p:ext>
                </p:extLst>
              </p:nvPr>
            </p:nvGraphicFramePr>
            <p:xfrm>
              <a:off x="533400" y="1690688"/>
              <a:ext cx="4404361" cy="307991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03259">
                      <a:extLst>
                        <a:ext uri="{9D8B030D-6E8A-4147-A177-3AD203B41FA5}">
                          <a16:colId xmlns:a16="http://schemas.microsoft.com/office/drawing/2014/main" val="2808064558"/>
                        </a:ext>
                      </a:extLst>
                    </a:gridCol>
                    <a:gridCol w="450276">
                      <a:extLst>
                        <a:ext uri="{9D8B030D-6E8A-4147-A177-3AD203B41FA5}">
                          <a16:colId xmlns:a16="http://schemas.microsoft.com/office/drawing/2014/main" val="775454659"/>
                        </a:ext>
                      </a:extLst>
                    </a:gridCol>
                    <a:gridCol w="1350826">
                      <a:extLst>
                        <a:ext uri="{9D8B030D-6E8A-4147-A177-3AD203B41FA5}">
                          <a16:colId xmlns:a16="http://schemas.microsoft.com/office/drawing/2014/main" val="2160214981"/>
                        </a:ext>
                      </a:extLst>
                    </a:gridCol>
                  </a:tblGrid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Variable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Growth Rate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6798395"/>
                      </a:ext>
                    </a:extLst>
                  </a:tr>
                  <a:tr h="40288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Capital per effective worker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2222" t="-106250" r="-297222" b="-5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02" t="-106250" r="-943" b="-56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8212362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Output per effective worker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2222" t="-220000" r="-297222" b="-5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02" t="-220000" r="-943" b="-5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5307095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labor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2222" t="-320000" r="-297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02" t="-320000" r="-943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1214962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capital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2222" t="-420000" r="-297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02" t="-420000" r="-943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1786480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output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2222" t="-503226" r="-29722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02" t="-503226" r="-943" b="-1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679084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Capital per worker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2222" t="-623333" r="-29722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02" t="-623333" r="-94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2199049"/>
                      </a:ext>
                    </a:extLst>
                  </a:tr>
                  <a:tr h="38243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Output per worker 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2222" t="-723333" r="-297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8302" t="-723333" r="-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6428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CFDBA4-13C7-7648-8F6F-1880E0119AAF}"/>
                  </a:ext>
                </a:extLst>
              </p:cNvPr>
              <p:cNvSpPr txBox="1"/>
              <p:nvPr/>
            </p:nvSpPr>
            <p:spPr>
              <a:xfrm>
                <a:off x="5608320" y="1798320"/>
                <a:ext cx="6202680" cy="683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On the balanced growth path (Steady state/long run)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CFDBA4-13C7-7648-8F6F-1880E0119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0" y="1798320"/>
                <a:ext cx="6202680" cy="683392"/>
              </a:xfrm>
              <a:prstGeom prst="rect">
                <a:avLst/>
              </a:prstGeom>
              <a:blipFill>
                <a:blip r:embed="rId3"/>
                <a:stretch>
                  <a:fillRect l="-818" t="-3704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57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B08EC-5DBA-E641-8B91-2DA1A00A25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</p:spPr>
            <p:txBody>
              <a:bodyPr/>
              <a:lstStyle/>
              <a:p>
                <a:r>
                  <a:rPr lang="en-US" dirty="0"/>
                  <a:t>g(Y)=?</a:t>
                </a:r>
              </a:p>
              <a:p>
                <a:r>
                  <a:rPr lang="en-US" dirty="0"/>
                  <a:t>At steady state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𝐴𝑁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g(K)=?</a:t>
                </a:r>
              </a:p>
              <a:p>
                <a:r>
                  <a:rPr lang="en-US" dirty="0"/>
                  <a:t>At steady state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𝐴𝑁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B08EC-5DBA-E641-8B91-2DA1A00A25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  <a:blipFill>
                <a:blip r:embed="rId2"/>
                <a:stretch>
                  <a:fillRect l="-965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48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98C47E-5193-2B4C-917A-ABAC6884D8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2925"/>
                <a:ext cx="10515600" cy="5634038"/>
              </a:xfrm>
            </p:spPr>
            <p:txBody>
              <a:bodyPr/>
              <a:lstStyle/>
              <a:p>
                <a:r>
                  <a:rPr lang="en-US" dirty="0"/>
                  <a:t>g(y)=?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g(k)=?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98C47E-5193-2B4C-917A-ABAC6884D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2925"/>
                <a:ext cx="10515600" cy="5634038"/>
              </a:xfrm>
              <a:blipFill>
                <a:blip r:embed="rId2"/>
                <a:stretch>
                  <a:fillRect l="-965" t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54A14F7-E0DD-EDCA-A909-A89BD1726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2701644"/>
            <a:ext cx="51435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4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DB30-C3A1-564F-9139-9A7CE431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 for Problem Set 2 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EA664F8-7F25-2743-A1FC-0F5FC9EB9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046" y="1825625"/>
            <a:ext cx="8043907" cy="4351338"/>
          </a:xfrm>
        </p:spPr>
      </p:pic>
    </p:spTree>
    <p:extLst>
      <p:ext uri="{BB962C8B-B14F-4D97-AF65-F5344CB8AC3E}">
        <p14:creationId xmlns:p14="http://schemas.microsoft.com/office/powerpoint/2010/main" val="324277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5A8D2-2612-8B4E-9C4C-2EFA5CED7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7200"/>
                <a:ext cx="10515600" cy="626364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Q(a): </a:t>
                </a:r>
                <a:endParaRPr lang="en-US" i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rad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rad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At steady-state,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∆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0.17∗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0.09+0.02+0.02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0.17∗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0.13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acc>
                                </m:e>
                              </m:rad>
                            </m:den>
                          </m:f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1.307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acc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acc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=1.71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=1.71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5A8D2-2612-8B4E-9C4C-2EFA5CED7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7200"/>
                <a:ext cx="10515600" cy="6263640"/>
              </a:xfrm>
              <a:blipFill>
                <a:blip r:embed="rId2"/>
                <a:stretch>
                  <a:fillRect l="-603" t="-2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95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8B1EA0-79E7-5541-99F9-BAD139168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5280"/>
                <a:ext cx="10515600" cy="5841683"/>
              </a:xfrm>
            </p:spPr>
            <p:txBody>
              <a:bodyPr/>
              <a:lstStyle/>
              <a:p>
                <a:r>
                  <a:rPr lang="en-US" dirty="0"/>
                  <a:t>Q (b)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=1.307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8B1EA0-79E7-5541-99F9-BAD139168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5280"/>
                <a:ext cx="10515600" cy="5841683"/>
              </a:xfrm>
              <a:blipFill>
                <a:blip r:embed="rId2"/>
                <a:stretch>
                  <a:fillRect l="-965" t="-1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58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F5B45-BE87-1249-9BCA-077595AA3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02920"/>
                <a:ext cx="10515600" cy="567404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Q(c): </a:t>
                </a:r>
              </a:p>
              <a:p>
                <a:r>
                  <a:rPr lang="en-US" dirty="0"/>
                  <a:t>On the balanced growth path (steady state / long run): Capital per effective worker and output per worker are constant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 the answer is 0%</a:t>
                </a:r>
              </a:p>
              <a:p>
                <a:r>
                  <a:rPr lang="en-US" dirty="0"/>
                  <a:t>Q1(d): 4pt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r>
                  <a:rPr lang="en-US" dirty="0"/>
                  <a:t>At the steady-state, the growth rate of output per worker  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=2%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Q(e): 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=2%+2%=4%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5F5B45-BE87-1249-9BCA-077595AA3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02920"/>
                <a:ext cx="10515600" cy="5674043"/>
              </a:xfrm>
              <a:blipFill>
                <a:blip r:embed="rId2"/>
                <a:stretch>
                  <a:fillRect l="-965" t="-2013" r="-1086" b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587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5837B0-8263-124D-B6B6-5F18F76F9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24840"/>
                <a:ext cx="10515600" cy="555212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from Q1(c):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5837B0-8263-124D-B6B6-5F18F76F9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24840"/>
                <a:ext cx="10515600" cy="5552123"/>
              </a:xfrm>
              <a:blipFill>
                <a:blip r:embed="rId2"/>
                <a:stretch>
                  <a:fillRect l="-1086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8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80ADFA-8623-4D44-AA0A-0438FACF14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9560"/>
                <a:ext cx="10515600" cy="588740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Q(f)</a:t>
                </a:r>
              </a:p>
              <a:p>
                <a:r>
                  <a:rPr lang="en-US" dirty="0"/>
                  <a:t>Change the g(A) from 2% to 4% and do it again from (a) to (e)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rad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At steady-state,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∆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0.17∗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0.09+0.04+0.02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0.17∗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0.15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0.15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acc>
                                </m:e>
                              </m:rad>
                            </m:den>
                          </m:f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1.3333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acc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acc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=1.28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=1.28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=1.13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80ADFA-8623-4D44-AA0A-0438FACF14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9560"/>
                <a:ext cx="10515600" cy="5887403"/>
              </a:xfrm>
              <a:blipFill>
                <a:blip r:embed="rId2"/>
                <a:stretch>
                  <a:fillRect l="-483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62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F1BDEC-2361-8546-B8E7-411FFAA900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4800"/>
                <a:ext cx="10515600" cy="58721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 the balanced growth path (steady state / long run): Capital per effective worker and output per worker are constant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 the answer is 0%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At the steady-state, the growth rate of output per worker  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=4%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=2%+4%=6%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F1BDEC-2361-8546-B8E7-411FFAA900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4800"/>
                <a:ext cx="10515600" cy="5872163"/>
              </a:xfrm>
              <a:blipFill>
                <a:blip r:embed="rId2"/>
                <a:stretch>
                  <a:fillRect l="-1086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22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D213-E1E4-6E43-802F-8D81739E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plot a graph on Excel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03B7C-3F0F-0347-83B2-8339D7AA5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work on how to show the Solow residual as a data exercise!</a:t>
            </a:r>
          </a:p>
          <a:p>
            <a:r>
              <a:rPr lang="en-US" dirty="0"/>
              <a:t>Please go to the data in the section of the Moodle Lesson 4</a:t>
            </a:r>
          </a:p>
        </p:txBody>
      </p:sp>
    </p:spTree>
    <p:extLst>
      <p:ext uri="{BB962C8B-B14F-4D97-AF65-F5344CB8AC3E}">
        <p14:creationId xmlns:p14="http://schemas.microsoft.com/office/powerpoint/2010/main" val="2450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2297</TotalTime>
  <Words>776</Words>
  <Application>Microsoft Macintosh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 Bold</vt:lpstr>
      <vt:lpstr>Arial Regular</vt:lpstr>
      <vt:lpstr>Arial</vt:lpstr>
      <vt:lpstr>Calibri</vt:lpstr>
      <vt:lpstr>Calibri Light</vt:lpstr>
      <vt:lpstr>Cambria Math</vt:lpstr>
      <vt:lpstr>Times New Roman</vt:lpstr>
      <vt:lpstr>Office Theme</vt:lpstr>
      <vt:lpstr>Intermediate Macroeconomics Lesson 4 Balanced Growth Path</vt:lpstr>
      <vt:lpstr>Logarithm Rule </vt:lpstr>
      <vt:lpstr>PowerPoint Presentation</vt:lpstr>
      <vt:lpstr>PowerPoint Presentation</vt:lpstr>
      <vt:lpstr>Characteristics of Balance of Growth Rate at Steady State</vt:lpstr>
      <vt:lpstr>PowerPoint Presentation</vt:lpstr>
      <vt:lpstr>PowerPoint Presentation</vt:lpstr>
      <vt:lpstr>Example Problem for Problem Set 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plot a graph on Excel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Recitation Session 3</dc:title>
  <dc:creator>Yuki Tada</dc:creator>
  <cp:lastModifiedBy>Yuki Tada</cp:lastModifiedBy>
  <cp:revision>22</cp:revision>
  <cp:lastPrinted>2020-02-14T18:06:50Z</cp:lastPrinted>
  <dcterms:created xsi:type="dcterms:W3CDTF">2020-02-12T18:10:36Z</dcterms:created>
  <dcterms:modified xsi:type="dcterms:W3CDTF">2025-09-30T15:24:00Z</dcterms:modified>
</cp:coreProperties>
</file>